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Quattrocento Sans" charset="-122" pitchFamily="34"/>
      <p:regular r:id="rId17"/>
    </p:embeddedFont>
    <p:embeddedFont>
      <p:font typeface="Hedvig Letters Sans" charset="-122" pitchFamily="34"/>
      <p:regular r:id="rId18"/>
    </p:embeddedFont>
    <p:embeddedFont>
      <p:font typeface="Liter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20cff78fa9fab663f96a5ebed413fbfff9172c2c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85000"/>
                </a:srgbClr>
              </a:gs>
              <a:gs pos="100000">
                <a:srgbClr val="06B6D4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694021"/>
            <a:ext cx="1874520" cy="388620"/>
          </a:xfrm>
          <a:custGeom>
            <a:avLst/>
            <a:gdLst/>
            <a:ahLst/>
            <a:cxnLst/>
            <a:rect l="l" t="t" r="r" b="b"/>
            <a:pathLst>
              <a:path w="1874520" h="388620">
                <a:moveTo>
                  <a:pt x="194310" y="0"/>
                </a:moveTo>
                <a:lnTo>
                  <a:pt x="1680210" y="0"/>
                </a:lnTo>
                <a:cubicBezTo>
                  <a:pt x="1787524" y="0"/>
                  <a:pt x="1874520" y="86996"/>
                  <a:pt x="1874520" y="194310"/>
                </a:cubicBezTo>
                <a:lnTo>
                  <a:pt x="1874520" y="194310"/>
                </a:lnTo>
                <a:cubicBezTo>
                  <a:pt x="1874520" y="301624"/>
                  <a:pt x="1787524" y="388620"/>
                  <a:pt x="168021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804511"/>
            <a:ext cx="156591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HACKATHON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1251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spc="-180" kern="0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UrbanPulse </a:t>
            </a:r>
            <a:pPr>
              <a:lnSpc>
                <a:spcPct val="80000"/>
              </a:lnSpc>
            </a:pPr>
            <a:r>
              <a:rPr lang="en-US" sz="7200" b="1" spc="-180" kern="0" dirty="0">
                <a:solidFill>
                  <a:srgbClr val="06B6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458051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6B6D4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3820001"/>
            <a:ext cx="74580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Multi-Agent Urban Intelligence Platform for Smart Cities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48640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5829300"/>
            <a:ext cx="2733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Codexelerate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210300"/>
            <a:ext cx="267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Rithvik • Hitesh • Sachin • Hamshith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21121" y="5638800"/>
            <a:ext cx="1885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121146" y="6210300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City Innovation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Urban Chaos: A City in Crisis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375410"/>
            <a:ext cx="5627370" cy="2160270"/>
          </a:xfrm>
          <a:custGeom>
            <a:avLst/>
            <a:gdLst/>
            <a:ahLst/>
            <a:cxnLst/>
            <a:rect l="l" t="t" r="r" b="b"/>
            <a:pathLst>
              <a:path w="5627370" h="2160270">
                <a:moveTo>
                  <a:pt x="114300" y="0"/>
                </a:moveTo>
                <a:lnTo>
                  <a:pt x="5513070" y="0"/>
                </a:lnTo>
                <a:cubicBezTo>
                  <a:pt x="5576196" y="0"/>
                  <a:pt x="5627370" y="51174"/>
                  <a:pt x="5627370" y="114300"/>
                </a:cubicBezTo>
                <a:lnTo>
                  <a:pt x="5627370" y="2045970"/>
                </a:lnTo>
                <a:cubicBezTo>
                  <a:pt x="5627370" y="2109096"/>
                  <a:pt x="5576196" y="2160270"/>
                  <a:pt x="5513070" y="2160270"/>
                </a:cubicBezTo>
                <a:lnTo>
                  <a:pt x="114300" y="2160270"/>
                </a:lnTo>
                <a:cubicBezTo>
                  <a:pt x="51174" y="2160270"/>
                  <a:pt x="0" y="2109096"/>
                  <a:pt x="0" y="20459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20" y="17868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6745" y="190119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03584" y="7188"/>
                </a:moveTo>
                <a:lnTo>
                  <a:pt x="103584" y="-14243"/>
                </a:lnTo>
                <a:cubicBezTo>
                  <a:pt x="103584" y="-20181"/>
                  <a:pt x="98807" y="-24958"/>
                  <a:pt x="92869" y="-24958"/>
                </a:cubicBezTo>
                <a:cubicBezTo>
                  <a:pt x="86931" y="-24958"/>
                  <a:pt x="82153" y="-20181"/>
                  <a:pt x="82153" y="-14243"/>
                </a:cubicBezTo>
                <a:lnTo>
                  <a:pt x="82153" y="7188"/>
                </a:lnTo>
                <a:cubicBezTo>
                  <a:pt x="82153" y="13127"/>
                  <a:pt x="86931" y="17904"/>
                  <a:pt x="92869" y="17904"/>
                </a:cubicBezTo>
                <a:cubicBezTo>
                  <a:pt x="98807" y="17904"/>
                  <a:pt x="103584" y="13127"/>
                  <a:pt x="103584" y="7188"/>
                </a:cubicBezTo>
                <a:close/>
                <a:moveTo>
                  <a:pt x="14288" y="75054"/>
                </a:moveTo>
                <a:lnTo>
                  <a:pt x="35719" y="75054"/>
                </a:lnTo>
                <a:cubicBezTo>
                  <a:pt x="41657" y="75054"/>
                  <a:pt x="46434" y="70277"/>
                  <a:pt x="46434" y="64338"/>
                </a:cubicBezTo>
                <a:cubicBezTo>
                  <a:pt x="46434" y="58400"/>
                  <a:pt x="41657" y="53623"/>
                  <a:pt x="35719" y="53623"/>
                </a:cubicBezTo>
                <a:lnTo>
                  <a:pt x="14288" y="53623"/>
                </a:lnTo>
                <a:cubicBezTo>
                  <a:pt x="8349" y="53623"/>
                  <a:pt x="3572" y="58400"/>
                  <a:pt x="3572" y="64338"/>
                </a:cubicBezTo>
                <a:cubicBezTo>
                  <a:pt x="3572" y="70277"/>
                  <a:pt x="8349" y="75054"/>
                  <a:pt x="14288" y="75054"/>
                </a:cubicBezTo>
                <a:close/>
                <a:moveTo>
                  <a:pt x="125685" y="31522"/>
                </a:moveTo>
                <a:cubicBezTo>
                  <a:pt x="129882" y="35719"/>
                  <a:pt x="136669" y="35719"/>
                  <a:pt x="140821" y="31522"/>
                </a:cubicBezTo>
                <a:lnTo>
                  <a:pt x="155957" y="16386"/>
                </a:lnTo>
                <a:cubicBezTo>
                  <a:pt x="160154" y="12189"/>
                  <a:pt x="160154" y="5402"/>
                  <a:pt x="155957" y="1250"/>
                </a:cubicBezTo>
                <a:cubicBezTo>
                  <a:pt x="151760" y="-2902"/>
                  <a:pt x="144973" y="-2947"/>
                  <a:pt x="140821" y="1250"/>
                </a:cubicBezTo>
                <a:lnTo>
                  <a:pt x="125685" y="16341"/>
                </a:lnTo>
                <a:cubicBezTo>
                  <a:pt x="121488" y="20538"/>
                  <a:pt x="121488" y="27325"/>
                  <a:pt x="125685" y="31477"/>
                </a:cubicBezTo>
                <a:close/>
                <a:moveTo>
                  <a:pt x="44872" y="127516"/>
                </a:moveTo>
                <a:lnTo>
                  <a:pt x="60008" y="112380"/>
                </a:lnTo>
                <a:cubicBezTo>
                  <a:pt x="64204" y="108183"/>
                  <a:pt x="64204" y="101397"/>
                  <a:pt x="60008" y="97244"/>
                </a:cubicBezTo>
                <a:cubicBezTo>
                  <a:pt x="55811" y="93092"/>
                  <a:pt x="49024" y="93047"/>
                  <a:pt x="44872" y="97244"/>
                </a:cubicBezTo>
                <a:lnTo>
                  <a:pt x="29736" y="112335"/>
                </a:lnTo>
                <a:cubicBezTo>
                  <a:pt x="25539" y="116532"/>
                  <a:pt x="25539" y="123319"/>
                  <a:pt x="29736" y="127471"/>
                </a:cubicBezTo>
                <a:cubicBezTo>
                  <a:pt x="33933" y="131624"/>
                  <a:pt x="40719" y="131668"/>
                  <a:pt x="44872" y="127471"/>
                </a:cubicBezTo>
                <a:close/>
                <a:moveTo>
                  <a:pt x="29736" y="1206"/>
                </a:moveTo>
                <a:cubicBezTo>
                  <a:pt x="25539" y="5402"/>
                  <a:pt x="25539" y="12189"/>
                  <a:pt x="29736" y="16341"/>
                </a:cubicBezTo>
                <a:lnTo>
                  <a:pt x="44872" y="31477"/>
                </a:lnTo>
                <a:cubicBezTo>
                  <a:pt x="49069" y="35674"/>
                  <a:pt x="55855" y="35674"/>
                  <a:pt x="60008" y="31477"/>
                </a:cubicBezTo>
                <a:cubicBezTo>
                  <a:pt x="64160" y="27280"/>
                  <a:pt x="64204" y="20494"/>
                  <a:pt x="60008" y="16341"/>
                </a:cubicBezTo>
                <a:lnTo>
                  <a:pt x="44872" y="1206"/>
                </a:lnTo>
                <a:cubicBezTo>
                  <a:pt x="40675" y="-2991"/>
                  <a:pt x="33933" y="-2991"/>
                  <a:pt x="29736" y="1206"/>
                </a:cubicBezTo>
                <a:close/>
                <a:moveTo>
                  <a:pt x="157564" y="78313"/>
                </a:moveTo>
                <a:lnTo>
                  <a:pt x="225475" y="96530"/>
                </a:lnTo>
                <a:cubicBezTo>
                  <a:pt x="228332" y="97289"/>
                  <a:pt x="230431" y="99789"/>
                  <a:pt x="230743" y="102736"/>
                </a:cubicBezTo>
                <a:lnTo>
                  <a:pt x="233958" y="135776"/>
                </a:lnTo>
                <a:lnTo>
                  <a:pt x="130597" y="108094"/>
                </a:lnTo>
                <a:lnTo>
                  <a:pt x="149885" y="81082"/>
                </a:lnTo>
                <a:cubicBezTo>
                  <a:pt x="151626" y="78671"/>
                  <a:pt x="154662" y="77554"/>
                  <a:pt x="157564" y="78313"/>
                </a:cubicBezTo>
                <a:close/>
                <a:moveTo>
                  <a:pt x="99834" y="102022"/>
                </a:moveTo>
                <a:lnTo>
                  <a:pt x="98896" y="103316"/>
                </a:lnTo>
                <a:cubicBezTo>
                  <a:pt x="89208" y="105772"/>
                  <a:pt x="81082" y="113273"/>
                  <a:pt x="78313" y="123632"/>
                </a:cubicBezTo>
                <a:cubicBezTo>
                  <a:pt x="76483" y="130552"/>
                  <a:pt x="72777" y="144348"/>
                  <a:pt x="67241" y="165021"/>
                </a:cubicBezTo>
                <a:lnTo>
                  <a:pt x="63535" y="178817"/>
                </a:lnTo>
                <a:cubicBezTo>
                  <a:pt x="61481" y="186452"/>
                  <a:pt x="66035" y="194265"/>
                  <a:pt x="73625" y="196319"/>
                </a:cubicBezTo>
                <a:lnTo>
                  <a:pt x="80546" y="198150"/>
                </a:lnTo>
                <a:cubicBezTo>
                  <a:pt x="88181" y="200204"/>
                  <a:pt x="95994" y="195649"/>
                  <a:pt x="98048" y="188059"/>
                </a:cubicBezTo>
                <a:lnTo>
                  <a:pt x="101754" y="174263"/>
                </a:lnTo>
                <a:lnTo>
                  <a:pt x="225966" y="207526"/>
                </a:lnTo>
                <a:lnTo>
                  <a:pt x="222260" y="221322"/>
                </a:lnTo>
                <a:cubicBezTo>
                  <a:pt x="220206" y="228957"/>
                  <a:pt x="224760" y="236771"/>
                  <a:pt x="232350" y="238824"/>
                </a:cubicBezTo>
                <a:lnTo>
                  <a:pt x="239271" y="240655"/>
                </a:lnTo>
                <a:cubicBezTo>
                  <a:pt x="246906" y="242709"/>
                  <a:pt x="254719" y="238155"/>
                  <a:pt x="256773" y="230565"/>
                </a:cubicBezTo>
                <a:cubicBezTo>
                  <a:pt x="258604" y="223644"/>
                  <a:pt x="262310" y="209848"/>
                  <a:pt x="267846" y="189175"/>
                </a:cubicBezTo>
                <a:lnTo>
                  <a:pt x="271552" y="175379"/>
                </a:lnTo>
                <a:cubicBezTo>
                  <a:pt x="274320" y="165021"/>
                  <a:pt x="271061" y="154484"/>
                  <a:pt x="263872" y="147474"/>
                </a:cubicBezTo>
                <a:lnTo>
                  <a:pt x="263738" y="145866"/>
                </a:lnTo>
                <a:lnTo>
                  <a:pt x="259273" y="99879"/>
                </a:lnTo>
                <a:cubicBezTo>
                  <a:pt x="257845" y="85055"/>
                  <a:pt x="247352" y="72688"/>
                  <a:pt x="232976" y="68848"/>
                </a:cubicBezTo>
                <a:lnTo>
                  <a:pt x="164976" y="50721"/>
                </a:lnTo>
                <a:cubicBezTo>
                  <a:pt x="150599" y="46881"/>
                  <a:pt x="135329" y="52328"/>
                  <a:pt x="126668" y="64472"/>
                </a:cubicBezTo>
                <a:lnTo>
                  <a:pt x="99789" y="102066"/>
                </a:lnTo>
                <a:close/>
                <a:moveTo>
                  <a:pt x="121578" y="127828"/>
                </a:moveTo>
                <a:cubicBezTo>
                  <a:pt x="126586" y="129082"/>
                  <a:pt x="130528" y="132940"/>
                  <a:pt x="131890" y="137920"/>
                </a:cubicBezTo>
                <a:cubicBezTo>
                  <a:pt x="133251" y="142900"/>
                  <a:pt x="131820" y="148227"/>
                  <a:pt x="128147" y="151855"/>
                </a:cubicBezTo>
                <a:cubicBezTo>
                  <a:pt x="124473" y="155482"/>
                  <a:pt x="119128" y="156846"/>
                  <a:pt x="114166" y="155421"/>
                </a:cubicBezTo>
                <a:cubicBezTo>
                  <a:pt x="109158" y="154167"/>
                  <a:pt x="105216" y="150309"/>
                  <a:pt x="103854" y="145329"/>
                </a:cubicBezTo>
                <a:cubicBezTo>
                  <a:pt x="102492" y="140350"/>
                  <a:pt x="103923" y="135022"/>
                  <a:pt x="107597" y="131395"/>
                </a:cubicBezTo>
                <a:cubicBezTo>
                  <a:pt x="111271" y="127768"/>
                  <a:pt x="116615" y="126404"/>
                  <a:pt x="121578" y="127828"/>
                </a:cubicBezTo>
                <a:close/>
                <a:moveTo>
                  <a:pt x="214491" y="167521"/>
                </a:moveTo>
                <a:cubicBezTo>
                  <a:pt x="215745" y="162513"/>
                  <a:pt x="219603" y="158570"/>
                  <a:pt x="224583" y="157209"/>
                </a:cubicBezTo>
                <a:cubicBezTo>
                  <a:pt x="229563" y="155847"/>
                  <a:pt x="234890" y="157278"/>
                  <a:pt x="238517" y="160952"/>
                </a:cubicBezTo>
                <a:cubicBezTo>
                  <a:pt x="242145" y="164625"/>
                  <a:pt x="243508" y="169970"/>
                  <a:pt x="242084" y="174933"/>
                </a:cubicBezTo>
                <a:cubicBezTo>
                  <a:pt x="240830" y="179941"/>
                  <a:pt x="236972" y="183883"/>
                  <a:pt x="231992" y="185245"/>
                </a:cubicBezTo>
                <a:cubicBezTo>
                  <a:pt x="227012" y="186606"/>
                  <a:pt x="221685" y="185175"/>
                  <a:pt x="218058" y="181502"/>
                </a:cubicBezTo>
                <a:cubicBezTo>
                  <a:pt x="214430" y="177828"/>
                  <a:pt x="213067" y="172483"/>
                  <a:pt x="214491" y="167521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112520" y="188214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Congestion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1020" y="235839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Urban traffic costs the U.S. economy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$87 billion annually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lost productivity. Average commute times have increased 20% in the last decade.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0070" y="295846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83908" y="2929890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congestion: 7-9 AM, 5-8 PM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810" y="3691891"/>
            <a:ext cx="5627370" cy="2160270"/>
          </a:xfrm>
          <a:custGeom>
            <a:avLst/>
            <a:gdLst/>
            <a:ahLst/>
            <a:cxnLst/>
            <a:rect l="l" t="t" r="r" b="b"/>
            <a:pathLst>
              <a:path w="5627370" h="2160270">
                <a:moveTo>
                  <a:pt x="114300" y="0"/>
                </a:moveTo>
                <a:lnTo>
                  <a:pt x="5513070" y="0"/>
                </a:lnTo>
                <a:cubicBezTo>
                  <a:pt x="5576196" y="0"/>
                  <a:pt x="5627370" y="51174"/>
                  <a:pt x="5627370" y="114300"/>
                </a:cubicBezTo>
                <a:lnTo>
                  <a:pt x="5627370" y="2045970"/>
                </a:lnTo>
                <a:cubicBezTo>
                  <a:pt x="5627370" y="2109096"/>
                  <a:pt x="5576196" y="2160270"/>
                  <a:pt x="5513070" y="2160270"/>
                </a:cubicBezTo>
                <a:lnTo>
                  <a:pt x="114300" y="2160270"/>
                </a:lnTo>
                <a:cubicBezTo>
                  <a:pt x="51174" y="2160270"/>
                  <a:pt x="0" y="2109096"/>
                  <a:pt x="0" y="20459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1020" y="41033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1033" y="421767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57163" y="117872"/>
                </a:moveTo>
                <a:lnTo>
                  <a:pt x="157163" y="28575"/>
                </a:lnTo>
                <a:cubicBezTo>
                  <a:pt x="157163" y="20672"/>
                  <a:pt x="150778" y="14288"/>
                  <a:pt x="142875" y="14288"/>
                </a:cubicBezTo>
                <a:lnTo>
                  <a:pt x="114300" y="14288"/>
                </a:lnTo>
                <a:cubicBezTo>
                  <a:pt x="106397" y="14288"/>
                  <a:pt x="100013" y="20672"/>
                  <a:pt x="100013" y="28575"/>
                </a:cubicBezTo>
                <a:lnTo>
                  <a:pt x="100013" y="117872"/>
                </a:lnTo>
                <a:cubicBezTo>
                  <a:pt x="100013" y="123810"/>
                  <a:pt x="95235" y="128588"/>
                  <a:pt x="89297" y="128588"/>
                </a:cubicBezTo>
                <a:cubicBezTo>
                  <a:pt x="83359" y="128588"/>
                  <a:pt x="78581" y="123810"/>
                  <a:pt x="78581" y="117872"/>
                </a:cubicBezTo>
                <a:lnTo>
                  <a:pt x="78581" y="34870"/>
                </a:lnTo>
                <a:cubicBezTo>
                  <a:pt x="40184" y="49024"/>
                  <a:pt x="14288" y="85636"/>
                  <a:pt x="14288" y="128588"/>
                </a:cubicBezTo>
                <a:lnTo>
                  <a:pt x="14288" y="157163"/>
                </a:lnTo>
                <a:lnTo>
                  <a:pt x="242888" y="157163"/>
                </a:lnTo>
                <a:lnTo>
                  <a:pt x="242888" y="128588"/>
                </a:lnTo>
                <a:cubicBezTo>
                  <a:pt x="242441" y="86082"/>
                  <a:pt x="216813" y="49247"/>
                  <a:pt x="178594" y="34915"/>
                </a:cubicBezTo>
                <a:lnTo>
                  <a:pt x="178594" y="117872"/>
                </a:lnTo>
                <a:cubicBezTo>
                  <a:pt x="178594" y="123810"/>
                  <a:pt x="173816" y="128588"/>
                  <a:pt x="167878" y="128588"/>
                </a:cubicBezTo>
                <a:cubicBezTo>
                  <a:pt x="161940" y="128588"/>
                  <a:pt x="157163" y="123810"/>
                  <a:pt x="157163" y="117872"/>
                </a:cubicBezTo>
                <a:close/>
                <a:moveTo>
                  <a:pt x="17859" y="178594"/>
                </a:moveTo>
                <a:cubicBezTo>
                  <a:pt x="7992" y="178594"/>
                  <a:pt x="0" y="186586"/>
                  <a:pt x="0" y="196453"/>
                </a:cubicBezTo>
                <a:cubicBezTo>
                  <a:pt x="0" y="206320"/>
                  <a:pt x="7992" y="214313"/>
                  <a:pt x="17859" y="214313"/>
                </a:cubicBezTo>
                <a:lnTo>
                  <a:pt x="239316" y="214313"/>
                </a:lnTo>
                <a:cubicBezTo>
                  <a:pt x="249183" y="214313"/>
                  <a:pt x="257175" y="206320"/>
                  <a:pt x="257175" y="196453"/>
                </a:cubicBezTo>
                <a:cubicBezTo>
                  <a:pt x="257175" y="186586"/>
                  <a:pt x="249183" y="178594"/>
                  <a:pt x="239316" y="178594"/>
                </a:cubicBezTo>
                <a:lnTo>
                  <a:pt x="17859" y="17859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112520" y="419862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Violations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1020" y="467487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Helmet non-compliance contributes 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 of two-wheeler fatalities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Manual enforcement captures less than 5% of violations.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0070" y="527494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83908" y="524637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Urban accident rate: 2.3x higher than rural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6010" y="1375410"/>
            <a:ext cx="5627370" cy="2160270"/>
          </a:xfrm>
          <a:custGeom>
            <a:avLst/>
            <a:gdLst/>
            <a:ahLst/>
            <a:cxnLst/>
            <a:rect l="l" t="t" r="r" b="b"/>
            <a:pathLst>
              <a:path w="5627370" h="2160270">
                <a:moveTo>
                  <a:pt x="114300" y="0"/>
                </a:moveTo>
                <a:lnTo>
                  <a:pt x="5513070" y="0"/>
                </a:lnTo>
                <a:cubicBezTo>
                  <a:pt x="5576196" y="0"/>
                  <a:pt x="5627370" y="51174"/>
                  <a:pt x="5627370" y="114300"/>
                </a:cubicBezTo>
                <a:lnTo>
                  <a:pt x="5627370" y="2045970"/>
                </a:lnTo>
                <a:cubicBezTo>
                  <a:pt x="5627370" y="2109096"/>
                  <a:pt x="5576196" y="2160270"/>
                  <a:pt x="5513070" y="2160270"/>
                </a:cubicBezTo>
                <a:lnTo>
                  <a:pt x="114300" y="2160270"/>
                </a:lnTo>
                <a:cubicBezTo>
                  <a:pt x="51174" y="2160270"/>
                  <a:pt x="0" y="2109096"/>
                  <a:pt x="0" y="20459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EF4444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2220" y="15392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F4444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32232" y="165354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30048" y="200025"/>
                </a:lnTo>
                <a:cubicBezTo>
                  <a:pt x="34692" y="216500"/>
                  <a:pt x="49872" y="228600"/>
                  <a:pt x="67866" y="228600"/>
                </a:cubicBezTo>
                <a:cubicBezTo>
                  <a:pt x="85859" y="228600"/>
                  <a:pt x="100995" y="216500"/>
                  <a:pt x="105683" y="200025"/>
                </a:cubicBezTo>
                <a:lnTo>
                  <a:pt x="151492" y="200025"/>
                </a:lnTo>
                <a:cubicBezTo>
                  <a:pt x="156136" y="216500"/>
                  <a:pt x="171316" y="228600"/>
                  <a:pt x="189309" y="228600"/>
                </a:cubicBezTo>
                <a:cubicBezTo>
                  <a:pt x="207303" y="228600"/>
                  <a:pt x="222439" y="216500"/>
                  <a:pt x="227127" y="200025"/>
                </a:cubicBezTo>
                <a:lnTo>
                  <a:pt x="228600" y="200025"/>
                </a:lnTo>
                <a:cubicBezTo>
                  <a:pt x="244361" y="200025"/>
                  <a:pt x="257175" y="187211"/>
                  <a:pt x="257175" y="171450"/>
                </a:cubicBezTo>
                <a:lnTo>
                  <a:pt x="257175" y="105951"/>
                </a:lnTo>
                <a:cubicBezTo>
                  <a:pt x="257175" y="98361"/>
                  <a:pt x="254184" y="91083"/>
                  <a:pt x="248826" y="85725"/>
                </a:cubicBezTo>
                <a:lnTo>
                  <a:pt x="228600" y="65499"/>
                </a:lnTo>
                <a:cubicBezTo>
                  <a:pt x="223242" y="60141"/>
                  <a:pt x="215964" y="57150"/>
                  <a:pt x="208374" y="57150"/>
                </a:cubicBezTo>
                <a:lnTo>
                  <a:pt x="185738" y="57150"/>
                </a:lnTo>
                <a:lnTo>
                  <a:pt x="185738" y="42862"/>
                </a:lnTo>
                <a:cubicBezTo>
                  <a:pt x="185738" y="27102"/>
                  <a:pt x="172923" y="14287"/>
                  <a:pt x="157163" y="14287"/>
                </a:cubicBezTo>
                <a:lnTo>
                  <a:pt x="28575" y="14288"/>
                </a:lnTo>
                <a:close/>
                <a:moveTo>
                  <a:pt x="228600" y="105951"/>
                </a:moveTo>
                <a:lnTo>
                  <a:pt x="228600" y="128588"/>
                </a:lnTo>
                <a:lnTo>
                  <a:pt x="185738" y="128588"/>
                </a:lnTo>
                <a:lnTo>
                  <a:pt x="185738" y="85725"/>
                </a:lnTo>
                <a:lnTo>
                  <a:pt x="208374" y="85725"/>
                </a:lnTo>
                <a:lnTo>
                  <a:pt x="228600" y="105951"/>
                </a:lnTo>
                <a:close/>
                <a:moveTo>
                  <a:pt x="67866" y="171450"/>
                </a:moveTo>
                <a:cubicBezTo>
                  <a:pt x="77722" y="171450"/>
                  <a:pt x="85725" y="179453"/>
                  <a:pt x="85725" y="189309"/>
                </a:cubicBezTo>
                <a:cubicBezTo>
                  <a:pt x="85725" y="199166"/>
                  <a:pt x="77722" y="207169"/>
                  <a:pt x="67866" y="207169"/>
                </a:cubicBezTo>
                <a:cubicBezTo>
                  <a:pt x="58009" y="207169"/>
                  <a:pt x="50006" y="199166"/>
                  <a:pt x="50006" y="189309"/>
                </a:cubicBezTo>
                <a:cubicBezTo>
                  <a:pt x="50006" y="179453"/>
                  <a:pt x="58009" y="171450"/>
                  <a:pt x="67866" y="171450"/>
                </a:cubicBezTo>
                <a:close/>
                <a:moveTo>
                  <a:pt x="171450" y="189309"/>
                </a:moveTo>
                <a:cubicBezTo>
                  <a:pt x="171450" y="179453"/>
                  <a:pt x="179453" y="171450"/>
                  <a:pt x="189309" y="171450"/>
                </a:cubicBezTo>
                <a:cubicBezTo>
                  <a:pt x="199166" y="171450"/>
                  <a:pt x="207169" y="179453"/>
                  <a:pt x="207169" y="189309"/>
                </a:cubicBezTo>
                <a:cubicBezTo>
                  <a:pt x="207169" y="199166"/>
                  <a:pt x="199166" y="207169"/>
                  <a:pt x="189309" y="207169"/>
                </a:cubicBezTo>
                <a:cubicBezTo>
                  <a:pt x="179453" y="207169"/>
                  <a:pt x="171450" y="199166"/>
                  <a:pt x="171450" y="189309"/>
                </a:cubicBezTo>
                <a:close/>
                <a:moveTo>
                  <a:pt x="78581" y="60722"/>
                </a:moveTo>
                <a:cubicBezTo>
                  <a:pt x="78581" y="56793"/>
                  <a:pt x="81796" y="53578"/>
                  <a:pt x="85725" y="53578"/>
                </a:cubicBezTo>
                <a:lnTo>
                  <a:pt x="100013" y="53578"/>
                </a:lnTo>
                <a:cubicBezTo>
                  <a:pt x="103942" y="53578"/>
                  <a:pt x="107156" y="56793"/>
                  <a:pt x="107156" y="60722"/>
                </a:cubicBezTo>
                <a:lnTo>
                  <a:pt x="107156" y="78581"/>
                </a:lnTo>
                <a:lnTo>
                  <a:pt x="125016" y="78581"/>
                </a:lnTo>
                <a:cubicBezTo>
                  <a:pt x="128945" y="78581"/>
                  <a:pt x="132159" y="81796"/>
                  <a:pt x="132159" y="85725"/>
                </a:cubicBezTo>
                <a:lnTo>
                  <a:pt x="132159" y="100013"/>
                </a:lnTo>
                <a:cubicBezTo>
                  <a:pt x="132159" y="103942"/>
                  <a:pt x="128945" y="107156"/>
                  <a:pt x="125016" y="107156"/>
                </a:cubicBezTo>
                <a:lnTo>
                  <a:pt x="107156" y="107156"/>
                </a:lnTo>
                <a:lnTo>
                  <a:pt x="107156" y="125016"/>
                </a:lnTo>
                <a:cubicBezTo>
                  <a:pt x="107156" y="128945"/>
                  <a:pt x="103942" y="132159"/>
                  <a:pt x="100013" y="132159"/>
                </a:cubicBezTo>
                <a:lnTo>
                  <a:pt x="85725" y="132159"/>
                </a:lnTo>
                <a:cubicBezTo>
                  <a:pt x="81796" y="132159"/>
                  <a:pt x="78581" y="128945"/>
                  <a:pt x="78581" y="125016"/>
                </a:cubicBezTo>
                <a:lnTo>
                  <a:pt x="78581" y="107156"/>
                </a:lnTo>
                <a:lnTo>
                  <a:pt x="60722" y="107156"/>
                </a:lnTo>
                <a:cubicBezTo>
                  <a:pt x="56793" y="107156"/>
                  <a:pt x="53578" y="103942"/>
                  <a:pt x="53578" y="100013"/>
                </a:cubicBezTo>
                <a:lnTo>
                  <a:pt x="53578" y="85725"/>
                </a:lnTo>
                <a:cubicBezTo>
                  <a:pt x="53578" y="81796"/>
                  <a:pt x="56793" y="78581"/>
                  <a:pt x="60722" y="78581"/>
                </a:cubicBezTo>
                <a:lnTo>
                  <a:pt x="78581" y="78581"/>
                </a:lnTo>
                <a:lnTo>
                  <a:pt x="78581" y="60722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634490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Response Crisis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32220" y="2110740"/>
            <a:ext cx="2600325" cy="685800"/>
          </a:xfrm>
          <a:custGeom>
            <a:avLst/>
            <a:gdLst/>
            <a:ahLst/>
            <a:cxnLst/>
            <a:rect l="l" t="t" r="r" b="b"/>
            <a:pathLst>
              <a:path w="2600325" h="685800">
                <a:moveTo>
                  <a:pt x="76199" y="0"/>
                </a:moveTo>
                <a:lnTo>
                  <a:pt x="2524126" y="0"/>
                </a:lnTo>
                <a:cubicBezTo>
                  <a:pt x="2566209" y="0"/>
                  <a:pt x="2600325" y="34116"/>
                  <a:pt x="2600325" y="76199"/>
                </a:cubicBezTo>
                <a:lnTo>
                  <a:pt x="2600325" y="609601"/>
                </a:lnTo>
                <a:cubicBezTo>
                  <a:pt x="2600325" y="651684"/>
                  <a:pt x="2566209" y="685800"/>
                  <a:pt x="25241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6336982" y="2186940"/>
            <a:ext cx="259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75082" y="2529840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 Avg Response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48750" y="2110740"/>
            <a:ext cx="2600325" cy="685800"/>
          </a:xfrm>
          <a:custGeom>
            <a:avLst/>
            <a:gdLst/>
            <a:ahLst/>
            <a:cxnLst/>
            <a:rect l="l" t="t" r="r" b="b"/>
            <a:pathLst>
              <a:path w="2600325" h="685800">
                <a:moveTo>
                  <a:pt x="76199" y="0"/>
                </a:moveTo>
                <a:lnTo>
                  <a:pt x="2524126" y="0"/>
                </a:lnTo>
                <a:cubicBezTo>
                  <a:pt x="2566209" y="0"/>
                  <a:pt x="2600325" y="34116"/>
                  <a:pt x="2600325" y="76199"/>
                </a:cubicBezTo>
                <a:lnTo>
                  <a:pt x="2600325" y="609601"/>
                </a:lnTo>
                <a:cubicBezTo>
                  <a:pt x="2600325" y="651684"/>
                  <a:pt x="2566209" y="685800"/>
                  <a:pt x="25241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9053513" y="2186940"/>
            <a:ext cx="259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91613" y="2529840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Mortality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2220" y="287274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causes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10,387+ EMS delays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annually. Response times ≥12 minutes correlate with 46% higher crash mortality rates.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6010" y="3691891"/>
            <a:ext cx="5627370" cy="2160270"/>
          </a:xfrm>
          <a:custGeom>
            <a:avLst/>
            <a:gdLst/>
            <a:ahLst/>
            <a:cxnLst/>
            <a:rect l="l" t="t" r="r" b="b"/>
            <a:pathLst>
              <a:path w="5627370" h="2160270">
                <a:moveTo>
                  <a:pt x="114300" y="0"/>
                </a:moveTo>
                <a:lnTo>
                  <a:pt x="5513070" y="0"/>
                </a:lnTo>
                <a:cubicBezTo>
                  <a:pt x="5576196" y="0"/>
                  <a:pt x="5627370" y="51174"/>
                  <a:pt x="5627370" y="114300"/>
                </a:cubicBezTo>
                <a:lnTo>
                  <a:pt x="5627370" y="2045970"/>
                </a:lnTo>
                <a:cubicBezTo>
                  <a:pt x="5627370" y="2109096"/>
                  <a:pt x="5576196" y="2160270"/>
                  <a:pt x="5513070" y="2160270"/>
                </a:cubicBezTo>
                <a:lnTo>
                  <a:pt x="114300" y="2160270"/>
                </a:lnTo>
                <a:cubicBezTo>
                  <a:pt x="51174" y="2160270"/>
                  <a:pt x="0" y="2109096"/>
                  <a:pt x="0" y="20459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32220" y="39795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46520" y="409384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99968" y="14288"/>
                </a:moveTo>
                <a:lnTo>
                  <a:pt x="65946" y="14288"/>
                </a:lnTo>
                <a:cubicBezTo>
                  <a:pt x="52819" y="14288"/>
                  <a:pt x="41344" y="23262"/>
                  <a:pt x="38219" y="35987"/>
                </a:cubicBezTo>
                <a:lnTo>
                  <a:pt x="625" y="187747"/>
                </a:lnTo>
                <a:cubicBezTo>
                  <a:pt x="-2724" y="201231"/>
                  <a:pt x="7501" y="214313"/>
                  <a:pt x="21431" y="214313"/>
                </a:cubicBezTo>
                <a:lnTo>
                  <a:pt x="99968" y="214313"/>
                </a:lnTo>
                <a:lnTo>
                  <a:pt x="99968" y="185738"/>
                </a:lnTo>
                <a:cubicBezTo>
                  <a:pt x="99968" y="177835"/>
                  <a:pt x="106353" y="171450"/>
                  <a:pt x="114255" y="171450"/>
                </a:cubicBezTo>
                <a:cubicBezTo>
                  <a:pt x="122158" y="171450"/>
                  <a:pt x="128543" y="177835"/>
                  <a:pt x="128543" y="185738"/>
                </a:cubicBezTo>
                <a:lnTo>
                  <a:pt x="128543" y="214313"/>
                </a:lnTo>
                <a:lnTo>
                  <a:pt x="207169" y="214313"/>
                </a:lnTo>
                <a:cubicBezTo>
                  <a:pt x="221099" y="214313"/>
                  <a:pt x="231324" y="201231"/>
                  <a:pt x="227975" y="187747"/>
                </a:cubicBezTo>
                <a:lnTo>
                  <a:pt x="190426" y="35987"/>
                </a:lnTo>
                <a:cubicBezTo>
                  <a:pt x="187256" y="23262"/>
                  <a:pt x="175826" y="14288"/>
                  <a:pt x="162654" y="14288"/>
                </a:cubicBezTo>
                <a:lnTo>
                  <a:pt x="128543" y="14288"/>
                </a:lnTo>
                <a:lnTo>
                  <a:pt x="128543" y="42863"/>
                </a:lnTo>
                <a:cubicBezTo>
                  <a:pt x="128543" y="50765"/>
                  <a:pt x="122158" y="57150"/>
                  <a:pt x="114255" y="57150"/>
                </a:cubicBezTo>
                <a:cubicBezTo>
                  <a:pt x="106353" y="57150"/>
                  <a:pt x="99968" y="50765"/>
                  <a:pt x="99968" y="42863"/>
                </a:cubicBezTo>
                <a:lnTo>
                  <a:pt x="99968" y="14288"/>
                </a:lnTo>
                <a:close/>
                <a:moveTo>
                  <a:pt x="128543" y="100013"/>
                </a:moveTo>
                <a:lnTo>
                  <a:pt x="128543" y="128588"/>
                </a:lnTo>
                <a:cubicBezTo>
                  <a:pt x="128543" y="136490"/>
                  <a:pt x="122158" y="142875"/>
                  <a:pt x="114255" y="142875"/>
                </a:cubicBezTo>
                <a:cubicBezTo>
                  <a:pt x="106353" y="142875"/>
                  <a:pt x="99968" y="136490"/>
                  <a:pt x="99968" y="128588"/>
                </a:cubicBezTo>
                <a:lnTo>
                  <a:pt x="99968" y="100013"/>
                </a:lnTo>
                <a:cubicBezTo>
                  <a:pt x="99968" y="92110"/>
                  <a:pt x="106353" y="85725"/>
                  <a:pt x="114255" y="85725"/>
                </a:cubicBezTo>
                <a:cubicBezTo>
                  <a:pt x="122158" y="85725"/>
                  <a:pt x="128543" y="92110"/>
                  <a:pt x="128543" y="10001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4074795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Gaps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32220" y="4551045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 hazards, potholes, and cleanliness issues go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unreported for days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Current reporting systems are fragmented across multiple departments with no coordination.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1270" y="539877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6575107" y="5370195"/>
            <a:ext cx="2181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hazard resolution: 5-14 days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4810" y="6008370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76198" y="0"/>
                </a:moveTo>
                <a:lnTo>
                  <a:pt x="11342372" y="0"/>
                </a:lnTo>
                <a:cubicBezTo>
                  <a:pt x="11384455" y="0"/>
                  <a:pt x="11418570" y="34115"/>
                  <a:pt x="11418570" y="76198"/>
                </a:cubicBezTo>
                <a:lnTo>
                  <a:pt x="11418570" y="388622"/>
                </a:lnTo>
                <a:cubicBezTo>
                  <a:pt x="11418570" y="430705"/>
                  <a:pt x="11384455" y="464820"/>
                  <a:pt x="11342372" y="464820"/>
                </a:cubicBezTo>
                <a:lnTo>
                  <a:pt x="76198" y="464820"/>
                </a:lnTo>
                <a:cubicBezTo>
                  <a:pt x="34115" y="464820"/>
                  <a:pt x="0" y="430705"/>
                  <a:pt x="0" y="3886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820" y="6126481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Bottom Line: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Cities are drowning in data but starving for intelligence. Current systems are reactive, not proactive.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4559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spc="57" kern="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116" y="646409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&amp; Manual Systems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116" y="1113261"/>
            <a:ext cx="861879" cy="35912"/>
          </a:xfrm>
          <a:custGeom>
            <a:avLst/>
            <a:gdLst/>
            <a:ahLst/>
            <a:cxnLst/>
            <a:rect l="l" t="t" r="r" b="b"/>
            <a:pathLst>
              <a:path w="861879" h="35912">
                <a:moveTo>
                  <a:pt x="0" y="0"/>
                </a:moveTo>
                <a:lnTo>
                  <a:pt x="861879" y="0"/>
                </a:lnTo>
                <a:lnTo>
                  <a:pt x="861879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377072" y="1292819"/>
            <a:ext cx="6212713" cy="1310775"/>
          </a:xfrm>
          <a:custGeom>
            <a:avLst/>
            <a:gdLst/>
            <a:ahLst/>
            <a:cxnLst/>
            <a:rect l="l" t="t" r="r" b="b"/>
            <a:pathLst>
              <a:path w="6212713" h="1310775">
                <a:moveTo>
                  <a:pt x="35912" y="0"/>
                </a:moveTo>
                <a:lnTo>
                  <a:pt x="6104980" y="0"/>
                </a:lnTo>
                <a:cubicBezTo>
                  <a:pt x="6164479" y="0"/>
                  <a:pt x="6212713" y="48234"/>
                  <a:pt x="6212713" y="107733"/>
                </a:cubicBezTo>
                <a:lnTo>
                  <a:pt x="6212713" y="1203042"/>
                </a:lnTo>
                <a:cubicBezTo>
                  <a:pt x="6212713" y="1262541"/>
                  <a:pt x="6164479" y="1310775"/>
                  <a:pt x="6104980" y="1310775"/>
                </a:cubicBezTo>
                <a:lnTo>
                  <a:pt x="35912" y="1310775"/>
                </a:lnTo>
                <a:cubicBezTo>
                  <a:pt x="16078" y="1310775"/>
                  <a:pt x="0" y="1294696"/>
                  <a:pt x="0" y="1274863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77072" y="1292819"/>
            <a:ext cx="35912" cy="1310775"/>
          </a:xfrm>
          <a:custGeom>
            <a:avLst/>
            <a:gdLst/>
            <a:ahLst/>
            <a:cxnLst/>
            <a:rect l="l" t="t" r="r" b="b"/>
            <a:pathLst>
              <a:path w="35912" h="1310775">
                <a:moveTo>
                  <a:pt x="35912" y="0"/>
                </a:moveTo>
                <a:lnTo>
                  <a:pt x="35912" y="0"/>
                </a:lnTo>
                <a:lnTo>
                  <a:pt x="35912" y="1310775"/>
                </a:lnTo>
                <a:lnTo>
                  <a:pt x="35912" y="1310775"/>
                </a:lnTo>
                <a:cubicBezTo>
                  <a:pt x="16078" y="1310775"/>
                  <a:pt x="0" y="1294696"/>
                  <a:pt x="0" y="1274863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38675" y="1436465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251381" y="0"/>
                </a:moveTo>
                <a:lnTo>
                  <a:pt x="251381" y="0"/>
                </a:lnTo>
                <a:cubicBezTo>
                  <a:pt x="390123" y="0"/>
                  <a:pt x="502763" y="112640"/>
                  <a:pt x="502763" y="251381"/>
                </a:cubicBezTo>
                <a:lnTo>
                  <a:pt x="502763" y="251381"/>
                </a:lnTo>
                <a:cubicBezTo>
                  <a:pt x="502763" y="390123"/>
                  <a:pt x="390123" y="502763"/>
                  <a:pt x="251381" y="502763"/>
                </a:cubicBezTo>
                <a:lnTo>
                  <a:pt x="251381" y="502763"/>
                </a:lnTo>
                <a:cubicBezTo>
                  <a:pt x="112640" y="502763"/>
                  <a:pt x="0" y="390123"/>
                  <a:pt x="0" y="251381"/>
                </a:cubicBezTo>
                <a:lnTo>
                  <a:pt x="0" y="251381"/>
                </a:lnTo>
                <a:cubicBezTo>
                  <a:pt x="0" y="112640"/>
                  <a:pt x="112640" y="0"/>
                  <a:pt x="251381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2321" y="1580112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121202" y="13467"/>
                </a:moveTo>
                <a:cubicBezTo>
                  <a:pt x="121202" y="6018"/>
                  <a:pt x="115184" y="0"/>
                  <a:pt x="107735" y="0"/>
                </a:cubicBezTo>
                <a:cubicBezTo>
                  <a:pt x="100286" y="0"/>
                  <a:pt x="94268" y="6018"/>
                  <a:pt x="94268" y="13467"/>
                </a:cubicBezTo>
                <a:lnTo>
                  <a:pt x="94268" y="101001"/>
                </a:lnTo>
                <a:cubicBezTo>
                  <a:pt x="94268" y="104705"/>
                  <a:pt x="91238" y="107735"/>
                  <a:pt x="87535" y="107735"/>
                </a:cubicBezTo>
                <a:cubicBezTo>
                  <a:pt x="83831" y="107735"/>
                  <a:pt x="80801" y="104705"/>
                  <a:pt x="80801" y="101001"/>
                </a:cubicBezTo>
                <a:lnTo>
                  <a:pt x="80801" y="26934"/>
                </a:lnTo>
                <a:cubicBezTo>
                  <a:pt x="80801" y="19485"/>
                  <a:pt x="74783" y="13467"/>
                  <a:pt x="67334" y="13467"/>
                </a:cubicBezTo>
                <a:cubicBezTo>
                  <a:pt x="59885" y="13467"/>
                  <a:pt x="53867" y="19485"/>
                  <a:pt x="53867" y="26934"/>
                </a:cubicBezTo>
                <a:lnTo>
                  <a:pt x="53867" y="141402"/>
                </a:lnTo>
                <a:cubicBezTo>
                  <a:pt x="53867" y="142033"/>
                  <a:pt x="53867" y="142707"/>
                  <a:pt x="53910" y="143338"/>
                </a:cubicBezTo>
                <a:lnTo>
                  <a:pt x="28449" y="119098"/>
                </a:lnTo>
                <a:cubicBezTo>
                  <a:pt x="21715" y="112701"/>
                  <a:pt x="11068" y="112953"/>
                  <a:pt x="4629" y="119687"/>
                </a:cubicBezTo>
                <a:cubicBezTo>
                  <a:pt x="-1810" y="126420"/>
                  <a:pt x="-1515" y="137067"/>
                  <a:pt x="5218" y="143506"/>
                </a:cubicBezTo>
                <a:lnTo>
                  <a:pt x="52521" y="188536"/>
                </a:lnTo>
                <a:cubicBezTo>
                  <a:pt x="70659" y="205833"/>
                  <a:pt x="94773" y="215470"/>
                  <a:pt x="119855" y="215470"/>
                </a:cubicBezTo>
                <a:lnTo>
                  <a:pt x="127935" y="215470"/>
                </a:lnTo>
                <a:cubicBezTo>
                  <a:pt x="168841" y="215470"/>
                  <a:pt x="202003" y="182308"/>
                  <a:pt x="202003" y="141402"/>
                </a:cubicBezTo>
                <a:lnTo>
                  <a:pt x="202003" y="53867"/>
                </a:lnTo>
                <a:cubicBezTo>
                  <a:pt x="202003" y="46419"/>
                  <a:pt x="195985" y="40401"/>
                  <a:pt x="188536" y="40401"/>
                </a:cubicBezTo>
                <a:cubicBezTo>
                  <a:pt x="181087" y="40401"/>
                  <a:pt x="175069" y="46419"/>
                  <a:pt x="175069" y="53867"/>
                </a:cubicBezTo>
                <a:lnTo>
                  <a:pt x="175069" y="101001"/>
                </a:lnTo>
                <a:cubicBezTo>
                  <a:pt x="175069" y="104705"/>
                  <a:pt x="172039" y="107735"/>
                  <a:pt x="168336" y="107735"/>
                </a:cubicBezTo>
                <a:cubicBezTo>
                  <a:pt x="164632" y="107735"/>
                  <a:pt x="161602" y="104705"/>
                  <a:pt x="161602" y="101001"/>
                </a:cubicBezTo>
                <a:lnTo>
                  <a:pt x="161602" y="26934"/>
                </a:lnTo>
                <a:cubicBezTo>
                  <a:pt x="161602" y="19485"/>
                  <a:pt x="155584" y="13467"/>
                  <a:pt x="148135" y="13467"/>
                </a:cubicBezTo>
                <a:cubicBezTo>
                  <a:pt x="140687" y="13467"/>
                  <a:pt x="134669" y="19485"/>
                  <a:pt x="134669" y="26934"/>
                </a:cubicBezTo>
                <a:lnTo>
                  <a:pt x="134669" y="101001"/>
                </a:lnTo>
                <a:cubicBezTo>
                  <a:pt x="134669" y="104705"/>
                  <a:pt x="131639" y="107735"/>
                  <a:pt x="127935" y="107735"/>
                </a:cubicBezTo>
                <a:cubicBezTo>
                  <a:pt x="124232" y="107735"/>
                  <a:pt x="121202" y="104705"/>
                  <a:pt x="121202" y="101001"/>
                </a:cubicBezTo>
                <a:lnTo>
                  <a:pt x="121202" y="13467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185084" y="1436465"/>
            <a:ext cx="535083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Processes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5084" y="1759670"/>
            <a:ext cx="5332878" cy="70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violations, accidents, and infrastructure issues rely on </a:t>
            </a:r>
            <a:pPr>
              <a:lnSpc>
                <a:spcPct val="140000"/>
              </a:lnSpc>
            </a:pPr>
            <a:r>
              <a:rPr lang="en-US" sz="1131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observation and paper-based reporting</a:t>
            </a:r>
            <a:pPr>
              <a:lnSpc>
                <a:spcPct val="140000"/>
              </a:lnSpc>
            </a:pPr>
            <a:r>
              <a:rPr lang="en-US" sz="113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Police officers can't be everywhere, and citizens lack easy reporting channels.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7072" y="2711328"/>
            <a:ext cx="6212713" cy="1077349"/>
          </a:xfrm>
          <a:custGeom>
            <a:avLst/>
            <a:gdLst/>
            <a:ahLst/>
            <a:cxnLst/>
            <a:rect l="l" t="t" r="r" b="b"/>
            <a:pathLst>
              <a:path w="6212713" h="1077349">
                <a:moveTo>
                  <a:pt x="35912" y="0"/>
                </a:moveTo>
                <a:lnTo>
                  <a:pt x="6104978" y="0"/>
                </a:lnTo>
                <a:cubicBezTo>
                  <a:pt x="6164478" y="0"/>
                  <a:pt x="6212713" y="48235"/>
                  <a:pt x="6212713" y="107735"/>
                </a:cubicBezTo>
                <a:lnTo>
                  <a:pt x="6212713" y="969614"/>
                </a:lnTo>
                <a:cubicBezTo>
                  <a:pt x="6212713" y="1029114"/>
                  <a:pt x="6164478" y="1077349"/>
                  <a:pt x="6104978" y="1077349"/>
                </a:cubicBezTo>
                <a:lnTo>
                  <a:pt x="35912" y="1077349"/>
                </a:lnTo>
                <a:cubicBezTo>
                  <a:pt x="16078" y="1077349"/>
                  <a:pt x="0" y="1061271"/>
                  <a:pt x="0" y="1041437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377072" y="2711328"/>
            <a:ext cx="35912" cy="1077349"/>
          </a:xfrm>
          <a:custGeom>
            <a:avLst/>
            <a:gdLst/>
            <a:ahLst/>
            <a:cxnLst/>
            <a:rect l="l" t="t" r="r" b="b"/>
            <a:pathLst>
              <a:path w="35912" h="1077349">
                <a:moveTo>
                  <a:pt x="35912" y="0"/>
                </a:moveTo>
                <a:lnTo>
                  <a:pt x="35912" y="0"/>
                </a:lnTo>
                <a:lnTo>
                  <a:pt x="35912" y="1077349"/>
                </a:lnTo>
                <a:lnTo>
                  <a:pt x="35912" y="1077349"/>
                </a:lnTo>
                <a:cubicBezTo>
                  <a:pt x="16078" y="1077349"/>
                  <a:pt x="0" y="1061271"/>
                  <a:pt x="0" y="1041437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538675" y="2854975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251381" y="0"/>
                </a:moveTo>
                <a:lnTo>
                  <a:pt x="251381" y="0"/>
                </a:lnTo>
                <a:cubicBezTo>
                  <a:pt x="390123" y="0"/>
                  <a:pt x="502763" y="112640"/>
                  <a:pt x="502763" y="251381"/>
                </a:cubicBezTo>
                <a:lnTo>
                  <a:pt x="502763" y="251381"/>
                </a:lnTo>
                <a:cubicBezTo>
                  <a:pt x="502763" y="390123"/>
                  <a:pt x="390123" y="502763"/>
                  <a:pt x="251381" y="502763"/>
                </a:cubicBezTo>
                <a:lnTo>
                  <a:pt x="251381" y="502763"/>
                </a:lnTo>
                <a:cubicBezTo>
                  <a:pt x="112640" y="502763"/>
                  <a:pt x="0" y="390123"/>
                  <a:pt x="0" y="251381"/>
                </a:cubicBezTo>
                <a:lnTo>
                  <a:pt x="0" y="251381"/>
                </a:lnTo>
                <a:cubicBezTo>
                  <a:pt x="0" y="112640"/>
                  <a:pt x="112640" y="0"/>
                  <a:pt x="25138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82321" y="2998622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107735" y="0"/>
                </a:moveTo>
                <a:cubicBezTo>
                  <a:pt x="167195" y="0"/>
                  <a:pt x="215470" y="48274"/>
                  <a:pt x="215470" y="107735"/>
                </a:cubicBezTo>
                <a:cubicBezTo>
                  <a:pt x="215470" y="167195"/>
                  <a:pt x="167195" y="215470"/>
                  <a:pt x="107735" y="215470"/>
                </a:cubicBezTo>
                <a:cubicBezTo>
                  <a:pt x="48274" y="215470"/>
                  <a:pt x="0" y="167195"/>
                  <a:pt x="0" y="107735"/>
                </a:cubicBezTo>
                <a:cubicBezTo>
                  <a:pt x="0" y="48274"/>
                  <a:pt x="48274" y="0"/>
                  <a:pt x="107735" y="0"/>
                </a:cubicBezTo>
                <a:close/>
                <a:moveTo>
                  <a:pt x="97635" y="50501"/>
                </a:moveTo>
                <a:lnTo>
                  <a:pt x="97635" y="107735"/>
                </a:lnTo>
                <a:cubicBezTo>
                  <a:pt x="97635" y="111102"/>
                  <a:pt x="99318" y="114258"/>
                  <a:pt x="102138" y="116152"/>
                </a:cubicBezTo>
                <a:lnTo>
                  <a:pt x="142538" y="143085"/>
                </a:lnTo>
                <a:cubicBezTo>
                  <a:pt x="147168" y="146200"/>
                  <a:pt x="153438" y="144937"/>
                  <a:pt x="156552" y="140266"/>
                </a:cubicBezTo>
                <a:cubicBezTo>
                  <a:pt x="159666" y="135594"/>
                  <a:pt x="158404" y="129366"/>
                  <a:pt x="153733" y="126252"/>
                </a:cubicBezTo>
                <a:lnTo>
                  <a:pt x="117835" y="102348"/>
                </a:lnTo>
                <a:lnTo>
                  <a:pt x="117835" y="50501"/>
                </a:lnTo>
                <a:cubicBezTo>
                  <a:pt x="117835" y="44904"/>
                  <a:pt x="113332" y="40401"/>
                  <a:pt x="107735" y="40401"/>
                </a:cubicBezTo>
                <a:cubicBezTo>
                  <a:pt x="102138" y="40401"/>
                  <a:pt x="97635" y="44904"/>
                  <a:pt x="97635" y="5050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185084" y="2854975"/>
            <a:ext cx="535083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Delayed Emergency Response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5084" y="3178180"/>
            <a:ext cx="5332878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911 calls require manual dispatch, location verification, and resource allocation. </a:t>
            </a:r>
            <a:pPr>
              <a:lnSpc>
                <a:spcPct val="140000"/>
              </a:lnSpc>
            </a:pPr>
            <a:r>
              <a:rPr lang="en-US" sz="1131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minutes are lost</a:t>
            </a:r>
            <a:pPr>
              <a:lnSpc>
                <a:spcPct val="140000"/>
              </a:lnSpc>
            </a:pPr>
            <a:r>
              <a:rPr lang="en-US" sz="113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systems communicate and responders navigate traffic.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7072" y="3896412"/>
            <a:ext cx="6212713" cy="1310775"/>
          </a:xfrm>
          <a:custGeom>
            <a:avLst/>
            <a:gdLst/>
            <a:ahLst/>
            <a:cxnLst/>
            <a:rect l="l" t="t" r="r" b="b"/>
            <a:pathLst>
              <a:path w="6212713" h="1310775">
                <a:moveTo>
                  <a:pt x="35912" y="0"/>
                </a:moveTo>
                <a:lnTo>
                  <a:pt x="6104980" y="0"/>
                </a:lnTo>
                <a:cubicBezTo>
                  <a:pt x="6164479" y="0"/>
                  <a:pt x="6212713" y="48234"/>
                  <a:pt x="6212713" y="107733"/>
                </a:cubicBezTo>
                <a:lnTo>
                  <a:pt x="6212713" y="1203042"/>
                </a:lnTo>
                <a:cubicBezTo>
                  <a:pt x="6212713" y="1262541"/>
                  <a:pt x="6164479" y="1310775"/>
                  <a:pt x="6104980" y="1310775"/>
                </a:cubicBezTo>
                <a:lnTo>
                  <a:pt x="35912" y="1310775"/>
                </a:lnTo>
                <a:cubicBezTo>
                  <a:pt x="16078" y="1310775"/>
                  <a:pt x="0" y="1294696"/>
                  <a:pt x="0" y="1274863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377072" y="3896412"/>
            <a:ext cx="35912" cy="1310775"/>
          </a:xfrm>
          <a:custGeom>
            <a:avLst/>
            <a:gdLst/>
            <a:ahLst/>
            <a:cxnLst/>
            <a:rect l="l" t="t" r="r" b="b"/>
            <a:pathLst>
              <a:path w="35912" h="1310775">
                <a:moveTo>
                  <a:pt x="35912" y="0"/>
                </a:moveTo>
                <a:lnTo>
                  <a:pt x="35912" y="0"/>
                </a:lnTo>
                <a:lnTo>
                  <a:pt x="35912" y="1310775"/>
                </a:lnTo>
                <a:lnTo>
                  <a:pt x="35912" y="1310775"/>
                </a:lnTo>
                <a:cubicBezTo>
                  <a:pt x="16078" y="1310775"/>
                  <a:pt x="0" y="1294696"/>
                  <a:pt x="0" y="1274863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538675" y="4040059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251381" y="0"/>
                </a:moveTo>
                <a:lnTo>
                  <a:pt x="251381" y="0"/>
                </a:lnTo>
                <a:cubicBezTo>
                  <a:pt x="390123" y="0"/>
                  <a:pt x="502763" y="112640"/>
                  <a:pt x="502763" y="251381"/>
                </a:cubicBezTo>
                <a:lnTo>
                  <a:pt x="502763" y="251381"/>
                </a:lnTo>
                <a:cubicBezTo>
                  <a:pt x="502763" y="390123"/>
                  <a:pt x="390123" y="502763"/>
                  <a:pt x="251381" y="502763"/>
                </a:cubicBezTo>
                <a:lnTo>
                  <a:pt x="251381" y="502763"/>
                </a:lnTo>
                <a:cubicBezTo>
                  <a:pt x="112640" y="502763"/>
                  <a:pt x="0" y="390123"/>
                  <a:pt x="0" y="251381"/>
                </a:cubicBezTo>
                <a:lnTo>
                  <a:pt x="0" y="251381"/>
                </a:lnTo>
                <a:cubicBezTo>
                  <a:pt x="0" y="112640"/>
                  <a:pt x="112640" y="0"/>
                  <a:pt x="25138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82321" y="4183705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94268" y="0"/>
                </a:moveTo>
                <a:cubicBezTo>
                  <a:pt x="109124" y="0"/>
                  <a:pt x="121202" y="9048"/>
                  <a:pt x="121202" y="20200"/>
                </a:cubicBezTo>
                <a:cubicBezTo>
                  <a:pt x="121202" y="24577"/>
                  <a:pt x="119350" y="28617"/>
                  <a:pt x="116152" y="31942"/>
                </a:cubicBezTo>
                <a:cubicBezTo>
                  <a:pt x="113374" y="34846"/>
                  <a:pt x="111102" y="38381"/>
                  <a:pt x="111102" y="42421"/>
                </a:cubicBezTo>
                <a:cubicBezTo>
                  <a:pt x="111102" y="48733"/>
                  <a:pt x="116236" y="53867"/>
                  <a:pt x="122548" y="53867"/>
                </a:cubicBezTo>
                <a:lnTo>
                  <a:pt x="141402" y="53867"/>
                </a:lnTo>
                <a:cubicBezTo>
                  <a:pt x="152554" y="53867"/>
                  <a:pt x="161602" y="62916"/>
                  <a:pt x="161602" y="74068"/>
                </a:cubicBezTo>
                <a:lnTo>
                  <a:pt x="161602" y="92921"/>
                </a:lnTo>
                <a:cubicBezTo>
                  <a:pt x="161602" y="99234"/>
                  <a:pt x="166737" y="104368"/>
                  <a:pt x="173049" y="104368"/>
                </a:cubicBezTo>
                <a:cubicBezTo>
                  <a:pt x="177047" y="104368"/>
                  <a:pt x="180624" y="102096"/>
                  <a:pt x="183528" y="99318"/>
                </a:cubicBezTo>
                <a:cubicBezTo>
                  <a:pt x="186853" y="96162"/>
                  <a:pt x="190893" y="94268"/>
                  <a:pt x="195270" y="94268"/>
                </a:cubicBezTo>
                <a:cubicBezTo>
                  <a:pt x="206422" y="94268"/>
                  <a:pt x="215470" y="106346"/>
                  <a:pt x="215470" y="121202"/>
                </a:cubicBezTo>
                <a:cubicBezTo>
                  <a:pt x="215470" y="136057"/>
                  <a:pt x="206422" y="148135"/>
                  <a:pt x="195270" y="148135"/>
                </a:cubicBezTo>
                <a:cubicBezTo>
                  <a:pt x="190893" y="148135"/>
                  <a:pt x="186811" y="146284"/>
                  <a:pt x="183528" y="143085"/>
                </a:cubicBezTo>
                <a:cubicBezTo>
                  <a:pt x="180624" y="140308"/>
                  <a:pt x="177089" y="138035"/>
                  <a:pt x="173049" y="138035"/>
                </a:cubicBezTo>
                <a:cubicBezTo>
                  <a:pt x="166737" y="138035"/>
                  <a:pt x="161602" y="143170"/>
                  <a:pt x="161602" y="149482"/>
                </a:cubicBezTo>
                <a:lnTo>
                  <a:pt x="161602" y="195270"/>
                </a:lnTo>
                <a:cubicBezTo>
                  <a:pt x="161602" y="206422"/>
                  <a:pt x="152554" y="215470"/>
                  <a:pt x="141402" y="215470"/>
                </a:cubicBezTo>
                <a:lnTo>
                  <a:pt x="117498" y="215470"/>
                </a:lnTo>
                <a:cubicBezTo>
                  <a:pt x="112112" y="215470"/>
                  <a:pt x="107735" y="211093"/>
                  <a:pt x="107735" y="205706"/>
                </a:cubicBezTo>
                <a:cubicBezTo>
                  <a:pt x="107735" y="201835"/>
                  <a:pt x="110176" y="198426"/>
                  <a:pt x="113290" y="196111"/>
                </a:cubicBezTo>
                <a:cubicBezTo>
                  <a:pt x="118172" y="192450"/>
                  <a:pt x="121202" y="187400"/>
                  <a:pt x="121202" y="181803"/>
                </a:cubicBezTo>
                <a:cubicBezTo>
                  <a:pt x="121202" y="170650"/>
                  <a:pt x="109124" y="161602"/>
                  <a:pt x="94268" y="161602"/>
                </a:cubicBezTo>
                <a:cubicBezTo>
                  <a:pt x="79412" y="161602"/>
                  <a:pt x="67334" y="170650"/>
                  <a:pt x="67334" y="181803"/>
                </a:cubicBezTo>
                <a:cubicBezTo>
                  <a:pt x="67334" y="187400"/>
                  <a:pt x="70364" y="192450"/>
                  <a:pt x="75246" y="196111"/>
                </a:cubicBezTo>
                <a:cubicBezTo>
                  <a:pt x="78360" y="198426"/>
                  <a:pt x="80801" y="201793"/>
                  <a:pt x="80801" y="205706"/>
                </a:cubicBezTo>
                <a:cubicBezTo>
                  <a:pt x="80801" y="211093"/>
                  <a:pt x="76424" y="215470"/>
                  <a:pt x="71038" y="215470"/>
                </a:cubicBezTo>
                <a:lnTo>
                  <a:pt x="20200" y="215470"/>
                </a:lnTo>
                <a:cubicBezTo>
                  <a:pt x="9048" y="215470"/>
                  <a:pt x="0" y="206422"/>
                  <a:pt x="0" y="195270"/>
                </a:cubicBezTo>
                <a:lnTo>
                  <a:pt x="0" y="144432"/>
                </a:lnTo>
                <a:cubicBezTo>
                  <a:pt x="0" y="139045"/>
                  <a:pt x="4377" y="134669"/>
                  <a:pt x="9763" y="134669"/>
                </a:cubicBezTo>
                <a:cubicBezTo>
                  <a:pt x="13635" y="134669"/>
                  <a:pt x="17044" y="137109"/>
                  <a:pt x="19359" y="140224"/>
                </a:cubicBezTo>
                <a:cubicBezTo>
                  <a:pt x="23020" y="145105"/>
                  <a:pt x="28070" y="148135"/>
                  <a:pt x="33667" y="148135"/>
                </a:cubicBezTo>
                <a:cubicBezTo>
                  <a:pt x="44819" y="148135"/>
                  <a:pt x="53867" y="136057"/>
                  <a:pt x="53867" y="121202"/>
                </a:cubicBezTo>
                <a:cubicBezTo>
                  <a:pt x="53867" y="106346"/>
                  <a:pt x="44819" y="94268"/>
                  <a:pt x="33667" y="94268"/>
                </a:cubicBezTo>
                <a:cubicBezTo>
                  <a:pt x="28070" y="94268"/>
                  <a:pt x="23020" y="97298"/>
                  <a:pt x="19359" y="102180"/>
                </a:cubicBezTo>
                <a:cubicBezTo>
                  <a:pt x="17044" y="105294"/>
                  <a:pt x="13677" y="107735"/>
                  <a:pt x="9763" y="107735"/>
                </a:cubicBezTo>
                <a:cubicBezTo>
                  <a:pt x="4377" y="107735"/>
                  <a:pt x="0" y="103358"/>
                  <a:pt x="0" y="97971"/>
                </a:cubicBezTo>
                <a:lnTo>
                  <a:pt x="0" y="74068"/>
                </a:lnTo>
                <a:cubicBezTo>
                  <a:pt x="0" y="62916"/>
                  <a:pt x="9048" y="53867"/>
                  <a:pt x="20200" y="53867"/>
                </a:cubicBezTo>
                <a:lnTo>
                  <a:pt x="65988" y="53867"/>
                </a:lnTo>
                <a:cubicBezTo>
                  <a:pt x="72300" y="53867"/>
                  <a:pt x="77434" y="48733"/>
                  <a:pt x="77434" y="42421"/>
                </a:cubicBezTo>
                <a:cubicBezTo>
                  <a:pt x="77434" y="38423"/>
                  <a:pt x="75162" y="34846"/>
                  <a:pt x="72384" y="31942"/>
                </a:cubicBezTo>
                <a:cubicBezTo>
                  <a:pt x="69228" y="28617"/>
                  <a:pt x="67334" y="24577"/>
                  <a:pt x="67334" y="20200"/>
                </a:cubicBezTo>
                <a:cubicBezTo>
                  <a:pt x="67334" y="9048"/>
                  <a:pt x="79412" y="0"/>
                  <a:pt x="94268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1185084" y="4040059"/>
            <a:ext cx="535083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Silos &amp; No Coordination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5084" y="4363264"/>
            <a:ext cx="5332878" cy="70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Traffic, police, and emergency departments operate </a:t>
            </a:r>
            <a:pPr>
              <a:lnSpc>
                <a:spcPct val="140000"/>
              </a:lnSpc>
            </a:pPr>
            <a:r>
              <a:rPr lang="en-US" sz="1131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systems with no data sharing</a:t>
            </a:r>
            <a:pPr>
              <a:lnSpc>
                <a:spcPct val="140000"/>
              </a:lnSpc>
            </a:pPr>
            <a:r>
              <a:rPr lang="en-US" sz="113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An accident reported to police doesn't automatically alert traffic management or nearby hospitals.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7072" y="5314922"/>
            <a:ext cx="6212713" cy="1077349"/>
          </a:xfrm>
          <a:custGeom>
            <a:avLst/>
            <a:gdLst/>
            <a:ahLst/>
            <a:cxnLst/>
            <a:rect l="l" t="t" r="r" b="b"/>
            <a:pathLst>
              <a:path w="6212713" h="1077349">
                <a:moveTo>
                  <a:pt x="35912" y="0"/>
                </a:moveTo>
                <a:lnTo>
                  <a:pt x="6104978" y="0"/>
                </a:lnTo>
                <a:cubicBezTo>
                  <a:pt x="6164478" y="0"/>
                  <a:pt x="6212713" y="48235"/>
                  <a:pt x="6212713" y="107735"/>
                </a:cubicBezTo>
                <a:lnTo>
                  <a:pt x="6212713" y="969614"/>
                </a:lnTo>
                <a:cubicBezTo>
                  <a:pt x="6212713" y="1029114"/>
                  <a:pt x="6164478" y="1077349"/>
                  <a:pt x="6104978" y="1077349"/>
                </a:cubicBezTo>
                <a:lnTo>
                  <a:pt x="35912" y="1077349"/>
                </a:lnTo>
                <a:cubicBezTo>
                  <a:pt x="16078" y="1077349"/>
                  <a:pt x="0" y="1061271"/>
                  <a:pt x="0" y="1041437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377072" y="5314922"/>
            <a:ext cx="35912" cy="1077349"/>
          </a:xfrm>
          <a:custGeom>
            <a:avLst/>
            <a:gdLst/>
            <a:ahLst/>
            <a:cxnLst/>
            <a:rect l="l" t="t" r="r" b="b"/>
            <a:pathLst>
              <a:path w="35912" h="1077349">
                <a:moveTo>
                  <a:pt x="35912" y="0"/>
                </a:moveTo>
                <a:lnTo>
                  <a:pt x="35912" y="0"/>
                </a:lnTo>
                <a:lnTo>
                  <a:pt x="35912" y="1077349"/>
                </a:lnTo>
                <a:lnTo>
                  <a:pt x="35912" y="1077349"/>
                </a:lnTo>
                <a:cubicBezTo>
                  <a:pt x="16078" y="1077349"/>
                  <a:pt x="0" y="1061271"/>
                  <a:pt x="0" y="1041437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538675" y="5458568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251381" y="0"/>
                </a:moveTo>
                <a:lnTo>
                  <a:pt x="251381" y="0"/>
                </a:lnTo>
                <a:cubicBezTo>
                  <a:pt x="390123" y="0"/>
                  <a:pt x="502763" y="112640"/>
                  <a:pt x="502763" y="251381"/>
                </a:cubicBezTo>
                <a:lnTo>
                  <a:pt x="502763" y="251381"/>
                </a:lnTo>
                <a:cubicBezTo>
                  <a:pt x="502763" y="390123"/>
                  <a:pt x="390123" y="502763"/>
                  <a:pt x="251381" y="502763"/>
                </a:cubicBezTo>
                <a:lnTo>
                  <a:pt x="251381" y="502763"/>
                </a:lnTo>
                <a:cubicBezTo>
                  <a:pt x="112640" y="502763"/>
                  <a:pt x="0" y="390123"/>
                  <a:pt x="0" y="251381"/>
                </a:cubicBezTo>
                <a:lnTo>
                  <a:pt x="0" y="251381"/>
                </a:lnTo>
                <a:cubicBezTo>
                  <a:pt x="0" y="112640"/>
                  <a:pt x="112640" y="0"/>
                  <a:pt x="25138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8854" y="5602215"/>
            <a:ext cx="242404" cy="215470"/>
          </a:xfrm>
          <a:custGeom>
            <a:avLst/>
            <a:gdLst/>
            <a:ahLst/>
            <a:cxnLst/>
            <a:rect l="l" t="t" r="r" b="b"/>
            <a:pathLst>
              <a:path w="242404" h="215470">
                <a:moveTo>
                  <a:pt x="17254" y="-10479"/>
                </a:moveTo>
                <a:cubicBezTo>
                  <a:pt x="13299" y="-14435"/>
                  <a:pt x="6902" y="-14435"/>
                  <a:pt x="2988" y="-10479"/>
                </a:cubicBezTo>
                <a:cubicBezTo>
                  <a:pt x="-926" y="-6523"/>
                  <a:pt x="-968" y="-126"/>
                  <a:pt x="2946" y="3830"/>
                </a:cubicBezTo>
                <a:lnTo>
                  <a:pt x="225149" y="226033"/>
                </a:lnTo>
                <a:cubicBezTo>
                  <a:pt x="229105" y="229989"/>
                  <a:pt x="235502" y="229989"/>
                  <a:pt x="239416" y="226033"/>
                </a:cubicBezTo>
                <a:cubicBezTo>
                  <a:pt x="243329" y="222077"/>
                  <a:pt x="243371" y="215680"/>
                  <a:pt x="239416" y="211766"/>
                </a:cubicBezTo>
                <a:lnTo>
                  <a:pt x="198847" y="171197"/>
                </a:lnTo>
                <a:cubicBezTo>
                  <a:pt x="199983" y="170187"/>
                  <a:pt x="201119" y="169177"/>
                  <a:pt x="202213" y="168167"/>
                </a:cubicBezTo>
                <a:cubicBezTo>
                  <a:pt x="221909" y="149861"/>
                  <a:pt x="235081" y="128019"/>
                  <a:pt x="241351" y="112995"/>
                </a:cubicBezTo>
                <a:cubicBezTo>
                  <a:pt x="242740" y="109671"/>
                  <a:pt x="242740" y="105967"/>
                  <a:pt x="241351" y="102643"/>
                </a:cubicBezTo>
                <a:cubicBezTo>
                  <a:pt x="235081" y="87619"/>
                  <a:pt x="221909" y="65735"/>
                  <a:pt x="202213" y="47471"/>
                </a:cubicBezTo>
                <a:cubicBezTo>
                  <a:pt x="182392" y="29080"/>
                  <a:pt x="155164" y="13551"/>
                  <a:pt x="121160" y="13551"/>
                </a:cubicBezTo>
                <a:cubicBezTo>
                  <a:pt x="97256" y="13551"/>
                  <a:pt x="76719" y="21210"/>
                  <a:pt x="59717" y="32152"/>
                </a:cubicBezTo>
                <a:lnTo>
                  <a:pt x="17254" y="-10479"/>
                </a:lnTo>
                <a:close/>
                <a:moveTo>
                  <a:pt x="86062" y="58370"/>
                </a:moveTo>
                <a:cubicBezTo>
                  <a:pt x="95951" y="51300"/>
                  <a:pt x="108114" y="47134"/>
                  <a:pt x="121202" y="47134"/>
                </a:cubicBezTo>
                <a:cubicBezTo>
                  <a:pt x="154659" y="47134"/>
                  <a:pt x="181803" y="74278"/>
                  <a:pt x="181803" y="107735"/>
                </a:cubicBezTo>
                <a:cubicBezTo>
                  <a:pt x="181803" y="120823"/>
                  <a:pt x="177636" y="132943"/>
                  <a:pt x="170566" y="142875"/>
                </a:cubicBezTo>
                <a:lnTo>
                  <a:pt x="155963" y="128272"/>
                </a:lnTo>
                <a:cubicBezTo>
                  <a:pt x="161308" y="119266"/>
                  <a:pt x="163117" y="108198"/>
                  <a:pt x="160214" y="97256"/>
                </a:cubicBezTo>
                <a:cubicBezTo>
                  <a:pt x="154448" y="75709"/>
                  <a:pt x="132270" y="62916"/>
                  <a:pt x="110723" y="68681"/>
                </a:cubicBezTo>
                <a:cubicBezTo>
                  <a:pt x="107104" y="69649"/>
                  <a:pt x="103695" y="71080"/>
                  <a:pt x="100623" y="72889"/>
                </a:cubicBezTo>
                <a:lnTo>
                  <a:pt x="86020" y="58286"/>
                </a:lnTo>
                <a:close/>
                <a:moveTo>
                  <a:pt x="136899" y="166274"/>
                </a:moveTo>
                <a:cubicBezTo>
                  <a:pt x="131891" y="167620"/>
                  <a:pt x="126631" y="168336"/>
                  <a:pt x="121202" y="168336"/>
                </a:cubicBezTo>
                <a:cubicBezTo>
                  <a:pt x="87745" y="168336"/>
                  <a:pt x="60601" y="141192"/>
                  <a:pt x="60601" y="107735"/>
                </a:cubicBezTo>
                <a:cubicBezTo>
                  <a:pt x="60601" y="102306"/>
                  <a:pt x="61316" y="97046"/>
                  <a:pt x="62663" y="92038"/>
                </a:cubicBezTo>
                <a:lnTo>
                  <a:pt x="29206" y="58581"/>
                </a:lnTo>
                <a:cubicBezTo>
                  <a:pt x="15487" y="74068"/>
                  <a:pt x="6060" y="90480"/>
                  <a:pt x="1052" y="102559"/>
                </a:cubicBezTo>
                <a:cubicBezTo>
                  <a:pt x="-337" y="105883"/>
                  <a:pt x="-337" y="109587"/>
                  <a:pt x="1052" y="112911"/>
                </a:cubicBezTo>
                <a:cubicBezTo>
                  <a:pt x="7323" y="127935"/>
                  <a:pt x="20495" y="149819"/>
                  <a:pt x="40190" y="168083"/>
                </a:cubicBezTo>
                <a:cubicBezTo>
                  <a:pt x="60012" y="186474"/>
                  <a:pt x="87240" y="202003"/>
                  <a:pt x="121244" y="202003"/>
                </a:cubicBezTo>
                <a:cubicBezTo>
                  <a:pt x="136941" y="202003"/>
                  <a:pt x="151208" y="198678"/>
                  <a:pt x="163959" y="193334"/>
                </a:cubicBezTo>
                <a:lnTo>
                  <a:pt x="136941" y="16631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1185084" y="5458568"/>
            <a:ext cx="535083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Unmonitored Road Hazards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5084" y="5781773"/>
            <a:ext cx="5332878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Potholes, garbage accumulation, and damaged infrastructure </a:t>
            </a:r>
            <a:pPr>
              <a:lnSpc>
                <a:spcPct val="140000"/>
              </a:lnSpc>
            </a:pPr>
            <a:r>
              <a:rPr lang="en-US" sz="1131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remain unreported until accidents occur</a:t>
            </a:r>
            <a:pPr>
              <a:lnSpc>
                <a:spcPct val="140000"/>
              </a:lnSpc>
            </a:pPr>
            <a:r>
              <a:rPr lang="en-US" sz="113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Cities lack real-time visibility into urban conditions.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38931" y="1296410"/>
            <a:ext cx="5088679" cy="3849727"/>
          </a:xfrm>
          <a:custGeom>
            <a:avLst/>
            <a:gdLst/>
            <a:ahLst/>
            <a:cxnLst/>
            <a:rect l="l" t="t" r="r" b="b"/>
            <a:pathLst>
              <a:path w="5088679" h="3849727">
                <a:moveTo>
                  <a:pt x="107754" y="0"/>
                </a:moveTo>
                <a:lnTo>
                  <a:pt x="4980925" y="0"/>
                </a:lnTo>
                <a:cubicBezTo>
                  <a:pt x="5040436" y="0"/>
                  <a:pt x="5088679" y="48243"/>
                  <a:pt x="5088679" y="107754"/>
                </a:cubicBezTo>
                <a:lnTo>
                  <a:pt x="5088679" y="3741973"/>
                </a:lnTo>
                <a:cubicBezTo>
                  <a:pt x="5088679" y="3801484"/>
                  <a:pt x="5040436" y="3849727"/>
                  <a:pt x="4980925" y="3849727"/>
                </a:cubicBezTo>
                <a:lnTo>
                  <a:pt x="107754" y="3849727"/>
                </a:lnTo>
                <a:cubicBezTo>
                  <a:pt x="48243" y="3849727"/>
                  <a:pt x="0" y="3801484"/>
                  <a:pt x="0" y="3741973"/>
                </a:cubicBezTo>
                <a:lnTo>
                  <a:pt x="0" y="107754"/>
                </a:lnTo>
                <a:cubicBezTo>
                  <a:pt x="0" y="48283"/>
                  <a:pt x="48283" y="0"/>
                  <a:pt x="107754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1"/>
          </a:gradFill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8613" y="1479560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22445" y="22445"/>
                </a:moveTo>
                <a:cubicBezTo>
                  <a:pt x="22445" y="16237"/>
                  <a:pt x="17430" y="11222"/>
                  <a:pt x="11222" y="11222"/>
                </a:cubicBezTo>
                <a:cubicBezTo>
                  <a:pt x="5015" y="11222"/>
                  <a:pt x="0" y="16237"/>
                  <a:pt x="0" y="22445"/>
                </a:cubicBezTo>
                <a:lnTo>
                  <a:pt x="0" y="140280"/>
                </a:lnTo>
                <a:cubicBezTo>
                  <a:pt x="0" y="155781"/>
                  <a:pt x="12555" y="168336"/>
                  <a:pt x="28056" y="168336"/>
                </a:cubicBezTo>
                <a:lnTo>
                  <a:pt x="168336" y="168336"/>
                </a:lnTo>
                <a:cubicBezTo>
                  <a:pt x="174543" y="168336"/>
                  <a:pt x="179558" y="163321"/>
                  <a:pt x="179558" y="157113"/>
                </a:cubicBezTo>
                <a:cubicBezTo>
                  <a:pt x="179558" y="150906"/>
                  <a:pt x="174543" y="145891"/>
                  <a:pt x="168336" y="145891"/>
                </a:cubicBezTo>
                <a:lnTo>
                  <a:pt x="28056" y="145891"/>
                </a:lnTo>
                <a:cubicBezTo>
                  <a:pt x="24970" y="145891"/>
                  <a:pt x="22445" y="143366"/>
                  <a:pt x="22445" y="140280"/>
                </a:cubicBezTo>
                <a:lnTo>
                  <a:pt x="22445" y="22445"/>
                </a:lnTo>
                <a:close/>
                <a:moveTo>
                  <a:pt x="165039" y="52815"/>
                </a:moveTo>
                <a:cubicBezTo>
                  <a:pt x="169423" y="48432"/>
                  <a:pt x="169423" y="41312"/>
                  <a:pt x="165039" y="36929"/>
                </a:cubicBezTo>
                <a:cubicBezTo>
                  <a:pt x="160655" y="32545"/>
                  <a:pt x="153536" y="32545"/>
                  <a:pt x="149153" y="36929"/>
                </a:cubicBezTo>
                <a:lnTo>
                  <a:pt x="112224" y="73892"/>
                </a:lnTo>
                <a:lnTo>
                  <a:pt x="92094" y="53797"/>
                </a:lnTo>
                <a:cubicBezTo>
                  <a:pt x="87710" y="49414"/>
                  <a:pt x="80591" y="49414"/>
                  <a:pt x="76207" y="53797"/>
                </a:cubicBezTo>
                <a:lnTo>
                  <a:pt x="42540" y="87464"/>
                </a:lnTo>
                <a:cubicBezTo>
                  <a:pt x="38156" y="91848"/>
                  <a:pt x="38156" y="98967"/>
                  <a:pt x="42540" y="103351"/>
                </a:cubicBezTo>
                <a:cubicBezTo>
                  <a:pt x="46924" y="107735"/>
                  <a:pt x="54043" y="107735"/>
                  <a:pt x="58427" y="103351"/>
                </a:cubicBezTo>
                <a:lnTo>
                  <a:pt x="84168" y="77610"/>
                </a:lnTo>
                <a:lnTo>
                  <a:pt x="104298" y="97740"/>
                </a:lnTo>
                <a:cubicBezTo>
                  <a:pt x="108682" y="102124"/>
                  <a:pt x="115801" y="102124"/>
                  <a:pt x="120185" y="97740"/>
                </a:cubicBezTo>
                <a:lnTo>
                  <a:pt x="165074" y="5285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7110616" y="1443648"/>
            <a:ext cx="4659535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Impact in Numbers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86168" y="1802765"/>
            <a:ext cx="4794203" cy="718233"/>
          </a:xfrm>
          <a:custGeom>
            <a:avLst/>
            <a:gdLst/>
            <a:ahLst/>
            <a:cxnLst/>
            <a:rect l="l" t="t" r="r" b="b"/>
            <a:pathLst>
              <a:path w="4794203" h="718233">
                <a:moveTo>
                  <a:pt x="71823" y="0"/>
                </a:moveTo>
                <a:lnTo>
                  <a:pt x="4722380" y="0"/>
                </a:lnTo>
                <a:cubicBezTo>
                  <a:pt x="4762047" y="0"/>
                  <a:pt x="4794203" y="32156"/>
                  <a:pt x="4794203" y="71823"/>
                </a:cubicBezTo>
                <a:lnTo>
                  <a:pt x="4794203" y="646409"/>
                </a:lnTo>
                <a:cubicBezTo>
                  <a:pt x="4794203" y="686076"/>
                  <a:pt x="4762047" y="718233"/>
                  <a:pt x="4722380" y="718233"/>
                </a:cubicBezTo>
                <a:lnTo>
                  <a:pt x="71823" y="718233"/>
                </a:lnTo>
                <a:cubicBezTo>
                  <a:pt x="32156" y="718233"/>
                  <a:pt x="0" y="686076"/>
                  <a:pt x="0" y="646409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6993903" y="1946298"/>
            <a:ext cx="188536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Delays from Traffic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813891" y="1910499"/>
            <a:ext cx="870857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10,387+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3903" y="2233591"/>
            <a:ext cx="464157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EMS delays attributed to congestion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86168" y="2628619"/>
            <a:ext cx="4794203" cy="718233"/>
          </a:xfrm>
          <a:custGeom>
            <a:avLst/>
            <a:gdLst/>
            <a:ahLst/>
            <a:cxnLst/>
            <a:rect l="l" t="t" r="r" b="b"/>
            <a:pathLst>
              <a:path w="4794203" h="718233">
                <a:moveTo>
                  <a:pt x="71823" y="0"/>
                </a:moveTo>
                <a:lnTo>
                  <a:pt x="4722380" y="0"/>
                </a:lnTo>
                <a:cubicBezTo>
                  <a:pt x="4762047" y="0"/>
                  <a:pt x="4794203" y="32156"/>
                  <a:pt x="4794203" y="71823"/>
                </a:cubicBezTo>
                <a:lnTo>
                  <a:pt x="4794203" y="646409"/>
                </a:lnTo>
                <a:cubicBezTo>
                  <a:pt x="4794203" y="686076"/>
                  <a:pt x="4762047" y="718233"/>
                  <a:pt x="4722380" y="718233"/>
                </a:cubicBezTo>
                <a:lnTo>
                  <a:pt x="71823" y="718233"/>
                </a:lnTo>
                <a:cubicBezTo>
                  <a:pt x="32156" y="718233"/>
                  <a:pt x="0" y="686076"/>
                  <a:pt x="0" y="646409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6993903" y="2772154"/>
            <a:ext cx="1185084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Mortality Increase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149553" y="2736354"/>
            <a:ext cx="53867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93903" y="3059447"/>
            <a:ext cx="464157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death rate with ≥12 min response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86168" y="3454475"/>
            <a:ext cx="4794203" cy="718233"/>
          </a:xfrm>
          <a:custGeom>
            <a:avLst/>
            <a:gdLst/>
            <a:ahLst/>
            <a:cxnLst/>
            <a:rect l="l" t="t" r="r" b="b"/>
            <a:pathLst>
              <a:path w="4794203" h="718233">
                <a:moveTo>
                  <a:pt x="71823" y="0"/>
                </a:moveTo>
                <a:lnTo>
                  <a:pt x="4722380" y="0"/>
                </a:lnTo>
                <a:cubicBezTo>
                  <a:pt x="4762047" y="0"/>
                  <a:pt x="4794203" y="32156"/>
                  <a:pt x="4794203" y="71823"/>
                </a:cubicBezTo>
                <a:lnTo>
                  <a:pt x="4794203" y="646409"/>
                </a:lnTo>
                <a:cubicBezTo>
                  <a:pt x="4794203" y="686076"/>
                  <a:pt x="4762047" y="718233"/>
                  <a:pt x="4722380" y="718233"/>
                </a:cubicBezTo>
                <a:lnTo>
                  <a:pt x="71823" y="718233"/>
                </a:lnTo>
                <a:cubicBezTo>
                  <a:pt x="32156" y="718233"/>
                  <a:pt x="0" y="686076"/>
                  <a:pt x="0" y="646409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6993903" y="3598010"/>
            <a:ext cx="146339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Fragmentation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48879" y="3562210"/>
            <a:ext cx="53867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93903" y="3885303"/>
            <a:ext cx="464157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cities report data silo challenges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886168" y="4280331"/>
            <a:ext cx="4794203" cy="718233"/>
          </a:xfrm>
          <a:custGeom>
            <a:avLst/>
            <a:gdLst/>
            <a:ahLst/>
            <a:cxnLst/>
            <a:rect l="l" t="t" r="r" b="b"/>
            <a:pathLst>
              <a:path w="4794203" h="718233">
                <a:moveTo>
                  <a:pt x="71823" y="0"/>
                </a:moveTo>
                <a:lnTo>
                  <a:pt x="4722380" y="0"/>
                </a:lnTo>
                <a:cubicBezTo>
                  <a:pt x="4762047" y="0"/>
                  <a:pt x="4794203" y="32156"/>
                  <a:pt x="4794203" y="71823"/>
                </a:cubicBezTo>
                <a:lnTo>
                  <a:pt x="4794203" y="646409"/>
                </a:lnTo>
                <a:cubicBezTo>
                  <a:pt x="4794203" y="686076"/>
                  <a:pt x="4762047" y="718233"/>
                  <a:pt x="4722380" y="718233"/>
                </a:cubicBezTo>
                <a:lnTo>
                  <a:pt x="71823" y="718233"/>
                </a:lnTo>
                <a:cubicBezTo>
                  <a:pt x="32156" y="718233"/>
                  <a:pt x="0" y="686076"/>
                  <a:pt x="0" y="646409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6993903" y="4423865"/>
            <a:ext cx="146339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Hazard Detection Rate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075597" y="4388066"/>
            <a:ext cx="610498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&lt;15%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93903" y="4711158"/>
            <a:ext cx="464157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road issues caught by current systems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738931" y="5260606"/>
            <a:ext cx="5088679" cy="1335913"/>
          </a:xfrm>
          <a:custGeom>
            <a:avLst/>
            <a:gdLst/>
            <a:ahLst/>
            <a:cxnLst/>
            <a:rect l="l" t="t" r="r" b="b"/>
            <a:pathLst>
              <a:path w="5088679" h="1335913">
                <a:moveTo>
                  <a:pt x="107741" y="0"/>
                </a:moveTo>
                <a:lnTo>
                  <a:pt x="4980937" y="0"/>
                </a:lnTo>
                <a:cubicBezTo>
                  <a:pt x="5040441" y="0"/>
                  <a:pt x="5088679" y="48237"/>
                  <a:pt x="5088679" y="107741"/>
                </a:cubicBezTo>
                <a:lnTo>
                  <a:pt x="5088679" y="1228171"/>
                </a:lnTo>
                <a:cubicBezTo>
                  <a:pt x="5088679" y="1287675"/>
                  <a:pt x="5040441" y="1335913"/>
                  <a:pt x="4980937" y="1335913"/>
                </a:cubicBezTo>
                <a:lnTo>
                  <a:pt x="107741" y="1335913"/>
                </a:lnTo>
                <a:cubicBezTo>
                  <a:pt x="48237" y="1335913"/>
                  <a:pt x="0" y="1287675"/>
                  <a:pt x="0" y="1228171"/>
                </a:cubicBezTo>
                <a:lnTo>
                  <a:pt x="0" y="107741"/>
                </a:lnTo>
                <a:cubicBezTo>
                  <a:pt x="0" y="48277"/>
                  <a:pt x="48277" y="0"/>
                  <a:pt x="107741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>
                  <a:alpha val="20000"/>
                </a:srgbClr>
              </a:gs>
              <a:gs pos="100000">
                <a:srgbClr val="F59E0B">
                  <a:alpha val="20000"/>
                </a:srgbClr>
              </a:gs>
            </a:gsLst>
            <a:lin ang="2700000" scaled="1"/>
          </a:gradFill>
          <a:ln w="1016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26569" y="5425800"/>
            <a:ext cx="188536" cy="215470"/>
          </a:xfrm>
          <a:custGeom>
            <a:avLst/>
            <a:gdLst/>
            <a:ahLst/>
            <a:cxnLst/>
            <a:rect l="l" t="t" r="r" b="b"/>
            <a:pathLst>
              <a:path w="188536" h="215470">
                <a:moveTo>
                  <a:pt x="0" y="90901"/>
                </a:moveTo>
                <a:cubicBezTo>
                  <a:pt x="0" y="63000"/>
                  <a:pt x="22599" y="40401"/>
                  <a:pt x="50501" y="40401"/>
                </a:cubicBezTo>
                <a:lnTo>
                  <a:pt x="53867" y="40401"/>
                </a:lnTo>
                <a:cubicBezTo>
                  <a:pt x="61316" y="40401"/>
                  <a:pt x="67334" y="46419"/>
                  <a:pt x="67334" y="53867"/>
                </a:cubicBezTo>
                <a:cubicBezTo>
                  <a:pt x="67334" y="61316"/>
                  <a:pt x="61316" y="67334"/>
                  <a:pt x="53867" y="67334"/>
                </a:cubicBezTo>
                <a:lnTo>
                  <a:pt x="50501" y="67334"/>
                </a:lnTo>
                <a:cubicBezTo>
                  <a:pt x="37497" y="67334"/>
                  <a:pt x="26934" y="77897"/>
                  <a:pt x="26934" y="90901"/>
                </a:cubicBezTo>
                <a:lnTo>
                  <a:pt x="26934" y="94268"/>
                </a:lnTo>
                <a:lnTo>
                  <a:pt x="53867" y="94268"/>
                </a:lnTo>
                <a:cubicBezTo>
                  <a:pt x="68723" y="94268"/>
                  <a:pt x="80801" y="106346"/>
                  <a:pt x="80801" y="121202"/>
                </a:cubicBezTo>
                <a:lnTo>
                  <a:pt x="80801" y="148135"/>
                </a:lnTo>
                <a:cubicBezTo>
                  <a:pt x="80801" y="162991"/>
                  <a:pt x="68723" y="175069"/>
                  <a:pt x="53867" y="175069"/>
                </a:cubicBezTo>
                <a:lnTo>
                  <a:pt x="26934" y="175069"/>
                </a:lnTo>
                <a:cubicBezTo>
                  <a:pt x="12078" y="175069"/>
                  <a:pt x="0" y="162991"/>
                  <a:pt x="0" y="148135"/>
                </a:cubicBezTo>
                <a:lnTo>
                  <a:pt x="0" y="90901"/>
                </a:lnTo>
                <a:close/>
                <a:moveTo>
                  <a:pt x="107735" y="90901"/>
                </a:moveTo>
                <a:cubicBezTo>
                  <a:pt x="107735" y="63000"/>
                  <a:pt x="130334" y="40401"/>
                  <a:pt x="158236" y="40401"/>
                </a:cubicBezTo>
                <a:lnTo>
                  <a:pt x="161602" y="40401"/>
                </a:lnTo>
                <a:cubicBezTo>
                  <a:pt x="169051" y="40401"/>
                  <a:pt x="175069" y="46419"/>
                  <a:pt x="175069" y="53867"/>
                </a:cubicBezTo>
                <a:cubicBezTo>
                  <a:pt x="175069" y="61316"/>
                  <a:pt x="169051" y="67334"/>
                  <a:pt x="161602" y="67334"/>
                </a:cubicBezTo>
                <a:lnTo>
                  <a:pt x="158236" y="67334"/>
                </a:lnTo>
                <a:cubicBezTo>
                  <a:pt x="145232" y="67334"/>
                  <a:pt x="134669" y="77897"/>
                  <a:pt x="134669" y="90901"/>
                </a:cubicBezTo>
                <a:lnTo>
                  <a:pt x="134669" y="94268"/>
                </a:lnTo>
                <a:lnTo>
                  <a:pt x="161602" y="94268"/>
                </a:lnTo>
                <a:cubicBezTo>
                  <a:pt x="176458" y="94268"/>
                  <a:pt x="188536" y="106346"/>
                  <a:pt x="188536" y="121202"/>
                </a:cubicBezTo>
                <a:lnTo>
                  <a:pt x="188536" y="148135"/>
                </a:lnTo>
                <a:cubicBezTo>
                  <a:pt x="188536" y="162991"/>
                  <a:pt x="176458" y="175069"/>
                  <a:pt x="161602" y="175069"/>
                </a:cubicBezTo>
                <a:lnTo>
                  <a:pt x="134669" y="175069"/>
                </a:lnTo>
                <a:cubicBezTo>
                  <a:pt x="119813" y="175069"/>
                  <a:pt x="107735" y="162991"/>
                  <a:pt x="107735" y="148135"/>
                </a:cubicBezTo>
                <a:lnTo>
                  <a:pt x="107735" y="90901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0" name="Text 48"/>
          <p:cNvSpPr/>
          <p:nvPr/>
        </p:nvSpPr>
        <p:spPr>
          <a:xfrm>
            <a:off x="7263240" y="5407844"/>
            <a:ext cx="87085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Reality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86168" y="5731049"/>
            <a:ext cx="4866027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"Our emergency response systems are stuck in the 20th century while our cities face 21st-century challenges."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23323" y="6269723"/>
            <a:ext cx="485704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Urban Planning Expert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d334e2a6b50e5d7e209c70c6e125a81f813ee8b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60" r="16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AI-Driven Intelligence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Shape 4"/>
          <p:cNvSpPr/>
          <p:nvPr/>
        </p:nvSpPr>
        <p:spPr>
          <a:xfrm>
            <a:off x="384810" y="1375410"/>
            <a:ext cx="11418570" cy="1503045"/>
          </a:xfrm>
          <a:custGeom>
            <a:avLst/>
            <a:gdLst/>
            <a:ahLst/>
            <a:cxnLst/>
            <a:rect l="l" t="t" r="r" b="b"/>
            <a:pathLst>
              <a:path w="11418570" h="1503045">
                <a:moveTo>
                  <a:pt x="152394" y="0"/>
                </a:moveTo>
                <a:lnTo>
                  <a:pt x="11266176" y="0"/>
                </a:lnTo>
                <a:cubicBezTo>
                  <a:pt x="11350341" y="0"/>
                  <a:pt x="11418570" y="68229"/>
                  <a:pt x="11418570" y="152394"/>
                </a:cubicBezTo>
                <a:lnTo>
                  <a:pt x="11418570" y="1350651"/>
                </a:lnTo>
                <a:cubicBezTo>
                  <a:pt x="11418570" y="1434816"/>
                  <a:pt x="11350341" y="1503045"/>
                  <a:pt x="11266176" y="1503045"/>
                </a:cubicBezTo>
                <a:lnTo>
                  <a:pt x="152394" y="1503045"/>
                </a:lnTo>
                <a:cubicBezTo>
                  <a:pt x="68285" y="1503045"/>
                  <a:pt x="0" y="1434760"/>
                  <a:pt x="0" y="135065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7220" y="174593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9" name="Shape 6"/>
          <p:cNvSpPr/>
          <p:nvPr/>
        </p:nvSpPr>
        <p:spPr>
          <a:xfrm>
            <a:off x="826770" y="195548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0367" y="37505"/>
                </a:moveTo>
                <a:cubicBezTo>
                  <a:pt x="80367" y="16810"/>
                  <a:pt x="97177" y="0"/>
                  <a:pt x="117872" y="0"/>
                </a:cubicBezTo>
                <a:lnTo>
                  <a:pt x="133945" y="0"/>
                </a:lnTo>
                <a:cubicBezTo>
                  <a:pt x="145799" y="0"/>
                  <a:pt x="155377" y="9577"/>
                  <a:pt x="155377" y="21431"/>
                </a:cubicBezTo>
                <a:lnTo>
                  <a:pt x="155377" y="321469"/>
                </a:lnTo>
                <a:cubicBezTo>
                  <a:pt x="155377" y="333323"/>
                  <a:pt x="145799" y="342900"/>
                  <a:pt x="133945" y="342900"/>
                </a:cubicBezTo>
                <a:lnTo>
                  <a:pt x="112514" y="342900"/>
                </a:lnTo>
                <a:cubicBezTo>
                  <a:pt x="92556" y="342900"/>
                  <a:pt x="75746" y="329238"/>
                  <a:pt x="70991" y="310753"/>
                </a:cubicBezTo>
                <a:cubicBezTo>
                  <a:pt x="70522" y="310753"/>
                  <a:pt x="70120" y="310753"/>
                  <a:pt x="69652" y="310753"/>
                </a:cubicBezTo>
                <a:cubicBezTo>
                  <a:pt x="40050" y="310753"/>
                  <a:pt x="16073" y="286777"/>
                  <a:pt x="16073" y="257175"/>
                </a:cubicBezTo>
                <a:cubicBezTo>
                  <a:pt x="16073" y="245120"/>
                  <a:pt x="20092" y="234002"/>
                  <a:pt x="26789" y="225028"/>
                </a:cubicBezTo>
                <a:cubicBezTo>
                  <a:pt x="13796" y="215250"/>
                  <a:pt x="5358" y="199712"/>
                  <a:pt x="5358" y="182166"/>
                </a:cubicBezTo>
                <a:cubicBezTo>
                  <a:pt x="5358" y="161471"/>
                  <a:pt x="17145" y="143455"/>
                  <a:pt x="34290" y="134548"/>
                </a:cubicBezTo>
                <a:cubicBezTo>
                  <a:pt x="29535" y="126511"/>
                  <a:pt x="26789" y="117135"/>
                  <a:pt x="26789" y="107156"/>
                </a:cubicBezTo>
                <a:cubicBezTo>
                  <a:pt x="26789" y="77554"/>
                  <a:pt x="50765" y="53578"/>
                  <a:pt x="80367" y="53578"/>
                </a:cubicBezTo>
                <a:lnTo>
                  <a:pt x="80367" y="37505"/>
                </a:lnTo>
                <a:close/>
                <a:moveTo>
                  <a:pt x="262533" y="37505"/>
                </a:moveTo>
                <a:lnTo>
                  <a:pt x="262533" y="53578"/>
                </a:lnTo>
                <a:cubicBezTo>
                  <a:pt x="292135" y="53578"/>
                  <a:pt x="316111" y="77554"/>
                  <a:pt x="316111" y="107156"/>
                </a:cubicBezTo>
                <a:cubicBezTo>
                  <a:pt x="316111" y="117202"/>
                  <a:pt x="313365" y="126578"/>
                  <a:pt x="308610" y="134548"/>
                </a:cubicBezTo>
                <a:cubicBezTo>
                  <a:pt x="325822" y="143455"/>
                  <a:pt x="337542" y="161404"/>
                  <a:pt x="337542" y="182166"/>
                </a:cubicBezTo>
                <a:cubicBezTo>
                  <a:pt x="337542" y="199712"/>
                  <a:pt x="329104" y="215250"/>
                  <a:pt x="316111" y="225028"/>
                </a:cubicBezTo>
                <a:cubicBezTo>
                  <a:pt x="322808" y="234002"/>
                  <a:pt x="326827" y="245120"/>
                  <a:pt x="326827" y="257175"/>
                </a:cubicBezTo>
                <a:cubicBezTo>
                  <a:pt x="326827" y="286777"/>
                  <a:pt x="302850" y="310753"/>
                  <a:pt x="273248" y="310753"/>
                </a:cubicBezTo>
                <a:cubicBezTo>
                  <a:pt x="272780" y="310753"/>
                  <a:pt x="272378" y="310753"/>
                  <a:pt x="271909" y="310753"/>
                </a:cubicBezTo>
                <a:cubicBezTo>
                  <a:pt x="267154" y="329238"/>
                  <a:pt x="250344" y="342900"/>
                  <a:pt x="230386" y="342900"/>
                </a:cubicBezTo>
                <a:lnTo>
                  <a:pt x="208955" y="342900"/>
                </a:lnTo>
                <a:cubicBezTo>
                  <a:pt x="197101" y="342900"/>
                  <a:pt x="187523" y="333323"/>
                  <a:pt x="187523" y="321469"/>
                </a:cubicBezTo>
                <a:lnTo>
                  <a:pt x="187523" y="21431"/>
                </a:lnTo>
                <a:cubicBezTo>
                  <a:pt x="187523" y="9577"/>
                  <a:pt x="197101" y="0"/>
                  <a:pt x="208955" y="0"/>
                </a:cubicBezTo>
                <a:lnTo>
                  <a:pt x="225028" y="0"/>
                </a:lnTo>
                <a:cubicBezTo>
                  <a:pt x="245723" y="0"/>
                  <a:pt x="262533" y="16810"/>
                  <a:pt x="262533" y="375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607820" y="1607820"/>
            <a:ext cx="10106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UrbanPulse AI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07820" y="2026920"/>
            <a:ext cx="10058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multi-agent platform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transforms cities from reactive to predictive, from fragmented to coordinated, from chaotic to intelligent.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4810" y="3038476"/>
            <a:ext cx="2731770" cy="2598420"/>
          </a:xfrm>
          <a:custGeom>
            <a:avLst/>
            <a:gdLst/>
            <a:ahLst/>
            <a:cxnLst/>
            <a:rect l="l" t="t" r="r" b="b"/>
            <a:pathLst>
              <a:path w="2731770" h="2598420">
                <a:moveTo>
                  <a:pt x="114304" y="0"/>
                </a:moveTo>
                <a:lnTo>
                  <a:pt x="2617466" y="0"/>
                </a:lnTo>
                <a:cubicBezTo>
                  <a:pt x="2680594" y="0"/>
                  <a:pt x="2731770" y="51176"/>
                  <a:pt x="2731770" y="114304"/>
                </a:cubicBezTo>
                <a:lnTo>
                  <a:pt x="2731770" y="2484116"/>
                </a:lnTo>
                <a:cubicBezTo>
                  <a:pt x="2731770" y="2547244"/>
                  <a:pt x="2680594" y="2598420"/>
                  <a:pt x="2617466" y="2598420"/>
                </a:cubicBezTo>
                <a:lnTo>
                  <a:pt x="114304" y="2598420"/>
                </a:lnTo>
                <a:cubicBezTo>
                  <a:pt x="51176" y="2598420"/>
                  <a:pt x="0" y="2547244"/>
                  <a:pt x="0" y="248411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1020" y="319468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64845" y="334708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Text 12"/>
          <p:cNvSpPr/>
          <p:nvPr/>
        </p:nvSpPr>
        <p:spPr>
          <a:xfrm>
            <a:off x="541020" y="3842386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Specialized AI Agents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1020" y="4185286"/>
            <a:ext cx="2495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intelligent agents for traffic, safety, cleanliness, and emergency—each optimized for specific urban challenges.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60070" y="531876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8" name="Text 15"/>
          <p:cNvSpPr/>
          <p:nvPr/>
        </p:nvSpPr>
        <p:spPr>
          <a:xfrm>
            <a:off x="783908" y="5290186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Specialized Agents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280410" y="3038476"/>
            <a:ext cx="2731770" cy="2598420"/>
          </a:xfrm>
          <a:custGeom>
            <a:avLst/>
            <a:gdLst/>
            <a:ahLst/>
            <a:cxnLst/>
            <a:rect l="l" t="t" r="r" b="b"/>
            <a:pathLst>
              <a:path w="2731770" h="2598420">
                <a:moveTo>
                  <a:pt x="114304" y="0"/>
                </a:moveTo>
                <a:lnTo>
                  <a:pt x="2617466" y="0"/>
                </a:lnTo>
                <a:cubicBezTo>
                  <a:pt x="2680594" y="0"/>
                  <a:pt x="2731770" y="51176"/>
                  <a:pt x="2731770" y="114304"/>
                </a:cubicBezTo>
                <a:lnTo>
                  <a:pt x="2731770" y="2484116"/>
                </a:lnTo>
                <a:cubicBezTo>
                  <a:pt x="2731770" y="2547244"/>
                  <a:pt x="2680594" y="2598420"/>
                  <a:pt x="2617466" y="2598420"/>
                </a:cubicBezTo>
                <a:lnTo>
                  <a:pt x="114304" y="2598420"/>
                </a:lnTo>
                <a:cubicBezTo>
                  <a:pt x="51176" y="2598420"/>
                  <a:pt x="0" y="2547244"/>
                  <a:pt x="0" y="248411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36620" y="319468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603308" y="334708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3436620" y="3842386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436620" y="4185286"/>
            <a:ext cx="2495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Sub-second analysis of images, video feeds, and sensor data. Instant alerts and automated responses.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455670" y="531876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3679508" y="5290186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&lt;500ms Response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76010" y="3038476"/>
            <a:ext cx="2731770" cy="2598420"/>
          </a:xfrm>
          <a:custGeom>
            <a:avLst/>
            <a:gdLst/>
            <a:ahLst/>
            <a:cxnLst/>
            <a:rect l="l" t="t" r="r" b="b"/>
            <a:pathLst>
              <a:path w="2731770" h="2598420">
                <a:moveTo>
                  <a:pt x="114304" y="0"/>
                </a:moveTo>
                <a:lnTo>
                  <a:pt x="2617466" y="0"/>
                </a:lnTo>
                <a:cubicBezTo>
                  <a:pt x="2680594" y="0"/>
                  <a:pt x="2731770" y="51176"/>
                  <a:pt x="2731770" y="114304"/>
                </a:cubicBezTo>
                <a:lnTo>
                  <a:pt x="2731770" y="2484116"/>
                </a:lnTo>
                <a:cubicBezTo>
                  <a:pt x="2731770" y="2547244"/>
                  <a:pt x="2680594" y="2598420"/>
                  <a:pt x="2617466" y="2598420"/>
                </a:cubicBezTo>
                <a:lnTo>
                  <a:pt x="114304" y="2598420"/>
                </a:lnTo>
                <a:cubicBezTo>
                  <a:pt x="51176" y="2598420"/>
                  <a:pt x="0" y="2547244"/>
                  <a:pt x="0" y="248411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32220" y="319468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2D3EE">
              <a:alpha val="2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456045" y="334708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9" name="Text 26"/>
          <p:cNvSpPr/>
          <p:nvPr/>
        </p:nvSpPr>
        <p:spPr>
          <a:xfrm>
            <a:off x="6332220" y="3842386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Dashboard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332220" y="4185286"/>
            <a:ext cx="2495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platform for citizens, police, and administrators. Seamless role-based access and workflows.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51270" y="531876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2" name="Text 29"/>
          <p:cNvSpPr/>
          <p:nvPr/>
        </p:nvSpPr>
        <p:spPr>
          <a:xfrm>
            <a:off x="6575107" y="5290186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User Personas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071610" y="3038476"/>
            <a:ext cx="2731770" cy="2598420"/>
          </a:xfrm>
          <a:custGeom>
            <a:avLst/>
            <a:gdLst/>
            <a:ahLst/>
            <a:cxnLst/>
            <a:rect l="l" t="t" r="r" b="b"/>
            <a:pathLst>
              <a:path w="2731770" h="2598420">
                <a:moveTo>
                  <a:pt x="114304" y="0"/>
                </a:moveTo>
                <a:lnTo>
                  <a:pt x="2617466" y="0"/>
                </a:lnTo>
                <a:cubicBezTo>
                  <a:pt x="2680594" y="0"/>
                  <a:pt x="2731770" y="51176"/>
                  <a:pt x="2731770" y="114304"/>
                </a:cubicBezTo>
                <a:lnTo>
                  <a:pt x="2731770" y="2484116"/>
                </a:lnTo>
                <a:cubicBezTo>
                  <a:pt x="2731770" y="2547244"/>
                  <a:pt x="2680594" y="2598420"/>
                  <a:pt x="2617466" y="2598420"/>
                </a:cubicBezTo>
                <a:lnTo>
                  <a:pt x="114304" y="2598420"/>
                </a:lnTo>
                <a:cubicBezTo>
                  <a:pt x="51176" y="2598420"/>
                  <a:pt x="0" y="2547244"/>
                  <a:pt x="0" y="248411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27820" y="319468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9380220" y="334708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6" name="Text 33"/>
          <p:cNvSpPr/>
          <p:nvPr/>
        </p:nvSpPr>
        <p:spPr>
          <a:xfrm>
            <a:off x="9227820" y="3842386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Proactive Management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227820" y="4185286"/>
            <a:ext cx="2495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analytics identify issues before they become crises. From reactive firefighting to preventive care.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9246870" y="531876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9" name="Text 36"/>
          <p:cNvSpPr/>
          <p:nvPr/>
        </p:nvSpPr>
        <p:spPr>
          <a:xfrm>
            <a:off x="9470707" y="5290186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Analytics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384810" y="5796915"/>
            <a:ext cx="3703320" cy="769620"/>
          </a:xfrm>
          <a:custGeom>
            <a:avLst/>
            <a:gdLst/>
            <a:ahLst/>
            <a:cxnLst/>
            <a:rect l="l" t="t" r="r" b="b"/>
            <a:pathLst>
              <a:path w="3703320" h="769620">
                <a:moveTo>
                  <a:pt x="76200" y="0"/>
                </a:moveTo>
                <a:lnTo>
                  <a:pt x="3627120" y="0"/>
                </a:lnTo>
                <a:cubicBezTo>
                  <a:pt x="3669204" y="0"/>
                  <a:pt x="3703320" y="34116"/>
                  <a:pt x="3703320" y="76200"/>
                </a:cubicBezTo>
                <a:lnTo>
                  <a:pt x="3703320" y="693420"/>
                </a:lnTo>
                <a:cubicBezTo>
                  <a:pt x="3703320" y="735504"/>
                  <a:pt x="3669204" y="769620"/>
                  <a:pt x="362712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31482" y="5915025"/>
            <a:ext cx="3609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10x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469582" y="6257925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Detection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4245531" y="5796915"/>
            <a:ext cx="3703320" cy="769620"/>
          </a:xfrm>
          <a:custGeom>
            <a:avLst/>
            <a:gdLst/>
            <a:ahLst/>
            <a:cxnLst/>
            <a:rect l="l" t="t" r="r" b="b"/>
            <a:pathLst>
              <a:path w="3703320" h="769620">
                <a:moveTo>
                  <a:pt x="76200" y="0"/>
                </a:moveTo>
                <a:lnTo>
                  <a:pt x="3627120" y="0"/>
                </a:lnTo>
                <a:cubicBezTo>
                  <a:pt x="3669204" y="0"/>
                  <a:pt x="3703320" y="34116"/>
                  <a:pt x="3703320" y="76200"/>
                </a:cubicBezTo>
                <a:lnTo>
                  <a:pt x="3703320" y="693420"/>
                </a:lnTo>
                <a:cubicBezTo>
                  <a:pt x="3703320" y="735504"/>
                  <a:pt x="3669204" y="769620"/>
                  <a:pt x="362712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292203" y="5915025"/>
            <a:ext cx="3609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4330303" y="6257925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106371" y="5796915"/>
            <a:ext cx="3703320" cy="769620"/>
          </a:xfrm>
          <a:custGeom>
            <a:avLst/>
            <a:gdLst/>
            <a:ahLst/>
            <a:cxnLst/>
            <a:rect l="l" t="t" r="r" b="b"/>
            <a:pathLst>
              <a:path w="3703320" h="769620">
                <a:moveTo>
                  <a:pt x="76200" y="0"/>
                </a:moveTo>
                <a:lnTo>
                  <a:pt x="3627120" y="0"/>
                </a:lnTo>
                <a:cubicBezTo>
                  <a:pt x="3669204" y="0"/>
                  <a:pt x="3703320" y="34116"/>
                  <a:pt x="3703320" y="76200"/>
                </a:cubicBezTo>
                <a:lnTo>
                  <a:pt x="3703320" y="693420"/>
                </a:lnTo>
                <a:cubicBezTo>
                  <a:pt x="3703320" y="735504"/>
                  <a:pt x="3669204" y="769620"/>
                  <a:pt x="362712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153043" y="5915025"/>
            <a:ext cx="3609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191143" y="6257925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Personas, One Platform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375410"/>
            <a:ext cx="3703320" cy="4579620"/>
          </a:xfrm>
          <a:custGeom>
            <a:avLst/>
            <a:gdLst/>
            <a:ahLst/>
            <a:cxnLst/>
            <a:rect l="l" t="t" r="r" b="b"/>
            <a:pathLst>
              <a:path w="3703320" h="4579620">
                <a:moveTo>
                  <a:pt x="152392" y="0"/>
                </a:moveTo>
                <a:lnTo>
                  <a:pt x="3550928" y="0"/>
                </a:lnTo>
                <a:cubicBezTo>
                  <a:pt x="3635092" y="0"/>
                  <a:pt x="3703320" y="68228"/>
                  <a:pt x="3703320" y="152392"/>
                </a:cubicBezTo>
                <a:lnTo>
                  <a:pt x="3703320" y="4427228"/>
                </a:lnTo>
                <a:cubicBezTo>
                  <a:pt x="3703320" y="4511392"/>
                  <a:pt x="3635092" y="4579620"/>
                  <a:pt x="3550928" y="4579620"/>
                </a:cubicBezTo>
                <a:lnTo>
                  <a:pt x="152392" y="4579620"/>
                </a:lnTo>
                <a:cubicBezTo>
                  <a:pt x="68228" y="4579620"/>
                  <a:pt x="0" y="4511392"/>
                  <a:pt x="0" y="4427228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3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8B5CF6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20" y="15316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/>
              </a:gs>
              <a:gs pos="100000">
                <a:srgbClr val="A78BFA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679133" y="168402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32695" y="228600"/>
                </a:lnTo>
                <a:cubicBezTo>
                  <a:pt x="116532" y="209580"/>
                  <a:pt x="107156" y="185068"/>
                  <a:pt x="107156" y="159127"/>
                </a:cubicBezTo>
                <a:lnTo>
                  <a:pt x="107156" y="145241"/>
                </a:lnTo>
                <a:cubicBezTo>
                  <a:pt x="107156" y="141982"/>
                  <a:pt x="107603" y="138767"/>
                  <a:pt x="108451" y="135731"/>
                </a:cubicBezTo>
                <a:lnTo>
                  <a:pt x="86752" y="135731"/>
                </a:lnTo>
                <a:close/>
                <a:moveTo>
                  <a:pt x="198819" y="218108"/>
                </a:moveTo>
                <a:lnTo>
                  <a:pt x="192881" y="220920"/>
                </a:lnTo>
                <a:lnTo>
                  <a:pt x="192881" y="136937"/>
                </a:lnTo>
                <a:lnTo>
                  <a:pt x="235744" y="151224"/>
                </a:lnTo>
                <a:lnTo>
                  <a:pt x="235744" y="159975"/>
                </a:lnTo>
                <a:cubicBezTo>
                  <a:pt x="235744" y="184889"/>
                  <a:pt x="221367" y="207526"/>
                  <a:pt x="198819" y="218152"/>
                </a:cubicBezTo>
                <a:close/>
                <a:moveTo>
                  <a:pt x="188372" y="115863"/>
                </a:moveTo>
                <a:lnTo>
                  <a:pt x="138366" y="132517"/>
                </a:lnTo>
                <a:cubicBezTo>
                  <a:pt x="132517" y="134481"/>
                  <a:pt x="128588" y="139928"/>
                  <a:pt x="128588" y="146090"/>
                </a:cubicBezTo>
                <a:lnTo>
                  <a:pt x="128588" y="159975"/>
                </a:lnTo>
                <a:cubicBezTo>
                  <a:pt x="128588" y="193194"/>
                  <a:pt x="147786" y="223421"/>
                  <a:pt x="177790" y="237530"/>
                </a:cubicBezTo>
                <a:lnTo>
                  <a:pt x="186050" y="241414"/>
                </a:lnTo>
                <a:cubicBezTo>
                  <a:pt x="188193" y="242396"/>
                  <a:pt x="190515" y="242932"/>
                  <a:pt x="192837" y="242932"/>
                </a:cubicBezTo>
                <a:cubicBezTo>
                  <a:pt x="195158" y="242932"/>
                  <a:pt x="197525" y="242396"/>
                  <a:pt x="199623" y="241414"/>
                </a:cubicBezTo>
                <a:lnTo>
                  <a:pt x="207883" y="237530"/>
                </a:lnTo>
                <a:cubicBezTo>
                  <a:pt x="237976" y="223376"/>
                  <a:pt x="257175" y="193149"/>
                  <a:pt x="257175" y="159931"/>
                </a:cubicBezTo>
                <a:lnTo>
                  <a:pt x="257175" y="146045"/>
                </a:lnTo>
                <a:cubicBezTo>
                  <a:pt x="257175" y="139884"/>
                  <a:pt x="253246" y="134436"/>
                  <a:pt x="247397" y="132472"/>
                </a:cubicBezTo>
                <a:lnTo>
                  <a:pt x="197391" y="115818"/>
                </a:lnTo>
                <a:cubicBezTo>
                  <a:pt x="194444" y="114836"/>
                  <a:pt x="191274" y="114836"/>
                  <a:pt x="188372" y="1158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50670"/>
            <a:ext cx="1162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855352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78B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 Administrator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0070" y="2179320"/>
            <a:ext cx="3371850" cy="1066800"/>
          </a:xfrm>
          <a:custGeom>
            <a:avLst/>
            <a:gdLst/>
            <a:ahLst/>
            <a:cxnLst/>
            <a:rect l="l" t="t" r="r" b="b"/>
            <a:pathLst>
              <a:path w="3371850" h="1066800">
                <a:moveTo>
                  <a:pt x="38100" y="0"/>
                </a:moveTo>
                <a:lnTo>
                  <a:pt x="3295648" y="0"/>
                </a:lnTo>
                <a:cubicBezTo>
                  <a:pt x="3337733" y="0"/>
                  <a:pt x="3371850" y="34117"/>
                  <a:pt x="3371850" y="76202"/>
                </a:cubicBezTo>
                <a:lnTo>
                  <a:pt x="3371850" y="990598"/>
                </a:lnTo>
                <a:cubicBezTo>
                  <a:pt x="3371850" y="1032683"/>
                  <a:pt x="3337733" y="1066800"/>
                  <a:pt x="32956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560070" y="217932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12470" y="23317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29362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Civic Scores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3420" y="2560320"/>
            <a:ext cx="3190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scoring algorithms, set thresholds for credits and penalties, monitor citizen engagement metrics.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0070" y="3322320"/>
            <a:ext cx="3371850" cy="876300"/>
          </a:xfrm>
          <a:custGeom>
            <a:avLst/>
            <a:gdLst/>
            <a:ahLst/>
            <a:cxnLst/>
            <a:rect l="l" t="t" r="r" b="b"/>
            <a:pathLst>
              <a:path w="3371850" h="876300">
                <a:moveTo>
                  <a:pt x="38100" y="0"/>
                </a:moveTo>
                <a:lnTo>
                  <a:pt x="3295647" y="0"/>
                </a:lnTo>
                <a:cubicBezTo>
                  <a:pt x="3337733" y="0"/>
                  <a:pt x="3371850" y="34117"/>
                  <a:pt x="3371850" y="76203"/>
                </a:cubicBezTo>
                <a:lnTo>
                  <a:pt x="3371850" y="800097"/>
                </a:lnTo>
                <a:cubicBezTo>
                  <a:pt x="3371850" y="842183"/>
                  <a:pt x="3337733" y="876300"/>
                  <a:pt x="32956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560070" y="332232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93420" y="347472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43662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Configuration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3420" y="3703320"/>
            <a:ext cx="3190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and monitor AI agents, configure alert rules, manage user permissions and access levels.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0070" y="4274820"/>
            <a:ext cx="3371850" cy="876300"/>
          </a:xfrm>
          <a:custGeom>
            <a:avLst/>
            <a:gdLst/>
            <a:ahLst/>
            <a:cxnLst/>
            <a:rect l="l" t="t" r="r" b="b"/>
            <a:pathLst>
              <a:path w="3371850" h="876300">
                <a:moveTo>
                  <a:pt x="38100" y="0"/>
                </a:moveTo>
                <a:lnTo>
                  <a:pt x="3295647" y="0"/>
                </a:lnTo>
                <a:cubicBezTo>
                  <a:pt x="3337733" y="0"/>
                  <a:pt x="3371850" y="34117"/>
                  <a:pt x="3371850" y="76203"/>
                </a:cubicBezTo>
                <a:lnTo>
                  <a:pt x="3371850" y="800097"/>
                </a:lnTo>
                <a:cubicBezTo>
                  <a:pt x="3371850" y="842183"/>
                  <a:pt x="3337733" y="876300"/>
                  <a:pt x="32956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560070" y="427482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702945" y="442722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5250" y="0"/>
                </a:moveTo>
                <a:cubicBezTo>
                  <a:pt x="84743" y="0"/>
                  <a:pt x="76200" y="8543"/>
                  <a:pt x="76200" y="19050"/>
                </a:cubicBezTo>
                <a:lnTo>
                  <a:pt x="76200" y="28575"/>
                </a:lnTo>
                <a:lnTo>
                  <a:pt x="61912" y="28575"/>
                </a:lnTo>
                <a:lnTo>
                  <a:pt x="61912" y="7144"/>
                </a:lnTo>
                <a:cubicBezTo>
                  <a:pt x="61912" y="3185"/>
                  <a:pt x="58728" y="0"/>
                  <a:pt x="54769" y="0"/>
                </a:cubicBezTo>
                <a:cubicBezTo>
                  <a:pt x="50810" y="0"/>
                  <a:pt x="47625" y="3185"/>
                  <a:pt x="47625" y="7144"/>
                </a:cubicBezTo>
                <a:lnTo>
                  <a:pt x="47625" y="28575"/>
                </a:lnTo>
                <a:lnTo>
                  <a:pt x="28575" y="28575"/>
                </a:lnTo>
                <a:lnTo>
                  <a:pt x="28575" y="7144"/>
                </a:lnTo>
                <a:cubicBezTo>
                  <a:pt x="28575" y="3185"/>
                  <a:pt x="25390" y="0"/>
                  <a:pt x="21431" y="0"/>
                </a:cubicBezTo>
                <a:cubicBezTo>
                  <a:pt x="17472" y="0"/>
                  <a:pt x="14288" y="3185"/>
                  <a:pt x="14288" y="7144"/>
                </a:cubicBezTo>
                <a:lnTo>
                  <a:pt x="14288" y="29170"/>
                </a:lnTo>
                <a:cubicBezTo>
                  <a:pt x="6072" y="31284"/>
                  <a:pt x="0" y="38755"/>
                  <a:pt x="0" y="47625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152400" y="152400"/>
                </a:lnTo>
                <a:cubicBezTo>
                  <a:pt x="162907" y="152400"/>
                  <a:pt x="171450" y="143857"/>
                  <a:pt x="171450" y="133350"/>
                </a:cubicBezTo>
                <a:lnTo>
                  <a:pt x="171450" y="76200"/>
                </a:lnTo>
                <a:cubicBezTo>
                  <a:pt x="171450" y="65693"/>
                  <a:pt x="162907" y="57150"/>
                  <a:pt x="152400" y="57150"/>
                </a:cubicBezTo>
                <a:lnTo>
                  <a:pt x="133350" y="57150"/>
                </a:lnTo>
                <a:lnTo>
                  <a:pt x="133350" y="19050"/>
                </a:lnTo>
                <a:cubicBezTo>
                  <a:pt x="133350" y="8543"/>
                  <a:pt x="124807" y="0"/>
                  <a:pt x="114300" y="0"/>
                </a:cubicBezTo>
                <a:lnTo>
                  <a:pt x="95250" y="0"/>
                </a:lnTo>
                <a:close/>
                <a:moveTo>
                  <a:pt x="114300" y="33338"/>
                </a:moveTo>
                <a:lnTo>
                  <a:pt x="114300" y="42863"/>
                </a:lnTo>
                <a:cubicBezTo>
                  <a:pt x="114300" y="45482"/>
                  <a:pt x="112157" y="47625"/>
                  <a:pt x="109537" y="47625"/>
                </a:cubicBezTo>
                <a:lnTo>
                  <a:pt x="100013" y="47625"/>
                </a:lnTo>
                <a:cubicBezTo>
                  <a:pt x="97393" y="47625"/>
                  <a:pt x="95250" y="45482"/>
                  <a:pt x="95250" y="42863"/>
                </a:cubicBezTo>
                <a:lnTo>
                  <a:pt x="95250" y="33338"/>
                </a:lnTo>
                <a:cubicBezTo>
                  <a:pt x="95250" y="30718"/>
                  <a:pt x="97393" y="28575"/>
                  <a:pt x="100013" y="28575"/>
                </a:cubicBezTo>
                <a:lnTo>
                  <a:pt x="109537" y="28575"/>
                </a:lnTo>
                <a:cubicBezTo>
                  <a:pt x="112157" y="28575"/>
                  <a:pt x="114300" y="30718"/>
                  <a:pt x="114300" y="33338"/>
                </a:cubicBezTo>
                <a:close/>
                <a:moveTo>
                  <a:pt x="109537" y="57150"/>
                </a:moveTo>
                <a:cubicBezTo>
                  <a:pt x="112157" y="57150"/>
                  <a:pt x="114300" y="59293"/>
                  <a:pt x="114300" y="61912"/>
                </a:cubicBezTo>
                <a:lnTo>
                  <a:pt x="114300" y="71438"/>
                </a:lnTo>
                <a:cubicBezTo>
                  <a:pt x="114300" y="74057"/>
                  <a:pt x="112157" y="76200"/>
                  <a:pt x="109537" y="76200"/>
                </a:cubicBezTo>
                <a:lnTo>
                  <a:pt x="100013" y="76200"/>
                </a:lnTo>
                <a:cubicBezTo>
                  <a:pt x="97393" y="76200"/>
                  <a:pt x="95250" y="74057"/>
                  <a:pt x="95250" y="71438"/>
                </a:cubicBezTo>
                <a:lnTo>
                  <a:pt x="95250" y="61912"/>
                </a:lnTo>
                <a:cubicBezTo>
                  <a:pt x="95250" y="59293"/>
                  <a:pt x="97393" y="57150"/>
                  <a:pt x="100013" y="57150"/>
                </a:cubicBezTo>
                <a:lnTo>
                  <a:pt x="109537" y="57150"/>
                </a:lnTo>
                <a:close/>
                <a:moveTo>
                  <a:pt x="114300" y="90488"/>
                </a:moveTo>
                <a:lnTo>
                  <a:pt x="114300" y="100013"/>
                </a:lnTo>
                <a:cubicBezTo>
                  <a:pt x="114300" y="102632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2632"/>
                  <a:pt x="95250" y="100013"/>
                </a:cubicBezTo>
                <a:lnTo>
                  <a:pt x="95250" y="90488"/>
                </a:lnTo>
                <a:cubicBezTo>
                  <a:pt x="95250" y="87868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7868"/>
                  <a:pt x="114300" y="90488"/>
                </a:cubicBezTo>
                <a:close/>
                <a:moveTo>
                  <a:pt x="147638" y="85725"/>
                </a:moveTo>
                <a:cubicBezTo>
                  <a:pt x="150257" y="85725"/>
                  <a:pt x="152400" y="87868"/>
                  <a:pt x="152400" y="90488"/>
                </a:cubicBezTo>
                <a:lnTo>
                  <a:pt x="152400" y="100013"/>
                </a:lnTo>
                <a:cubicBezTo>
                  <a:pt x="152400" y="102632"/>
                  <a:pt x="150257" y="104775"/>
                  <a:pt x="147638" y="104775"/>
                </a:cubicBezTo>
                <a:lnTo>
                  <a:pt x="138113" y="104775"/>
                </a:lnTo>
                <a:cubicBezTo>
                  <a:pt x="135493" y="104775"/>
                  <a:pt x="133350" y="102632"/>
                  <a:pt x="133350" y="100013"/>
                </a:cubicBezTo>
                <a:lnTo>
                  <a:pt x="133350" y="90488"/>
                </a:lnTo>
                <a:cubicBezTo>
                  <a:pt x="133350" y="87868"/>
                  <a:pt x="135493" y="85725"/>
                  <a:pt x="138113" y="85725"/>
                </a:cubicBezTo>
                <a:lnTo>
                  <a:pt x="147638" y="85725"/>
                </a:lnTo>
                <a:close/>
                <a:moveTo>
                  <a:pt x="76200" y="90488"/>
                </a:moveTo>
                <a:lnTo>
                  <a:pt x="76200" y="100013"/>
                </a:lnTo>
                <a:cubicBezTo>
                  <a:pt x="76200" y="102632"/>
                  <a:pt x="74057" y="104775"/>
                  <a:pt x="71438" y="104775"/>
                </a:cubicBezTo>
                <a:lnTo>
                  <a:pt x="61912" y="104775"/>
                </a:lnTo>
                <a:cubicBezTo>
                  <a:pt x="59293" y="104775"/>
                  <a:pt x="57150" y="102632"/>
                  <a:pt x="57150" y="100013"/>
                </a:cubicBezTo>
                <a:lnTo>
                  <a:pt x="57150" y="90488"/>
                </a:lnTo>
                <a:cubicBezTo>
                  <a:pt x="57150" y="87868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7868"/>
                  <a:pt x="76200" y="90488"/>
                </a:cubicBezTo>
                <a:close/>
                <a:moveTo>
                  <a:pt x="71438" y="57150"/>
                </a:moveTo>
                <a:cubicBezTo>
                  <a:pt x="74057" y="57150"/>
                  <a:pt x="76200" y="59293"/>
                  <a:pt x="76200" y="61912"/>
                </a:cubicBezTo>
                <a:lnTo>
                  <a:pt x="76200" y="71438"/>
                </a:lnTo>
                <a:cubicBezTo>
                  <a:pt x="76200" y="74057"/>
                  <a:pt x="74057" y="76200"/>
                  <a:pt x="71438" y="76200"/>
                </a:cubicBezTo>
                <a:lnTo>
                  <a:pt x="61912" y="76200"/>
                </a:lnTo>
                <a:cubicBezTo>
                  <a:pt x="59293" y="76200"/>
                  <a:pt x="57150" y="74057"/>
                  <a:pt x="57150" y="71438"/>
                </a:cubicBezTo>
                <a:lnTo>
                  <a:pt x="57150" y="61912"/>
                </a:lnTo>
                <a:cubicBezTo>
                  <a:pt x="57150" y="59293"/>
                  <a:pt x="59293" y="57150"/>
                  <a:pt x="61912" y="57150"/>
                </a:cubicBezTo>
                <a:lnTo>
                  <a:pt x="71438" y="57150"/>
                </a:lnTo>
                <a:close/>
                <a:moveTo>
                  <a:pt x="38100" y="90488"/>
                </a:moveTo>
                <a:lnTo>
                  <a:pt x="38100" y="100013"/>
                </a:lnTo>
                <a:cubicBezTo>
                  <a:pt x="38100" y="102632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2632"/>
                  <a:pt x="19050" y="100013"/>
                </a:cubicBezTo>
                <a:lnTo>
                  <a:pt x="19050" y="90488"/>
                </a:lnTo>
                <a:cubicBezTo>
                  <a:pt x="19050" y="87868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7868"/>
                  <a:pt x="38100" y="90488"/>
                </a:cubicBezTo>
                <a:close/>
                <a:moveTo>
                  <a:pt x="33338" y="57150"/>
                </a:moveTo>
                <a:cubicBezTo>
                  <a:pt x="35957" y="57150"/>
                  <a:pt x="38100" y="59293"/>
                  <a:pt x="38100" y="61912"/>
                </a:cubicBezTo>
                <a:lnTo>
                  <a:pt x="38100" y="71438"/>
                </a:lnTo>
                <a:cubicBezTo>
                  <a:pt x="38100" y="74057"/>
                  <a:pt x="35957" y="76200"/>
                  <a:pt x="33338" y="76200"/>
                </a:cubicBezTo>
                <a:lnTo>
                  <a:pt x="23813" y="76200"/>
                </a:lnTo>
                <a:cubicBezTo>
                  <a:pt x="21193" y="76200"/>
                  <a:pt x="19050" y="74057"/>
                  <a:pt x="19050" y="71438"/>
                </a:cubicBezTo>
                <a:lnTo>
                  <a:pt x="19050" y="61912"/>
                </a:lnTo>
                <a:cubicBezTo>
                  <a:pt x="19050" y="59293"/>
                  <a:pt x="21193" y="57150"/>
                  <a:pt x="23813" y="57150"/>
                </a:cubicBezTo>
                <a:lnTo>
                  <a:pt x="33338" y="57150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38912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City-Wide Analytics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3420" y="4655820"/>
            <a:ext cx="3190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comprehensive dashboards, generate reports, track KPIs across all urban domains.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1020" y="5455920"/>
            <a:ext cx="3390900" cy="342900"/>
          </a:xfrm>
          <a:custGeom>
            <a:avLst/>
            <a:gdLst/>
            <a:ahLst/>
            <a:cxnLst/>
            <a:rect l="l" t="t" r="r" b="b"/>
            <a:pathLst>
              <a:path w="3390900" h="342900">
                <a:moveTo>
                  <a:pt x="76199" y="0"/>
                </a:moveTo>
                <a:lnTo>
                  <a:pt x="3314701" y="0"/>
                </a:lnTo>
                <a:cubicBezTo>
                  <a:pt x="3356784" y="0"/>
                  <a:pt x="3390900" y="34116"/>
                  <a:pt x="3390900" y="76199"/>
                </a:cubicBezTo>
                <a:lnTo>
                  <a:pt x="3390900" y="266701"/>
                </a:lnTo>
                <a:cubicBezTo>
                  <a:pt x="3390900" y="308784"/>
                  <a:pt x="3356784" y="342900"/>
                  <a:pt x="3314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83888" y="55549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7511" y="91678"/>
                </a:moveTo>
                <a:cubicBezTo>
                  <a:pt x="112827" y="91678"/>
                  <a:pt x="133350" y="71155"/>
                  <a:pt x="133350" y="45839"/>
                </a:cubicBezTo>
                <a:cubicBezTo>
                  <a:pt x="133350" y="20523"/>
                  <a:pt x="112827" y="0"/>
                  <a:pt x="87511" y="0"/>
                </a:cubicBezTo>
                <a:cubicBezTo>
                  <a:pt x="62195" y="0"/>
                  <a:pt x="41672" y="20523"/>
                  <a:pt x="41672" y="45839"/>
                </a:cubicBezTo>
                <a:cubicBezTo>
                  <a:pt x="41672" y="50709"/>
                  <a:pt x="42427" y="55424"/>
                  <a:pt x="43834" y="59825"/>
                </a:cubicBezTo>
                <a:lnTo>
                  <a:pt x="1823" y="101836"/>
                </a:lnTo>
                <a:cubicBezTo>
                  <a:pt x="651" y="103008"/>
                  <a:pt x="0" y="104596"/>
                  <a:pt x="0" y="106263"/>
                </a:cubicBezTo>
                <a:lnTo>
                  <a:pt x="0" y="127099"/>
                </a:lnTo>
                <a:cubicBezTo>
                  <a:pt x="0" y="130563"/>
                  <a:pt x="2787" y="133350"/>
                  <a:pt x="6251" y="133350"/>
                </a:cubicBezTo>
                <a:lnTo>
                  <a:pt x="27087" y="133350"/>
                </a:lnTo>
                <a:cubicBezTo>
                  <a:pt x="30551" y="133350"/>
                  <a:pt x="33337" y="130563"/>
                  <a:pt x="33337" y="127099"/>
                </a:cubicBezTo>
                <a:lnTo>
                  <a:pt x="33337" y="116681"/>
                </a:lnTo>
                <a:lnTo>
                  <a:pt x="43755" y="116681"/>
                </a:lnTo>
                <a:cubicBezTo>
                  <a:pt x="47219" y="116681"/>
                  <a:pt x="50006" y="113894"/>
                  <a:pt x="50006" y="110430"/>
                </a:cubicBezTo>
                <a:lnTo>
                  <a:pt x="50006" y="100013"/>
                </a:lnTo>
                <a:lnTo>
                  <a:pt x="60424" y="100013"/>
                </a:lnTo>
                <a:cubicBezTo>
                  <a:pt x="62091" y="100013"/>
                  <a:pt x="63680" y="99361"/>
                  <a:pt x="64852" y="98189"/>
                </a:cubicBezTo>
                <a:lnTo>
                  <a:pt x="73525" y="89516"/>
                </a:lnTo>
                <a:cubicBezTo>
                  <a:pt x="77926" y="90923"/>
                  <a:pt x="82641" y="91678"/>
                  <a:pt x="87511" y="91678"/>
                </a:cubicBezTo>
                <a:close/>
                <a:moveTo>
                  <a:pt x="97929" y="25003"/>
                </a:moveTo>
                <a:cubicBezTo>
                  <a:pt x="103679" y="25003"/>
                  <a:pt x="108347" y="29671"/>
                  <a:pt x="108347" y="35421"/>
                </a:cubicBezTo>
                <a:cubicBezTo>
                  <a:pt x="108347" y="41171"/>
                  <a:pt x="103679" y="45839"/>
                  <a:pt x="97929" y="45839"/>
                </a:cubicBezTo>
                <a:cubicBezTo>
                  <a:pt x="92179" y="45839"/>
                  <a:pt x="87511" y="41171"/>
                  <a:pt x="87511" y="35421"/>
                </a:cubicBezTo>
                <a:cubicBezTo>
                  <a:pt x="87511" y="29671"/>
                  <a:pt x="92179" y="25003"/>
                  <a:pt x="97929" y="25003"/>
                </a:cubicBezTo>
                <a:close/>
              </a:path>
            </a:pathLst>
          </a:cu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812483" y="5532120"/>
            <a:ext cx="3076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78B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System Access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45531" y="1375410"/>
            <a:ext cx="3703320" cy="4579620"/>
          </a:xfrm>
          <a:custGeom>
            <a:avLst/>
            <a:gdLst/>
            <a:ahLst/>
            <a:cxnLst/>
            <a:rect l="l" t="t" r="r" b="b"/>
            <a:pathLst>
              <a:path w="3703320" h="4579620">
                <a:moveTo>
                  <a:pt x="152392" y="0"/>
                </a:moveTo>
                <a:lnTo>
                  <a:pt x="3550928" y="0"/>
                </a:lnTo>
                <a:cubicBezTo>
                  <a:pt x="3635092" y="0"/>
                  <a:pt x="3703320" y="68228"/>
                  <a:pt x="3703320" y="152392"/>
                </a:cubicBezTo>
                <a:lnTo>
                  <a:pt x="3703320" y="4427228"/>
                </a:lnTo>
                <a:cubicBezTo>
                  <a:pt x="3703320" y="4511392"/>
                  <a:pt x="3635092" y="4579620"/>
                  <a:pt x="3550928" y="4579620"/>
                </a:cubicBezTo>
                <a:lnTo>
                  <a:pt x="152392" y="4579620"/>
                </a:lnTo>
                <a:cubicBezTo>
                  <a:pt x="68228" y="4579620"/>
                  <a:pt x="0" y="4511392"/>
                  <a:pt x="0" y="4427228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1741" y="15316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/>
              </a:gs>
              <a:gs pos="100000">
                <a:srgbClr val="22D3EE"/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4568428" y="16840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049441" y="1550670"/>
            <a:ext cx="885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Officer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49441" y="1855352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Police Officer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20791" y="2179320"/>
            <a:ext cx="3371850" cy="1066800"/>
          </a:xfrm>
          <a:custGeom>
            <a:avLst/>
            <a:gdLst/>
            <a:ahLst/>
            <a:cxnLst/>
            <a:rect l="l" t="t" r="r" b="b"/>
            <a:pathLst>
              <a:path w="3371850" h="1066800">
                <a:moveTo>
                  <a:pt x="38100" y="0"/>
                </a:moveTo>
                <a:lnTo>
                  <a:pt x="3295648" y="0"/>
                </a:lnTo>
                <a:cubicBezTo>
                  <a:pt x="3337733" y="0"/>
                  <a:pt x="3371850" y="34117"/>
                  <a:pt x="3371850" y="76202"/>
                </a:cubicBezTo>
                <a:lnTo>
                  <a:pt x="3371850" y="990598"/>
                </a:lnTo>
                <a:cubicBezTo>
                  <a:pt x="3371850" y="1032683"/>
                  <a:pt x="3337733" y="1066800"/>
                  <a:pt x="32956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4" name="Shape 32"/>
          <p:cNvSpPr/>
          <p:nvPr/>
        </p:nvSpPr>
        <p:spPr>
          <a:xfrm>
            <a:off x="4420791" y="217932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5" name="Shape 33"/>
          <p:cNvSpPr/>
          <p:nvPr/>
        </p:nvSpPr>
        <p:spPr>
          <a:xfrm>
            <a:off x="4563666" y="233172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28575"/>
                </a:moveTo>
                <a:cubicBezTo>
                  <a:pt x="28575" y="18068"/>
                  <a:pt x="37118" y="9525"/>
                  <a:pt x="47625" y="9525"/>
                </a:cubicBezTo>
                <a:lnTo>
                  <a:pt x="142875" y="9525"/>
                </a:lnTo>
                <a:cubicBezTo>
                  <a:pt x="153382" y="9525"/>
                  <a:pt x="161925" y="18068"/>
                  <a:pt x="161925" y="28575"/>
                </a:cubicBezTo>
                <a:lnTo>
                  <a:pt x="161925" y="104775"/>
                </a:lnTo>
                <a:cubicBezTo>
                  <a:pt x="161925" y="115282"/>
                  <a:pt x="153382" y="123825"/>
                  <a:pt x="142875" y="123825"/>
                </a:cubicBezTo>
                <a:lnTo>
                  <a:pt x="47625" y="123825"/>
                </a:lnTo>
                <a:cubicBezTo>
                  <a:pt x="37118" y="123825"/>
                  <a:pt x="28575" y="115282"/>
                  <a:pt x="28575" y="104775"/>
                </a:cubicBezTo>
                <a:lnTo>
                  <a:pt x="28575" y="28575"/>
                </a:lnTo>
                <a:close/>
                <a:moveTo>
                  <a:pt x="7144" y="38100"/>
                </a:moveTo>
                <a:cubicBezTo>
                  <a:pt x="11103" y="38100"/>
                  <a:pt x="14288" y="41285"/>
                  <a:pt x="14288" y="45244"/>
                </a:cubicBezTo>
                <a:lnTo>
                  <a:pt x="14288" y="133350"/>
                </a:lnTo>
                <a:cubicBezTo>
                  <a:pt x="14288" y="135969"/>
                  <a:pt x="16431" y="138113"/>
                  <a:pt x="19050" y="138113"/>
                </a:cubicBezTo>
                <a:lnTo>
                  <a:pt x="126206" y="138113"/>
                </a:lnTo>
                <a:cubicBezTo>
                  <a:pt x="130165" y="138113"/>
                  <a:pt x="133350" y="141297"/>
                  <a:pt x="133350" y="145256"/>
                </a:cubicBezTo>
                <a:cubicBezTo>
                  <a:pt x="133350" y="149215"/>
                  <a:pt x="130165" y="152400"/>
                  <a:pt x="126206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45244"/>
                </a:lnTo>
                <a:cubicBezTo>
                  <a:pt x="0" y="41285"/>
                  <a:pt x="3185" y="38100"/>
                  <a:pt x="7144" y="38100"/>
                </a:cubicBezTo>
                <a:close/>
                <a:moveTo>
                  <a:pt x="57150" y="47625"/>
                </a:moveTo>
                <a:cubicBezTo>
                  <a:pt x="62407" y="47625"/>
                  <a:pt x="66675" y="43357"/>
                  <a:pt x="66675" y="38100"/>
                </a:cubicBezTo>
                <a:cubicBezTo>
                  <a:pt x="66675" y="32843"/>
                  <a:pt x="62407" y="28575"/>
                  <a:pt x="57150" y="28575"/>
                </a:cubicBezTo>
                <a:cubicBezTo>
                  <a:pt x="51893" y="28575"/>
                  <a:pt x="47625" y="32843"/>
                  <a:pt x="47625" y="38100"/>
                </a:cubicBezTo>
                <a:cubicBezTo>
                  <a:pt x="47625" y="43357"/>
                  <a:pt x="51893" y="47625"/>
                  <a:pt x="57150" y="47625"/>
                </a:cubicBezTo>
                <a:close/>
                <a:moveTo>
                  <a:pt x="115639" y="51048"/>
                </a:moveTo>
                <a:cubicBezTo>
                  <a:pt x="114330" y="48935"/>
                  <a:pt x="112038" y="47625"/>
                  <a:pt x="109537" y="47625"/>
                </a:cubicBezTo>
                <a:cubicBezTo>
                  <a:pt x="107037" y="47625"/>
                  <a:pt x="104745" y="48935"/>
                  <a:pt x="103436" y="51048"/>
                </a:cubicBezTo>
                <a:lnTo>
                  <a:pt x="86678" y="78462"/>
                </a:lnTo>
                <a:lnTo>
                  <a:pt x="79385" y="69354"/>
                </a:lnTo>
                <a:cubicBezTo>
                  <a:pt x="78016" y="67657"/>
                  <a:pt x="75992" y="66675"/>
                  <a:pt x="73819" y="66675"/>
                </a:cubicBezTo>
                <a:cubicBezTo>
                  <a:pt x="71646" y="66675"/>
                  <a:pt x="69592" y="67657"/>
                  <a:pt x="68253" y="69354"/>
                </a:cubicBezTo>
                <a:lnTo>
                  <a:pt x="49203" y="93166"/>
                </a:lnTo>
                <a:cubicBezTo>
                  <a:pt x="47476" y="95310"/>
                  <a:pt x="47149" y="98256"/>
                  <a:pt x="48339" y="100727"/>
                </a:cubicBezTo>
                <a:cubicBezTo>
                  <a:pt x="49530" y="103197"/>
                  <a:pt x="52030" y="104775"/>
                  <a:pt x="54769" y="104775"/>
                </a:cubicBezTo>
                <a:lnTo>
                  <a:pt x="135731" y="104775"/>
                </a:lnTo>
                <a:cubicBezTo>
                  <a:pt x="138321" y="104775"/>
                  <a:pt x="140702" y="103376"/>
                  <a:pt x="141952" y="101114"/>
                </a:cubicBezTo>
                <a:cubicBezTo>
                  <a:pt x="143202" y="98852"/>
                  <a:pt x="143173" y="96113"/>
                  <a:pt x="141803" y="93881"/>
                </a:cubicBezTo>
                <a:lnTo>
                  <a:pt x="115610" y="51018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4820841" y="2293620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Reports &amp; Images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54141" y="2560320"/>
            <a:ext cx="3190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citizen-submitted reports with attached images, view geolocation data, assess incident severity.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20791" y="3322320"/>
            <a:ext cx="3371850" cy="1066800"/>
          </a:xfrm>
          <a:custGeom>
            <a:avLst/>
            <a:gdLst/>
            <a:ahLst/>
            <a:cxnLst/>
            <a:rect l="l" t="t" r="r" b="b"/>
            <a:pathLst>
              <a:path w="3371850" h="1066800">
                <a:moveTo>
                  <a:pt x="38100" y="0"/>
                </a:moveTo>
                <a:lnTo>
                  <a:pt x="3295648" y="0"/>
                </a:lnTo>
                <a:cubicBezTo>
                  <a:pt x="3337733" y="0"/>
                  <a:pt x="3371850" y="34117"/>
                  <a:pt x="3371850" y="76202"/>
                </a:cubicBezTo>
                <a:lnTo>
                  <a:pt x="3371850" y="990598"/>
                </a:lnTo>
                <a:cubicBezTo>
                  <a:pt x="3371850" y="1032683"/>
                  <a:pt x="3337733" y="1066800"/>
                  <a:pt x="32956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9" name="Shape 37"/>
          <p:cNvSpPr/>
          <p:nvPr/>
        </p:nvSpPr>
        <p:spPr>
          <a:xfrm>
            <a:off x="4420791" y="332232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3191" y="34747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0243" y="34945"/>
                </a:moveTo>
                <a:lnTo>
                  <a:pt x="32474" y="57150"/>
                </a:lnTo>
                <a:lnTo>
                  <a:pt x="119926" y="57150"/>
                </a:lnTo>
                <a:lnTo>
                  <a:pt x="112157" y="34945"/>
                </a:lnTo>
                <a:cubicBezTo>
                  <a:pt x="110817" y="31135"/>
                  <a:pt x="107216" y="28575"/>
                  <a:pt x="103168" y="28575"/>
                </a:cubicBezTo>
                <a:lnTo>
                  <a:pt x="49232" y="28575"/>
                </a:lnTo>
                <a:cubicBezTo>
                  <a:pt x="45184" y="28575"/>
                  <a:pt x="41583" y="31135"/>
                  <a:pt x="40243" y="34945"/>
                </a:cubicBezTo>
                <a:close/>
                <a:moveTo>
                  <a:pt x="11787" y="58579"/>
                </a:moveTo>
                <a:lnTo>
                  <a:pt x="22265" y="28664"/>
                </a:lnTo>
                <a:cubicBezTo>
                  <a:pt x="26283" y="17205"/>
                  <a:pt x="37088" y="9525"/>
                  <a:pt x="49232" y="9525"/>
                </a:cubicBezTo>
                <a:lnTo>
                  <a:pt x="103168" y="9525"/>
                </a:lnTo>
                <a:cubicBezTo>
                  <a:pt x="115312" y="9525"/>
                  <a:pt x="126117" y="17205"/>
                  <a:pt x="130135" y="28664"/>
                </a:cubicBezTo>
                <a:lnTo>
                  <a:pt x="140613" y="58579"/>
                </a:lnTo>
                <a:cubicBezTo>
                  <a:pt x="147518" y="61436"/>
                  <a:pt x="152400" y="68253"/>
                  <a:pt x="152400" y="762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33350" y="142875"/>
                </a:lnTo>
                <a:cubicBezTo>
                  <a:pt x="128081" y="142875"/>
                  <a:pt x="123825" y="138619"/>
                  <a:pt x="123825" y="133350"/>
                </a:cubicBezTo>
                <a:lnTo>
                  <a:pt x="123825" y="123825"/>
                </a:lnTo>
                <a:lnTo>
                  <a:pt x="28575" y="123825"/>
                </a:lnTo>
                <a:lnTo>
                  <a:pt x="28575" y="133350"/>
                </a:lnTo>
                <a:cubicBezTo>
                  <a:pt x="28575" y="138619"/>
                  <a:pt x="24319" y="142875"/>
                  <a:pt x="1905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76200"/>
                </a:lnTo>
                <a:cubicBezTo>
                  <a:pt x="0" y="68253"/>
                  <a:pt x="4882" y="61436"/>
                  <a:pt x="11787" y="58579"/>
                </a:cubicBezTo>
                <a:close/>
                <a:moveTo>
                  <a:pt x="38100" y="90488"/>
                </a:moveTo>
                <a:cubicBezTo>
                  <a:pt x="38100" y="85231"/>
                  <a:pt x="33832" y="80962"/>
                  <a:pt x="28575" y="80962"/>
                </a:cubicBezTo>
                <a:cubicBezTo>
                  <a:pt x="23318" y="80962"/>
                  <a:pt x="19050" y="85231"/>
                  <a:pt x="19050" y="90488"/>
                </a:cubicBezTo>
                <a:cubicBezTo>
                  <a:pt x="19050" y="95744"/>
                  <a:pt x="23318" y="100013"/>
                  <a:pt x="28575" y="100013"/>
                </a:cubicBezTo>
                <a:cubicBezTo>
                  <a:pt x="33832" y="100013"/>
                  <a:pt x="38100" y="95744"/>
                  <a:pt x="38100" y="90488"/>
                </a:cubicBezTo>
                <a:close/>
                <a:moveTo>
                  <a:pt x="123825" y="100013"/>
                </a:moveTo>
                <a:cubicBezTo>
                  <a:pt x="129082" y="100013"/>
                  <a:pt x="133350" y="95744"/>
                  <a:pt x="133350" y="90488"/>
                </a:cubicBezTo>
                <a:cubicBezTo>
                  <a:pt x="133350" y="85231"/>
                  <a:pt x="129082" y="80962"/>
                  <a:pt x="123825" y="80962"/>
                </a:cubicBezTo>
                <a:cubicBezTo>
                  <a:pt x="118568" y="80962"/>
                  <a:pt x="114300" y="85231"/>
                  <a:pt x="114300" y="90488"/>
                </a:cubicBezTo>
                <a:cubicBezTo>
                  <a:pt x="114300" y="95744"/>
                  <a:pt x="118568" y="100013"/>
                  <a:pt x="123825" y="10001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1" name="Text 39"/>
          <p:cNvSpPr/>
          <p:nvPr/>
        </p:nvSpPr>
        <p:spPr>
          <a:xfrm>
            <a:off x="4820841" y="3436620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Vehicle Forensics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54141" y="3703320"/>
            <a:ext cx="3190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extracts plate numbers, vehicle brand, and color automatically from submitted images for rapid identification.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20791" y="4465320"/>
            <a:ext cx="3371850" cy="876300"/>
          </a:xfrm>
          <a:custGeom>
            <a:avLst/>
            <a:gdLst/>
            <a:ahLst/>
            <a:cxnLst/>
            <a:rect l="l" t="t" r="r" b="b"/>
            <a:pathLst>
              <a:path w="3371850" h="876300">
                <a:moveTo>
                  <a:pt x="38100" y="0"/>
                </a:moveTo>
                <a:lnTo>
                  <a:pt x="3295647" y="0"/>
                </a:lnTo>
                <a:cubicBezTo>
                  <a:pt x="3337733" y="0"/>
                  <a:pt x="3371850" y="34117"/>
                  <a:pt x="3371850" y="76203"/>
                </a:cubicBezTo>
                <a:lnTo>
                  <a:pt x="3371850" y="800097"/>
                </a:lnTo>
                <a:cubicBezTo>
                  <a:pt x="3371850" y="842183"/>
                  <a:pt x="3337733" y="876300"/>
                  <a:pt x="32956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4" name="Shape 42"/>
          <p:cNvSpPr/>
          <p:nvPr/>
        </p:nvSpPr>
        <p:spPr>
          <a:xfrm>
            <a:off x="4420791" y="446532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5" name="Shape 43"/>
          <p:cNvSpPr/>
          <p:nvPr/>
        </p:nvSpPr>
        <p:spPr>
          <a:xfrm>
            <a:off x="4582716" y="46177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3194" y="-7709"/>
                </a:moveTo>
                <a:cubicBezTo>
                  <a:pt x="69205" y="-10150"/>
                  <a:pt x="64175" y="-10150"/>
                  <a:pt x="60186" y="-7709"/>
                </a:cubicBezTo>
                <a:cubicBezTo>
                  <a:pt x="52923" y="-3274"/>
                  <a:pt x="48429" y="-2084"/>
                  <a:pt x="39916" y="-2262"/>
                </a:cubicBezTo>
                <a:cubicBezTo>
                  <a:pt x="35243" y="-2381"/>
                  <a:pt x="30897" y="149"/>
                  <a:pt x="28635" y="4256"/>
                </a:cubicBezTo>
                <a:cubicBezTo>
                  <a:pt x="24557" y="11728"/>
                  <a:pt x="21253" y="15032"/>
                  <a:pt x="13781" y="19110"/>
                </a:cubicBezTo>
                <a:cubicBezTo>
                  <a:pt x="9674" y="21342"/>
                  <a:pt x="7174" y="25718"/>
                  <a:pt x="7263" y="30391"/>
                </a:cubicBezTo>
                <a:cubicBezTo>
                  <a:pt x="7471" y="38904"/>
                  <a:pt x="6251" y="43398"/>
                  <a:pt x="1816" y="50661"/>
                </a:cubicBezTo>
                <a:cubicBezTo>
                  <a:pt x="-625" y="54650"/>
                  <a:pt x="-625" y="59680"/>
                  <a:pt x="1816" y="63669"/>
                </a:cubicBezTo>
                <a:cubicBezTo>
                  <a:pt x="6251" y="70931"/>
                  <a:pt x="7441" y="75426"/>
                  <a:pt x="7263" y="83939"/>
                </a:cubicBezTo>
                <a:cubicBezTo>
                  <a:pt x="7144" y="88612"/>
                  <a:pt x="9674" y="92958"/>
                  <a:pt x="13781" y="95220"/>
                </a:cubicBezTo>
                <a:cubicBezTo>
                  <a:pt x="20360" y="98822"/>
                  <a:pt x="23693" y="101798"/>
                  <a:pt x="27206" y="107573"/>
                </a:cubicBezTo>
                <a:lnTo>
                  <a:pt x="12710" y="136475"/>
                </a:lnTo>
                <a:cubicBezTo>
                  <a:pt x="10954" y="140018"/>
                  <a:pt x="12383" y="144304"/>
                  <a:pt x="15895" y="146060"/>
                </a:cubicBezTo>
                <a:lnTo>
                  <a:pt x="41493" y="158859"/>
                </a:lnTo>
                <a:cubicBezTo>
                  <a:pt x="44916" y="160556"/>
                  <a:pt x="49084" y="159276"/>
                  <a:pt x="50929" y="155942"/>
                </a:cubicBezTo>
                <a:lnTo>
                  <a:pt x="66645" y="127635"/>
                </a:lnTo>
                <a:lnTo>
                  <a:pt x="82361" y="155942"/>
                </a:lnTo>
                <a:cubicBezTo>
                  <a:pt x="84207" y="159276"/>
                  <a:pt x="88374" y="160586"/>
                  <a:pt x="91797" y="158859"/>
                </a:cubicBezTo>
                <a:lnTo>
                  <a:pt x="117396" y="146060"/>
                </a:lnTo>
                <a:cubicBezTo>
                  <a:pt x="120938" y="144304"/>
                  <a:pt x="122366" y="140018"/>
                  <a:pt x="120581" y="136475"/>
                </a:cubicBezTo>
                <a:lnTo>
                  <a:pt x="106114" y="107543"/>
                </a:lnTo>
                <a:cubicBezTo>
                  <a:pt x="109597" y="101769"/>
                  <a:pt x="112961" y="98792"/>
                  <a:pt x="119539" y="95190"/>
                </a:cubicBezTo>
                <a:cubicBezTo>
                  <a:pt x="123646" y="92958"/>
                  <a:pt x="126147" y="88583"/>
                  <a:pt x="126057" y="83909"/>
                </a:cubicBezTo>
                <a:cubicBezTo>
                  <a:pt x="125849" y="75396"/>
                  <a:pt x="127069" y="70902"/>
                  <a:pt x="131505" y="63639"/>
                </a:cubicBezTo>
                <a:cubicBezTo>
                  <a:pt x="133945" y="59650"/>
                  <a:pt x="133945" y="54620"/>
                  <a:pt x="131505" y="50631"/>
                </a:cubicBezTo>
                <a:cubicBezTo>
                  <a:pt x="127069" y="43369"/>
                  <a:pt x="125879" y="38874"/>
                  <a:pt x="126057" y="30361"/>
                </a:cubicBezTo>
                <a:cubicBezTo>
                  <a:pt x="126176" y="25688"/>
                  <a:pt x="123646" y="21342"/>
                  <a:pt x="119539" y="19080"/>
                </a:cubicBezTo>
                <a:cubicBezTo>
                  <a:pt x="112068" y="15002"/>
                  <a:pt x="108764" y="11698"/>
                  <a:pt x="104686" y="4227"/>
                </a:cubicBezTo>
                <a:cubicBezTo>
                  <a:pt x="102453" y="119"/>
                  <a:pt x="98078" y="-2381"/>
                  <a:pt x="93405" y="-2292"/>
                </a:cubicBezTo>
                <a:cubicBezTo>
                  <a:pt x="84892" y="-2084"/>
                  <a:pt x="80397" y="-3304"/>
                  <a:pt x="73134" y="-7739"/>
                </a:cubicBezTo>
                <a:close/>
                <a:moveTo>
                  <a:pt x="66675" y="28575"/>
                </a:moveTo>
                <a:cubicBezTo>
                  <a:pt x="82446" y="28575"/>
                  <a:pt x="95250" y="41379"/>
                  <a:pt x="95250" y="57150"/>
                </a:cubicBezTo>
                <a:cubicBezTo>
                  <a:pt x="95250" y="72921"/>
                  <a:pt x="82446" y="85725"/>
                  <a:pt x="66675" y="85725"/>
                </a:cubicBezTo>
                <a:cubicBezTo>
                  <a:pt x="50904" y="85725"/>
                  <a:pt x="38100" y="72921"/>
                  <a:pt x="38100" y="57150"/>
                </a:cubicBezTo>
                <a:cubicBezTo>
                  <a:pt x="38100" y="41379"/>
                  <a:pt x="50904" y="28575"/>
                  <a:pt x="66675" y="2857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6" name="Text 44"/>
          <p:cNvSpPr/>
          <p:nvPr/>
        </p:nvSpPr>
        <p:spPr>
          <a:xfrm>
            <a:off x="4820841" y="4579620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Award Civic Credits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54141" y="4846320"/>
            <a:ext cx="3190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Manually validate reports and award credits to citizens, building community engagement and trust.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401741" y="5455920"/>
            <a:ext cx="3390900" cy="342900"/>
          </a:xfrm>
          <a:custGeom>
            <a:avLst/>
            <a:gdLst/>
            <a:ahLst/>
            <a:cxnLst/>
            <a:rect l="l" t="t" r="r" b="b"/>
            <a:pathLst>
              <a:path w="3390900" h="342900">
                <a:moveTo>
                  <a:pt x="76199" y="0"/>
                </a:moveTo>
                <a:lnTo>
                  <a:pt x="3314701" y="0"/>
                </a:lnTo>
                <a:cubicBezTo>
                  <a:pt x="3356784" y="0"/>
                  <a:pt x="3390900" y="34116"/>
                  <a:pt x="3390900" y="76199"/>
                </a:cubicBezTo>
                <a:lnTo>
                  <a:pt x="3390900" y="266701"/>
                </a:lnTo>
                <a:cubicBezTo>
                  <a:pt x="3390900" y="308784"/>
                  <a:pt x="3356784" y="342900"/>
                  <a:pt x="3314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452586" y="55549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0" name="Text 48"/>
          <p:cNvSpPr/>
          <p:nvPr/>
        </p:nvSpPr>
        <p:spPr>
          <a:xfrm>
            <a:off x="4673203" y="5532120"/>
            <a:ext cx="3076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Enforcement Tools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06371" y="1375410"/>
            <a:ext cx="3703320" cy="4579620"/>
          </a:xfrm>
          <a:custGeom>
            <a:avLst/>
            <a:gdLst/>
            <a:ahLst/>
            <a:cxnLst/>
            <a:rect l="l" t="t" r="r" b="b"/>
            <a:pathLst>
              <a:path w="3703320" h="4579620">
                <a:moveTo>
                  <a:pt x="152392" y="0"/>
                </a:moveTo>
                <a:lnTo>
                  <a:pt x="3550928" y="0"/>
                </a:lnTo>
                <a:cubicBezTo>
                  <a:pt x="3635092" y="0"/>
                  <a:pt x="3703320" y="68228"/>
                  <a:pt x="3703320" y="152392"/>
                </a:cubicBezTo>
                <a:lnTo>
                  <a:pt x="3703320" y="4427228"/>
                </a:lnTo>
                <a:cubicBezTo>
                  <a:pt x="3703320" y="4511392"/>
                  <a:pt x="3635092" y="4579620"/>
                  <a:pt x="3550928" y="4579620"/>
                </a:cubicBezTo>
                <a:lnTo>
                  <a:pt x="152392" y="4579620"/>
                </a:lnTo>
                <a:cubicBezTo>
                  <a:pt x="68228" y="4579620"/>
                  <a:pt x="0" y="4511392"/>
                  <a:pt x="0" y="4427228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62581" y="15316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60A5FA"/>
              </a:gs>
            </a:gsLst>
            <a:lin ang="2700000" scaled="1"/>
          </a:gradFill>
          <a:ln/>
        </p:spPr>
      </p:sp>
      <p:sp>
        <p:nvSpPr>
          <p:cNvPr id="53" name="Shape 51"/>
          <p:cNvSpPr/>
          <p:nvPr/>
        </p:nvSpPr>
        <p:spPr>
          <a:xfrm>
            <a:off x="8386406" y="168402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8910281" y="1550670"/>
            <a:ext cx="866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Citizen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910281" y="1855352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 Resident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81631" y="2179320"/>
            <a:ext cx="3371850" cy="876300"/>
          </a:xfrm>
          <a:custGeom>
            <a:avLst/>
            <a:gdLst/>
            <a:ahLst/>
            <a:cxnLst/>
            <a:rect l="l" t="t" r="r" b="b"/>
            <a:pathLst>
              <a:path w="3371850" h="876300">
                <a:moveTo>
                  <a:pt x="38100" y="0"/>
                </a:moveTo>
                <a:lnTo>
                  <a:pt x="3295647" y="0"/>
                </a:lnTo>
                <a:cubicBezTo>
                  <a:pt x="3337733" y="0"/>
                  <a:pt x="3371850" y="34117"/>
                  <a:pt x="3371850" y="76203"/>
                </a:cubicBezTo>
                <a:lnTo>
                  <a:pt x="3371850" y="800097"/>
                </a:lnTo>
                <a:cubicBezTo>
                  <a:pt x="3371850" y="842183"/>
                  <a:pt x="3337733" y="876300"/>
                  <a:pt x="32956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7" name="Shape 55"/>
          <p:cNvSpPr/>
          <p:nvPr/>
        </p:nvSpPr>
        <p:spPr>
          <a:xfrm>
            <a:off x="8281631" y="217932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8" name="Shape 56"/>
          <p:cNvSpPr/>
          <p:nvPr/>
        </p:nvSpPr>
        <p:spPr>
          <a:xfrm>
            <a:off x="8453081" y="233172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9" name="Text 57"/>
          <p:cNvSpPr/>
          <p:nvPr/>
        </p:nvSpPr>
        <p:spPr>
          <a:xfrm>
            <a:off x="8681681" y="229362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Issues via App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14981" y="2560320"/>
            <a:ext cx="3190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Snap photos of violations, accidents, or hazards. Submit with one tap. AI categorizes automatically.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81631" y="3131820"/>
            <a:ext cx="3371850" cy="876300"/>
          </a:xfrm>
          <a:custGeom>
            <a:avLst/>
            <a:gdLst/>
            <a:ahLst/>
            <a:cxnLst/>
            <a:rect l="l" t="t" r="r" b="b"/>
            <a:pathLst>
              <a:path w="3371850" h="876300">
                <a:moveTo>
                  <a:pt x="38100" y="0"/>
                </a:moveTo>
                <a:lnTo>
                  <a:pt x="3295647" y="0"/>
                </a:lnTo>
                <a:cubicBezTo>
                  <a:pt x="3337733" y="0"/>
                  <a:pt x="3371850" y="34117"/>
                  <a:pt x="3371850" y="76203"/>
                </a:cubicBezTo>
                <a:lnTo>
                  <a:pt x="3371850" y="800097"/>
                </a:lnTo>
                <a:cubicBezTo>
                  <a:pt x="3371850" y="842183"/>
                  <a:pt x="3337733" y="876300"/>
                  <a:pt x="32956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2" name="Shape 60"/>
          <p:cNvSpPr/>
          <p:nvPr/>
        </p:nvSpPr>
        <p:spPr>
          <a:xfrm>
            <a:off x="8281631" y="313182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3" name="Shape 61"/>
          <p:cNvSpPr/>
          <p:nvPr/>
        </p:nvSpPr>
        <p:spPr>
          <a:xfrm>
            <a:off x="8434031" y="32842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28575"/>
                </a:moveTo>
                <a:lnTo>
                  <a:pt x="38100" y="23813"/>
                </a:lnTo>
                <a:cubicBezTo>
                  <a:pt x="38100" y="10656"/>
                  <a:pt x="63698" y="0"/>
                  <a:pt x="95250" y="0"/>
                </a:cubicBezTo>
                <a:cubicBezTo>
                  <a:pt x="126802" y="0"/>
                  <a:pt x="152400" y="10656"/>
                  <a:pt x="152400" y="23813"/>
                </a:cubicBezTo>
                <a:lnTo>
                  <a:pt x="152400" y="28575"/>
                </a:lnTo>
                <a:cubicBezTo>
                  <a:pt x="152400" y="37683"/>
                  <a:pt x="140107" y="45601"/>
                  <a:pt x="122039" y="49619"/>
                </a:cubicBezTo>
                <a:cubicBezTo>
                  <a:pt x="121325" y="48786"/>
                  <a:pt x="120581" y="47982"/>
                  <a:pt x="119836" y="47238"/>
                </a:cubicBezTo>
                <a:cubicBezTo>
                  <a:pt x="115223" y="42684"/>
                  <a:pt x="109270" y="39231"/>
                  <a:pt x="103049" y="36671"/>
                </a:cubicBezTo>
                <a:cubicBezTo>
                  <a:pt x="90577" y="31462"/>
                  <a:pt x="74325" y="28605"/>
                  <a:pt x="57150" y="28605"/>
                </a:cubicBezTo>
                <a:cubicBezTo>
                  <a:pt x="50631" y="28605"/>
                  <a:pt x="44261" y="29021"/>
                  <a:pt x="38160" y="29825"/>
                </a:cubicBezTo>
                <a:cubicBezTo>
                  <a:pt x="38100" y="29438"/>
                  <a:pt x="38100" y="29021"/>
                  <a:pt x="38100" y="28605"/>
                </a:cubicBezTo>
                <a:close/>
                <a:moveTo>
                  <a:pt x="128588" y="105073"/>
                </a:moveTo>
                <a:lnTo>
                  <a:pt x="128588" y="91321"/>
                </a:lnTo>
                <a:cubicBezTo>
                  <a:pt x="133082" y="90160"/>
                  <a:pt x="137309" y="88791"/>
                  <a:pt x="141149" y="87184"/>
                </a:cubicBezTo>
                <a:cubicBezTo>
                  <a:pt x="145078" y="85546"/>
                  <a:pt x="148917" y="83552"/>
                  <a:pt x="152400" y="81141"/>
                </a:cubicBezTo>
                <a:lnTo>
                  <a:pt x="152400" y="85725"/>
                </a:lnTo>
                <a:cubicBezTo>
                  <a:pt x="152400" y="93702"/>
                  <a:pt x="143024" y="100757"/>
                  <a:pt x="128588" y="105073"/>
                </a:cubicBezTo>
                <a:close/>
                <a:moveTo>
                  <a:pt x="128588" y="76498"/>
                </a:moveTo>
                <a:lnTo>
                  <a:pt x="128588" y="66675"/>
                </a:lnTo>
                <a:cubicBezTo>
                  <a:pt x="128588" y="65336"/>
                  <a:pt x="128468" y="64056"/>
                  <a:pt x="128290" y="62805"/>
                </a:cubicBezTo>
                <a:cubicBezTo>
                  <a:pt x="132904" y="61645"/>
                  <a:pt x="137220" y="60246"/>
                  <a:pt x="141149" y="58579"/>
                </a:cubicBezTo>
                <a:cubicBezTo>
                  <a:pt x="145078" y="56912"/>
                  <a:pt x="148917" y="54947"/>
                  <a:pt x="152400" y="52536"/>
                </a:cubicBezTo>
                <a:lnTo>
                  <a:pt x="152400" y="57120"/>
                </a:lnTo>
                <a:cubicBezTo>
                  <a:pt x="152400" y="65097"/>
                  <a:pt x="143024" y="72152"/>
                  <a:pt x="128588" y="76468"/>
                </a:cubicBezTo>
                <a:close/>
                <a:moveTo>
                  <a:pt x="0" y="71438"/>
                </a:moveTo>
                <a:lnTo>
                  <a:pt x="0" y="66675"/>
                </a:lnTo>
                <a:cubicBezTo>
                  <a:pt x="0" y="53519"/>
                  <a:pt x="25598" y="42863"/>
                  <a:pt x="57150" y="42863"/>
                </a:cubicBezTo>
                <a:cubicBezTo>
                  <a:pt x="88702" y="42863"/>
                  <a:pt x="114300" y="53519"/>
                  <a:pt x="114300" y="66675"/>
                </a:cubicBezTo>
                <a:lnTo>
                  <a:pt x="114300" y="71438"/>
                </a:lnTo>
                <a:cubicBezTo>
                  <a:pt x="114300" y="84594"/>
                  <a:pt x="88702" y="95250"/>
                  <a:pt x="57150" y="95250"/>
                </a:cubicBezTo>
                <a:cubicBezTo>
                  <a:pt x="25598" y="95250"/>
                  <a:pt x="0" y="84594"/>
                  <a:pt x="0" y="71438"/>
                </a:cubicBezTo>
                <a:close/>
                <a:moveTo>
                  <a:pt x="114300" y="100013"/>
                </a:moveTo>
                <a:cubicBezTo>
                  <a:pt x="114300" y="113169"/>
                  <a:pt x="88702" y="123825"/>
                  <a:pt x="57150" y="123825"/>
                </a:cubicBezTo>
                <a:cubicBezTo>
                  <a:pt x="25598" y="123825"/>
                  <a:pt x="0" y="113169"/>
                  <a:pt x="0" y="100013"/>
                </a:cubicBezTo>
                <a:lnTo>
                  <a:pt x="0" y="95429"/>
                </a:lnTo>
                <a:cubicBezTo>
                  <a:pt x="3453" y="97840"/>
                  <a:pt x="7293" y="99804"/>
                  <a:pt x="11251" y="101471"/>
                </a:cubicBezTo>
                <a:cubicBezTo>
                  <a:pt x="23723" y="106680"/>
                  <a:pt x="39975" y="109538"/>
                  <a:pt x="57150" y="109538"/>
                </a:cubicBezTo>
                <a:cubicBezTo>
                  <a:pt x="74325" y="109538"/>
                  <a:pt x="90577" y="106650"/>
                  <a:pt x="103049" y="101471"/>
                </a:cubicBezTo>
                <a:cubicBezTo>
                  <a:pt x="106978" y="99834"/>
                  <a:pt x="110817" y="97840"/>
                  <a:pt x="114300" y="95429"/>
                </a:cubicBezTo>
                <a:lnTo>
                  <a:pt x="114300" y="100013"/>
                </a:lnTo>
                <a:close/>
                <a:moveTo>
                  <a:pt x="114300" y="124004"/>
                </a:moveTo>
                <a:lnTo>
                  <a:pt x="114300" y="128588"/>
                </a:lnTo>
                <a:cubicBezTo>
                  <a:pt x="114300" y="141744"/>
                  <a:pt x="88702" y="152400"/>
                  <a:pt x="57150" y="152400"/>
                </a:cubicBezTo>
                <a:cubicBezTo>
                  <a:pt x="25598" y="152400"/>
                  <a:pt x="0" y="141744"/>
                  <a:pt x="0" y="128588"/>
                </a:cubicBezTo>
                <a:lnTo>
                  <a:pt x="0" y="124004"/>
                </a:lnTo>
                <a:cubicBezTo>
                  <a:pt x="3453" y="126415"/>
                  <a:pt x="7293" y="128379"/>
                  <a:pt x="11251" y="130046"/>
                </a:cubicBezTo>
                <a:cubicBezTo>
                  <a:pt x="23723" y="135255"/>
                  <a:pt x="39975" y="138113"/>
                  <a:pt x="57150" y="138113"/>
                </a:cubicBezTo>
                <a:cubicBezTo>
                  <a:pt x="74325" y="138113"/>
                  <a:pt x="90577" y="135225"/>
                  <a:pt x="103049" y="130046"/>
                </a:cubicBezTo>
                <a:cubicBezTo>
                  <a:pt x="106978" y="128409"/>
                  <a:pt x="110817" y="126415"/>
                  <a:pt x="114300" y="12400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4" name="Text 62"/>
          <p:cNvSpPr/>
          <p:nvPr/>
        </p:nvSpPr>
        <p:spPr>
          <a:xfrm>
            <a:off x="8681681" y="324612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Earn Civic Credits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414981" y="3512820"/>
            <a:ext cx="3190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 credits for validated reports. Redeem for city services, tax incentives, or rewards.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81631" y="4084320"/>
            <a:ext cx="3371850" cy="876300"/>
          </a:xfrm>
          <a:custGeom>
            <a:avLst/>
            <a:gdLst/>
            <a:ahLst/>
            <a:cxnLst/>
            <a:rect l="l" t="t" r="r" b="b"/>
            <a:pathLst>
              <a:path w="3371850" h="876300">
                <a:moveTo>
                  <a:pt x="38100" y="0"/>
                </a:moveTo>
                <a:lnTo>
                  <a:pt x="3295647" y="0"/>
                </a:lnTo>
                <a:cubicBezTo>
                  <a:pt x="3337733" y="0"/>
                  <a:pt x="3371850" y="34117"/>
                  <a:pt x="3371850" y="76203"/>
                </a:cubicBezTo>
                <a:lnTo>
                  <a:pt x="3371850" y="800097"/>
                </a:lnTo>
                <a:cubicBezTo>
                  <a:pt x="3371850" y="842183"/>
                  <a:pt x="3337733" y="876300"/>
                  <a:pt x="32956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7" name="Shape 65"/>
          <p:cNvSpPr/>
          <p:nvPr/>
        </p:nvSpPr>
        <p:spPr>
          <a:xfrm>
            <a:off x="8281631" y="408432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8" name="Shape 66"/>
          <p:cNvSpPr/>
          <p:nvPr/>
        </p:nvSpPr>
        <p:spPr>
          <a:xfrm>
            <a:off x="8424506" y="423672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38100" y="19050"/>
                </a:moveTo>
                <a:cubicBezTo>
                  <a:pt x="38100" y="8543"/>
                  <a:pt x="46643" y="0"/>
                  <a:pt x="57150" y="0"/>
                </a:cubicBezTo>
                <a:lnTo>
                  <a:pt x="114300" y="0"/>
                </a:lnTo>
                <a:cubicBezTo>
                  <a:pt x="124807" y="0"/>
                  <a:pt x="133350" y="8543"/>
                  <a:pt x="133350" y="19050"/>
                </a:cubicBezTo>
                <a:lnTo>
                  <a:pt x="133350" y="38100"/>
                </a:lnTo>
                <a:lnTo>
                  <a:pt x="152400" y="38100"/>
                </a:lnTo>
                <a:cubicBezTo>
                  <a:pt x="162907" y="38100"/>
                  <a:pt x="171450" y="46643"/>
                  <a:pt x="171450" y="57150"/>
                </a:cubicBezTo>
                <a:lnTo>
                  <a:pt x="171450" y="133350"/>
                </a:lnTo>
                <a:cubicBezTo>
                  <a:pt x="171450" y="143857"/>
                  <a:pt x="162907" y="152400"/>
                  <a:pt x="15240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57150"/>
                </a:lnTo>
                <a:cubicBezTo>
                  <a:pt x="0" y="46643"/>
                  <a:pt x="8543" y="38100"/>
                  <a:pt x="19050" y="38100"/>
                </a:cubicBezTo>
                <a:lnTo>
                  <a:pt x="38100" y="38100"/>
                </a:lnTo>
                <a:lnTo>
                  <a:pt x="38100" y="19050"/>
                </a:lnTo>
                <a:close/>
                <a:moveTo>
                  <a:pt x="80962" y="104775"/>
                </a:moveTo>
                <a:cubicBezTo>
                  <a:pt x="75694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100013" y="138113"/>
                </a:lnTo>
                <a:lnTo>
                  <a:pt x="100013" y="114300"/>
                </a:lnTo>
                <a:cubicBezTo>
                  <a:pt x="100013" y="109031"/>
                  <a:pt x="95756" y="104775"/>
                  <a:pt x="90488" y="104775"/>
                </a:cubicBezTo>
                <a:lnTo>
                  <a:pt x="80962" y="104775"/>
                </a:lnTo>
                <a:close/>
                <a:moveTo>
                  <a:pt x="38100" y="109537"/>
                </a:moveTo>
                <a:lnTo>
                  <a:pt x="38100" y="100013"/>
                </a:lnTo>
                <a:cubicBezTo>
                  <a:pt x="38100" y="97393"/>
                  <a:pt x="35957" y="95250"/>
                  <a:pt x="33338" y="95250"/>
                </a:cubicBezTo>
                <a:lnTo>
                  <a:pt x="23813" y="95250"/>
                </a:lnTo>
                <a:cubicBezTo>
                  <a:pt x="21193" y="95250"/>
                  <a:pt x="19050" y="97393"/>
                  <a:pt x="19050" y="100013"/>
                </a:cubicBezTo>
                <a:lnTo>
                  <a:pt x="19050" y="109537"/>
                </a:lnTo>
                <a:cubicBezTo>
                  <a:pt x="19050" y="112157"/>
                  <a:pt x="21193" y="114300"/>
                  <a:pt x="23813" y="114300"/>
                </a:cubicBezTo>
                <a:lnTo>
                  <a:pt x="33338" y="114300"/>
                </a:lnTo>
                <a:cubicBezTo>
                  <a:pt x="35957" y="114300"/>
                  <a:pt x="38100" y="112157"/>
                  <a:pt x="38100" y="109537"/>
                </a:cubicBezTo>
                <a:close/>
                <a:moveTo>
                  <a:pt x="33338" y="76200"/>
                </a:moveTo>
                <a:cubicBezTo>
                  <a:pt x="35957" y="76200"/>
                  <a:pt x="38100" y="74057"/>
                  <a:pt x="38100" y="71438"/>
                </a:cubicBezTo>
                <a:lnTo>
                  <a:pt x="38100" y="61912"/>
                </a:lnTo>
                <a:cubicBezTo>
                  <a:pt x="38100" y="59293"/>
                  <a:pt x="35957" y="57150"/>
                  <a:pt x="33338" y="57150"/>
                </a:cubicBezTo>
                <a:lnTo>
                  <a:pt x="23813" y="57150"/>
                </a:lnTo>
                <a:cubicBezTo>
                  <a:pt x="21193" y="57150"/>
                  <a:pt x="19050" y="59293"/>
                  <a:pt x="19050" y="61912"/>
                </a:cubicBezTo>
                <a:lnTo>
                  <a:pt x="19050" y="71438"/>
                </a:lnTo>
                <a:cubicBezTo>
                  <a:pt x="19050" y="74057"/>
                  <a:pt x="21193" y="76200"/>
                  <a:pt x="23813" y="76200"/>
                </a:cubicBezTo>
                <a:lnTo>
                  <a:pt x="33338" y="76200"/>
                </a:lnTo>
                <a:close/>
                <a:moveTo>
                  <a:pt x="152400" y="109537"/>
                </a:moveTo>
                <a:lnTo>
                  <a:pt x="152400" y="100013"/>
                </a:lnTo>
                <a:cubicBezTo>
                  <a:pt x="152400" y="97393"/>
                  <a:pt x="150257" y="95250"/>
                  <a:pt x="147638" y="95250"/>
                </a:cubicBezTo>
                <a:lnTo>
                  <a:pt x="138113" y="95250"/>
                </a:lnTo>
                <a:cubicBezTo>
                  <a:pt x="135493" y="95250"/>
                  <a:pt x="133350" y="97393"/>
                  <a:pt x="133350" y="100013"/>
                </a:cubicBezTo>
                <a:lnTo>
                  <a:pt x="133350" y="109537"/>
                </a:lnTo>
                <a:cubicBezTo>
                  <a:pt x="133350" y="112157"/>
                  <a:pt x="135493" y="114300"/>
                  <a:pt x="138113" y="114300"/>
                </a:cubicBezTo>
                <a:lnTo>
                  <a:pt x="147638" y="114300"/>
                </a:lnTo>
                <a:cubicBezTo>
                  <a:pt x="150257" y="114300"/>
                  <a:pt x="152400" y="112157"/>
                  <a:pt x="152400" y="109537"/>
                </a:cubicBezTo>
                <a:close/>
                <a:moveTo>
                  <a:pt x="147638" y="76200"/>
                </a:moveTo>
                <a:cubicBezTo>
                  <a:pt x="150257" y="76200"/>
                  <a:pt x="152400" y="74057"/>
                  <a:pt x="152400" y="71438"/>
                </a:cubicBezTo>
                <a:lnTo>
                  <a:pt x="152400" y="61912"/>
                </a:lnTo>
                <a:cubicBezTo>
                  <a:pt x="152400" y="59293"/>
                  <a:pt x="150257" y="57150"/>
                  <a:pt x="147638" y="57150"/>
                </a:cubicBezTo>
                <a:lnTo>
                  <a:pt x="138113" y="57150"/>
                </a:lnTo>
                <a:cubicBezTo>
                  <a:pt x="135493" y="57150"/>
                  <a:pt x="133350" y="59293"/>
                  <a:pt x="133350" y="61912"/>
                </a:cubicBezTo>
                <a:lnTo>
                  <a:pt x="133350" y="71438"/>
                </a:lnTo>
                <a:cubicBezTo>
                  <a:pt x="133350" y="74057"/>
                  <a:pt x="135493" y="76200"/>
                  <a:pt x="138113" y="76200"/>
                </a:cubicBezTo>
                <a:lnTo>
                  <a:pt x="147638" y="76200"/>
                </a:lnTo>
                <a:close/>
                <a:moveTo>
                  <a:pt x="78581" y="30956"/>
                </a:moveTo>
                <a:lnTo>
                  <a:pt x="78581" y="40481"/>
                </a:lnTo>
                <a:lnTo>
                  <a:pt x="69056" y="40481"/>
                </a:lnTo>
                <a:cubicBezTo>
                  <a:pt x="66437" y="40481"/>
                  <a:pt x="64294" y="42624"/>
                  <a:pt x="64294" y="45244"/>
                </a:cubicBezTo>
                <a:lnTo>
                  <a:pt x="64294" y="50006"/>
                </a:lnTo>
                <a:cubicBezTo>
                  <a:pt x="64294" y="52626"/>
                  <a:pt x="66437" y="54769"/>
                  <a:pt x="69056" y="54769"/>
                </a:cubicBezTo>
                <a:lnTo>
                  <a:pt x="78581" y="54769"/>
                </a:lnTo>
                <a:lnTo>
                  <a:pt x="78581" y="64294"/>
                </a:lnTo>
                <a:cubicBezTo>
                  <a:pt x="78581" y="66913"/>
                  <a:pt x="80724" y="69056"/>
                  <a:pt x="83344" y="69056"/>
                </a:cubicBezTo>
                <a:lnTo>
                  <a:pt x="88106" y="69056"/>
                </a:lnTo>
                <a:cubicBezTo>
                  <a:pt x="90726" y="69056"/>
                  <a:pt x="92869" y="66913"/>
                  <a:pt x="92869" y="64294"/>
                </a:cubicBezTo>
                <a:lnTo>
                  <a:pt x="92869" y="54769"/>
                </a:lnTo>
                <a:lnTo>
                  <a:pt x="102394" y="54769"/>
                </a:lnTo>
                <a:cubicBezTo>
                  <a:pt x="105013" y="54769"/>
                  <a:pt x="107156" y="52626"/>
                  <a:pt x="107156" y="50006"/>
                </a:cubicBezTo>
                <a:lnTo>
                  <a:pt x="107156" y="45244"/>
                </a:lnTo>
                <a:cubicBezTo>
                  <a:pt x="107156" y="42624"/>
                  <a:pt x="105013" y="40481"/>
                  <a:pt x="102394" y="40481"/>
                </a:cubicBezTo>
                <a:lnTo>
                  <a:pt x="92869" y="40481"/>
                </a:lnTo>
                <a:lnTo>
                  <a:pt x="92869" y="30956"/>
                </a:lnTo>
                <a:cubicBezTo>
                  <a:pt x="92869" y="28337"/>
                  <a:pt x="90726" y="26194"/>
                  <a:pt x="88106" y="26194"/>
                </a:cubicBezTo>
                <a:lnTo>
                  <a:pt x="83344" y="26194"/>
                </a:lnTo>
                <a:cubicBezTo>
                  <a:pt x="80724" y="26194"/>
                  <a:pt x="78581" y="28337"/>
                  <a:pt x="78581" y="3095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9" name="Text 67"/>
          <p:cNvSpPr/>
          <p:nvPr/>
        </p:nvSpPr>
        <p:spPr>
          <a:xfrm>
            <a:off x="8681681" y="419862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Features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414981" y="4465320"/>
            <a:ext cx="3190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One-touch accident reporting with automatic GPS location and nearest hospital mapping.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62581" y="5455920"/>
            <a:ext cx="3390900" cy="342900"/>
          </a:xfrm>
          <a:custGeom>
            <a:avLst/>
            <a:gdLst/>
            <a:ahLst/>
            <a:cxnLst/>
            <a:rect l="l" t="t" r="r" b="b"/>
            <a:pathLst>
              <a:path w="3390900" h="342900">
                <a:moveTo>
                  <a:pt x="76199" y="0"/>
                </a:moveTo>
                <a:lnTo>
                  <a:pt x="3314701" y="0"/>
                </a:lnTo>
                <a:cubicBezTo>
                  <a:pt x="3356784" y="0"/>
                  <a:pt x="3390900" y="34116"/>
                  <a:pt x="3390900" y="76199"/>
                </a:cubicBezTo>
                <a:lnTo>
                  <a:pt x="3390900" y="266701"/>
                </a:lnTo>
                <a:cubicBezTo>
                  <a:pt x="3390900" y="308784"/>
                  <a:pt x="3356784" y="342900"/>
                  <a:pt x="3314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07592" y="555498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167" y="16669"/>
                </a:moveTo>
                <a:cubicBezTo>
                  <a:pt x="4167" y="7475"/>
                  <a:pt x="11642" y="0"/>
                  <a:pt x="20836" y="0"/>
                </a:cubicBezTo>
                <a:lnTo>
                  <a:pt x="79177" y="0"/>
                </a:lnTo>
                <a:cubicBezTo>
                  <a:pt x="88370" y="0"/>
                  <a:pt x="95845" y="7475"/>
                  <a:pt x="95845" y="16669"/>
                </a:cubicBezTo>
                <a:lnTo>
                  <a:pt x="95845" y="116681"/>
                </a:lnTo>
                <a:cubicBezTo>
                  <a:pt x="95845" y="125875"/>
                  <a:pt x="88370" y="133350"/>
                  <a:pt x="79177" y="133350"/>
                </a:cubicBezTo>
                <a:lnTo>
                  <a:pt x="20836" y="133350"/>
                </a:lnTo>
                <a:cubicBezTo>
                  <a:pt x="11642" y="133350"/>
                  <a:pt x="4167" y="125875"/>
                  <a:pt x="4167" y="116681"/>
                </a:cubicBezTo>
                <a:lnTo>
                  <a:pt x="4167" y="16669"/>
                </a:lnTo>
                <a:close/>
                <a:moveTo>
                  <a:pt x="20836" y="16669"/>
                </a:moveTo>
                <a:lnTo>
                  <a:pt x="20836" y="95845"/>
                </a:lnTo>
                <a:lnTo>
                  <a:pt x="79177" y="95845"/>
                </a:lnTo>
                <a:lnTo>
                  <a:pt x="79177" y="16669"/>
                </a:lnTo>
                <a:lnTo>
                  <a:pt x="20836" y="16669"/>
                </a:lnTo>
                <a:close/>
                <a:moveTo>
                  <a:pt x="50006" y="122932"/>
                </a:moveTo>
                <a:cubicBezTo>
                  <a:pt x="54616" y="122932"/>
                  <a:pt x="58341" y="119208"/>
                  <a:pt x="58341" y="114598"/>
                </a:cubicBezTo>
                <a:cubicBezTo>
                  <a:pt x="58341" y="109988"/>
                  <a:pt x="54616" y="106263"/>
                  <a:pt x="50006" y="106263"/>
                </a:cubicBezTo>
                <a:cubicBezTo>
                  <a:pt x="45396" y="106263"/>
                  <a:pt x="41672" y="109988"/>
                  <a:pt x="41672" y="114598"/>
                </a:cubicBezTo>
                <a:cubicBezTo>
                  <a:pt x="41672" y="119208"/>
                  <a:pt x="45396" y="122932"/>
                  <a:pt x="50006" y="12293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73" name="Text 71"/>
          <p:cNvSpPr/>
          <p:nvPr/>
        </p:nvSpPr>
        <p:spPr>
          <a:xfrm>
            <a:off x="8534043" y="5532120"/>
            <a:ext cx="3076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Mobile-First Design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84810" y="6076951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76198" y="0"/>
                </a:moveTo>
                <a:lnTo>
                  <a:pt x="11342372" y="0"/>
                </a:lnTo>
                <a:cubicBezTo>
                  <a:pt x="11384455" y="0"/>
                  <a:pt x="11418570" y="34115"/>
                  <a:pt x="11418570" y="76198"/>
                </a:cubicBezTo>
                <a:lnTo>
                  <a:pt x="11418570" y="388622"/>
                </a:lnTo>
                <a:cubicBezTo>
                  <a:pt x="11418570" y="430705"/>
                  <a:pt x="11384455" y="464820"/>
                  <a:pt x="11342372" y="464820"/>
                </a:cubicBezTo>
                <a:lnTo>
                  <a:pt x="76198" y="464820"/>
                </a:lnTo>
                <a:cubicBezTo>
                  <a:pt x="34115" y="464820"/>
                  <a:pt x="0" y="430705"/>
                  <a:pt x="0" y="3886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50000">
                <a:srgbClr val="3B82F6">
                  <a:alpha val="20000"/>
                </a:srgbClr>
              </a:gs>
              <a:gs pos="100000">
                <a:srgbClr val="8B5CF6">
                  <a:alpha val="20000"/>
                </a:srgbClr>
              </a:gs>
            </a:gsLst>
            <a:lin ang="0" scaled="1"/>
          </a:gra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93156" y="62255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76" name="Text 74"/>
          <p:cNvSpPr/>
          <p:nvPr/>
        </p:nvSpPr>
        <p:spPr>
          <a:xfrm>
            <a:off x="712470" y="6195061"/>
            <a:ext cx="1101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Integration: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persona sees only relevant data and tools, with secure role-based access control.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6635b53547d110aa8a01348f07441dc0e5a47f5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21" b="2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2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Agent Ecosystem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Shape 4"/>
          <p:cNvSpPr/>
          <p:nvPr/>
        </p:nvSpPr>
        <p:spPr>
          <a:xfrm>
            <a:off x="384810" y="1375410"/>
            <a:ext cx="3322320" cy="2484120"/>
          </a:xfrm>
          <a:custGeom>
            <a:avLst/>
            <a:gdLst/>
            <a:ahLst/>
            <a:cxnLst/>
            <a:rect l="l" t="t" r="r" b="b"/>
            <a:pathLst>
              <a:path w="3322320" h="2484120">
                <a:moveTo>
                  <a:pt x="114294" y="0"/>
                </a:moveTo>
                <a:lnTo>
                  <a:pt x="3208026" y="0"/>
                </a:lnTo>
                <a:cubicBezTo>
                  <a:pt x="3271149" y="0"/>
                  <a:pt x="3322320" y="51171"/>
                  <a:pt x="3322320" y="114294"/>
                </a:cubicBezTo>
                <a:lnTo>
                  <a:pt x="3322320" y="2369826"/>
                </a:lnTo>
                <a:cubicBezTo>
                  <a:pt x="3322320" y="2432949"/>
                  <a:pt x="3271149" y="2484120"/>
                  <a:pt x="3208026" y="2484120"/>
                </a:cubicBezTo>
                <a:lnTo>
                  <a:pt x="114294" y="2484120"/>
                </a:lnTo>
                <a:cubicBezTo>
                  <a:pt x="51171" y="2484120"/>
                  <a:pt x="0" y="2432949"/>
                  <a:pt x="0" y="23698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>
                  <a:alpha val="3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EF4444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1020" y="1531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/>
              </a:gs>
              <a:gs pos="100000">
                <a:srgbClr val="F87171"/>
              </a:gs>
            </a:gsLst>
            <a:lin ang="2700000" scaled="1"/>
          </a:gradFill>
          <a:ln/>
        </p:spPr>
      </p:sp>
      <p:sp>
        <p:nvSpPr>
          <p:cNvPr id="9" name="Shape 6"/>
          <p:cNvSpPr/>
          <p:nvPr/>
        </p:nvSpPr>
        <p:spPr>
          <a:xfrm>
            <a:off x="710089" y="1664970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23812" y="-11906"/>
                </a:moveTo>
                <a:cubicBezTo>
                  <a:pt x="10678" y="-11906"/>
                  <a:pt x="0" y="-1228"/>
                  <a:pt x="0" y="11906"/>
                </a:cubicBezTo>
                <a:lnTo>
                  <a:pt x="0" y="142875"/>
                </a:lnTo>
                <a:cubicBezTo>
                  <a:pt x="0" y="175766"/>
                  <a:pt x="26640" y="202406"/>
                  <a:pt x="59531" y="202406"/>
                </a:cubicBezTo>
                <a:cubicBezTo>
                  <a:pt x="92422" y="202406"/>
                  <a:pt x="119063" y="175766"/>
                  <a:pt x="119063" y="142875"/>
                </a:cubicBezTo>
                <a:lnTo>
                  <a:pt x="119063" y="11906"/>
                </a:lnTo>
                <a:cubicBezTo>
                  <a:pt x="119063" y="-1228"/>
                  <a:pt x="108384" y="-11906"/>
                  <a:pt x="95250" y="-11906"/>
                </a:cubicBezTo>
                <a:lnTo>
                  <a:pt x="23812" y="-11906"/>
                </a:lnTo>
                <a:close/>
                <a:moveTo>
                  <a:pt x="59531" y="133945"/>
                </a:moveTo>
                <a:cubicBezTo>
                  <a:pt x="71028" y="133945"/>
                  <a:pt x="80367" y="143284"/>
                  <a:pt x="80367" y="154781"/>
                </a:cubicBezTo>
                <a:cubicBezTo>
                  <a:pt x="80367" y="166278"/>
                  <a:pt x="71028" y="175617"/>
                  <a:pt x="59531" y="175617"/>
                </a:cubicBezTo>
                <a:cubicBezTo>
                  <a:pt x="48034" y="175617"/>
                  <a:pt x="38695" y="166278"/>
                  <a:pt x="38695" y="154781"/>
                </a:cubicBezTo>
                <a:cubicBezTo>
                  <a:pt x="38695" y="143284"/>
                  <a:pt x="48034" y="133945"/>
                  <a:pt x="59531" y="133945"/>
                </a:cubicBezTo>
                <a:close/>
                <a:moveTo>
                  <a:pt x="80367" y="95250"/>
                </a:moveTo>
                <a:cubicBezTo>
                  <a:pt x="80367" y="106750"/>
                  <a:pt x="71031" y="116086"/>
                  <a:pt x="59531" y="116086"/>
                </a:cubicBezTo>
                <a:cubicBezTo>
                  <a:pt x="48032" y="116086"/>
                  <a:pt x="38695" y="106750"/>
                  <a:pt x="38695" y="95250"/>
                </a:cubicBezTo>
                <a:cubicBezTo>
                  <a:pt x="38695" y="83750"/>
                  <a:pt x="48032" y="74414"/>
                  <a:pt x="59531" y="74414"/>
                </a:cubicBezTo>
                <a:cubicBezTo>
                  <a:pt x="71031" y="74414"/>
                  <a:pt x="80367" y="83750"/>
                  <a:pt x="80367" y="95250"/>
                </a:cubicBezTo>
                <a:close/>
                <a:moveTo>
                  <a:pt x="59531" y="56555"/>
                </a:moveTo>
                <a:cubicBezTo>
                  <a:pt x="48032" y="56555"/>
                  <a:pt x="38695" y="47218"/>
                  <a:pt x="38695" y="35719"/>
                </a:cubicBezTo>
                <a:cubicBezTo>
                  <a:pt x="38695" y="24219"/>
                  <a:pt x="48032" y="14883"/>
                  <a:pt x="59531" y="14883"/>
                </a:cubicBezTo>
                <a:cubicBezTo>
                  <a:pt x="71031" y="14883"/>
                  <a:pt x="80367" y="24219"/>
                  <a:pt x="80367" y="35719"/>
                </a:cubicBezTo>
                <a:cubicBezTo>
                  <a:pt x="80367" y="47218"/>
                  <a:pt x="71031" y="56555"/>
                  <a:pt x="59531" y="565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12520" y="1626870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Intelligence Agent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1020" y="2103123"/>
            <a:ext cx="307657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Monitors congestion patterns, analyzes traffic flow, and optimizes signal timing recommendations.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2451" y="3383398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760095" y="3364469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congestion detection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2451" y="3573782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760095" y="3554848"/>
            <a:ext cx="1476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 optimization algorithms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25240" y="1375410"/>
            <a:ext cx="3322320" cy="2484120"/>
          </a:xfrm>
          <a:custGeom>
            <a:avLst/>
            <a:gdLst/>
            <a:ahLst/>
            <a:cxnLst/>
            <a:rect l="l" t="t" r="r" b="b"/>
            <a:pathLst>
              <a:path w="3322320" h="2484120">
                <a:moveTo>
                  <a:pt x="114294" y="0"/>
                </a:moveTo>
                <a:lnTo>
                  <a:pt x="3208026" y="0"/>
                </a:lnTo>
                <a:cubicBezTo>
                  <a:pt x="3271149" y="0"/>
                  <a:pt x="3322320" y="51171"/>
                  <a:pt x="3322320" y="114294"/>
                </a:cubicBezTo>
                <a:lnTo>
                  <a:pt x="3322320" y="2369826"/>
                </a:lnTo>
                <a:cubicBezTo>
                  <a:pt x="3322320" y="2432949"/>
                  <a:pt x="3271149" y="2484120"/>
                  <a:pt x="3208026" y="2484120"/>
                </a:cubicBezTo>
                <a:lnTo>
                  <a:pt x="114294" y="2484120"/>
                </a:lnTo>
                <a:cubicBezTo>
                  <a:pt x="51171" y="2484120"/>
                  <a:pt x="0" y="2432949"/>
                  <a:pt x="0" y="23698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3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F59E0B">
                <a:alpha val="5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81450" y="1531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FBBF24"/>
              </a:gs>
            </a:gsLst>
            <a:lin ang="2700000" scaled="1"/>
          </a:gradFill>
          <a:ln/>
        </p:spPr>
      </p:sp>
      <p:sp>
        <p:nvSpPr>
          <p:cNvPr id="18" name="Shape 15"/>
          <p:cNvSpPr/>
          <p:nvPr/>
        </p:nvSpPr>
        <p:spPr>
          <a:xfrm>
            <a:off x="4102894" y="16649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0969" y="98227"/>
                </a:moveTo>
                <a:lnTo>
                  <a:pt x="130969" y="23812"/>
                </a:lnTo>
                <a:cubicBezTo>
                  <a:pt x="130969" y="17227"/>
                  <a:pt x="125648" y="11906"/>
                  <a:pt x="119063" y="11906"/>
                </a:cubicBezTo>
                <a:lnTo>
                  <a:pt x="95250" y="11906"/>
                </a:lnTo>
                <a:cubicBezTo>
                  <a:pt x="88664" y="11906"/>
                  <a:pt x="83344" y="17227"/>
                  <a:pt x="83344" y="23812"/>
                </a:cubicBezTo>
                <a:lnTo>
                  <a:pt x="83344" y="98227"/>
                </a:lnTo>
                <a:cubicBezTo>
                  <a:pt x="83344" y="103175"/>
                  <a:pt x="79363" y="107156"/>
                  <a:pt x="74414" y="107156"/>
                </a:cubicBezTo>
                <a:cubicBezTo>
                  <a:pt x="69466" y="107156"/>
                  <a:pt x="65484" y="103175"/>
                  <a:pt x="65484" y="98227"/>
                </a:cubicBezTo>
                <a:lnTo>
                  <a:pt x="65484" y="29059"/>
                </a:lnTo>
                <a:cubicBezTo>
                  <a:pt x="33486" y="40853"/>
                  <a:pt x="11906" y="71363"/>
                  <a:pt x="11906" y="107156"/>
                </a:cubicBezTo>
                <a:lnTo>
                  <a:pt x="11906" y="130969"/>
                </a:lnTo>
                <a:lnTo>
                  <a:pt x="202406" y="130969"/>
                </a:lnTo>
                <a:lnTo>
                  <a:pt x="202406" y="107156"/>
                </a:lnTo>
                <a:cubicBezTo>
                  <a:pt x="202034" y="71735"/>
                  <a:pt x="180677" y="41039"/>
                  <a:pt x="148828" y="29096"/>
                </a:cubicBezTo>
                <a:lnTo>
                  <a:pt x="148828" y="98227"/>
                </a:lnTo>
                <a:cubicBezTo>
                  <a:pt x="148828" y="103175"/>
                  <a:pt x="144847" y="107156"/>
                  <a:pt x="139898" y="107156"/>
                </a:cubicBezTo>
                <a:cubicBezTo>
                  <a:pt x="134950" y="107156"/>
                  <a:pt x="130969" y="103175"/>
                  <a:pt x="130969" y="98227"/>
                </a:cubicBezTo>
                <a:close/>
                <a:moveTo>
                  <a:pt x="14883" y="148828"/>
                </a:moveTo>
                <a:cubicBezTo>
                  <a:pt x="6660" y="148828"/>
                  <a:pt x="0" y="155488"/>
                  <a:pt x="0" y="163711"/>
                </a:cubicBezTo>
                <a:cubicBezTo>
                  <a:pt x="0" y="171934"/>
                  <a:pt x="6660" y="178594"/>
                  <a:pt x="14883" y="178594"/>
                </a:cubicBezTo>
                <a:lnTo>
                  <a:pt x="199430" y="178594"/>
                </a:lnTo>
                <a:cubicBezTo>
                  <a:pt x="207652" y="178594"/>
                  <a:pt x="214313" y="171934"/>
                  <a:pt x="214313" y="163711"/>
                </a:cubicBezTo>
                <a:cubicBezTo>
                  <a:pt x="214313" y="155488"/>
                  <a:pt x="207652" y="148828"/>
                  <a:pt x="199430" y="148828"/>
                </a:cubicBezTo>
                <a:lnTo>
                  <a:pt x="14883" y="14882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4552950" y="1626870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&amp; Helmet Agent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981450" y="2103123"/>
            <a:ext cx="307657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 detection of helmet violations, unsafe driving practices, and accident scenes.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002881" y="3383398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4200525" y="3364469"/>
            <a:ext cx="1514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Helmet compliance detection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002881" y="3573782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4200525" y="3554848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Violation classification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84810" y="3985260"/>
            <a:ext cx="3322320" cy="2484120"/>
          </a:xfrm>
          <a:custGeom>
            <a:avLst/>
            <a:gdLst/>
            <a:ahLst/>
            <a:cxnLst/>
            <a:rect l="l" t="t" r="r" b="b"/>
            <a:pathLst>
              <a:path w="3322320" h="2484120">
                <a:moveTo>
                  <a:pt x="114294" y="0"/>
                </a:moveTo>
                <a:lnTo>
                  <a:pt x="3208026" y="0"/>
                </a:lnTo>
                <a:cubicBezTo>
                  <a:pt x="3271149" y="0"/>
                  <a:pt x="3322320" y="51171"/>
                  <a:pt x="3322320" y="114294"/>
                </a:cubicBezTo>
                <a:lnTo>
                  <a:pt x="3322320" y="2369826"/>
                </a:lnTo>
                <a:cubicBezTo>
                  <a:pt x="3322320" y="2432949"/>
                  <a:pt x="3271149" y="2484120"/>
                  <a:pt x="3208026" y="2484120"/>
                </a:cubicBezTo>
                <a:lnTo>
                  <a:pt x="114294" y="2484120"/>
                </a:lnTo>
                <a:cubicBezTo>
                  <a:pt x="51171" y="2484120"/>
                  <a:pt x="0" y="2432949"/>
                  <a:pt x="0" y="23698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1020" y="414147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34D399"/>
              </a:gs>
            </a:gsLst>
            <a:lin ang="2700000" scaled="1"/>
          </a:gradFill>
          <a:ln/>
        </p:spPr>
      </p:sp>
      <p:sp>
        <p:nvSpPr>
          <p:cNvPr id="27" name="Shape 24"/>
          <p:cNvSpPr/>
          <p:nvPr/>
        </p:nvSpPr>
        <p:spPr>
          <a:xfrm>
            <a:off x="674370" y="42748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357" y="2493"/>
                </a:moveTo>
                <a:cubicBezTo>
                  <a:pt x="177738" y="223"/>
                  <a:pt x="181198" y="-595"/>
                  <a:pt x="184398" y="446"/>
                </a:cubicBezTo>
                <a:cubicBezTo>
                  <a:pt x="188044" y="1674"/>
                  <a:pt x="190500" y="5097"/>
                  <a:pt x="190500" y="8930"/>
                </a:cubicBezTo>
                <a:lnTo>
                  <a:pt x="190500" y="78470"/>
                </a:lnTo>
                <a:cubicBezTo>
                  <a:pt x="190500" y="127285"/>
                  <a:pt x="150279" y="166688"/>
                  <a:pt x="101650" y="166688"/>
                </a:cubicBezTo>
                <a:cubicBezTo>
                  <a:pt x="73000" y="166688"/>
                  <a:pt x="48295" y="148270"/>
                  <a:pt x="39328" y="122523"/>
                </a:cubicBezTo>
                <a:cubicBezTo>
                  <a:pt x="26157" y="133983"/>
                  <a:pt x="17859" y="150837"/>
                  <a:pt x="17859" y="169664"/>
                </a:cubicBezTo>
                <a:cubicBezTo>
                  <a:pt x="17859" y="174613"/>
                  <a:pt x="13878" y="178594"/>
                  <a:pt x="8930" y="178594"/>
                </a:cubicBezTo>
                <a:cubicBezTo>
                  <a:pt x="3981" y="178594"/>
                  <a:pt x="0" y="174613"/>
                  <a:pt x="0" y="169664"/>
                </a:cubicBezTo>
                <a:cubicBezTo>
                  <a:pt x="0" y="141796"/>
                  <a:pt x="14213" y="117239"/>
                  <a:pt x="35756" y="102803"/>
                </a:cubicBezTo>
                <a:cubicBezTo>
                  <a:pt x="48890" y="94022"/>
                  <a:pt x="64554" y="89297"/>
                  <a:pt x="80367" y="89297"/>
                </a:cubicBezTo>
                <a:lnTo>
                  <a:pt x="110133" y="89297"/>
                </a:lnTo>
                <a:cubicBezTo>
                  <a:pt x="115081" y="89297"/>
                  <a:pt x="119063" y="85316"/>
                  <a:pt x="119063" y="80367"/>
                </a:cubicBezTo>
                <a:cubicBezTo>
                  <a:pt x="119063" y="75419"/>
                  <a:pt x="115081" y="71438"/>
                  <a:pt x="110133" y="71438"/>
                </a:cubicBezTo>
                <a:lnTo>
                  <a:pt x="80367" y="71438"/>
                </a:lnTo>
                <a:cubicBezTo>
                  <a:pt x="65596" y="71438"/>
                  <a:pt x="51606" y="74712"/>
                  <a:pt x="39067" y="80553"/>
                </a:cubicBezTo>
                <a:cubicBezTo>
                  <a:pt x="47737" y="54508"/>
                  <a:pt x="72256" y="35719"/>
                  <a:pt x="101203" y="35719"/>
                </a:cubicBezTo>
                <a:cubicBezTo>
                  <a:pt x="125909" y="35719"/>
                  <a:pt x="144289" y="27496"/>
                  <a:pt x="156530" y="19348"/>
                </a:cubicBezTo>
                <a:cubicBezTo>
                  <a:pt x="163674" y="14585"/>
                  <a:pt x="169738" y="8892"/>
                  <a:pt x="175394" y="24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520" y="4236723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Cleanliness Agent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41020" y="4712973"/>
            <a:ext cx="307657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littering incidents, garbage accumulation, and environmental hazards through image analysis.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62451" y="5993248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760095" y="5974319"/>
            <a:ext cx="962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Garbage detection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62451" y="6183632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3" name="Text 30"/>
          <p:cNvSpPr/>
          <p:nvPr/>
        </p:nvSpPr>
        <p:spPr>
          <a:xfrm>
            <a:off x="760095" y="6164698"/>
            <a:ext cx="1257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Littering pattern analysis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825240" y="3985260"/>
            <a:ext cx="3322320" cy="2484120"/>
          </a:xfrm>
          <a:custGeom>
            <a:avLst/>
            <a:gdLst/>
            <a:ahLst/>
            <a:cxnLst/>
            <a:rect l="l" t="t" r="r" b="b"/>
            <a:pathLst>
              <a:path w="3322320" h="2484120">
                <a:moveTo>
                  <a:pt x="114294" y="0"/>
                </a:moveTo>
                <a:lnTo>
                  <a:pt x="3208026" y="0"/>
                </a:lnTo>
                <a:cubicBezTo>
                  <a:pt x="3271149" y="0"/>
                  <a:pt x="3322320" y="51171"/>
                  <a:pt x="3322320" y="114294"/>
                </a:cubicBezTo>
                <a:lnTo>
                  <a:pt x="3322320" y="2369826"/>
                </a:lnTo>
                <a:cubicBezTo>
                  <a:pt x="3322320" y="2432949"/>
                  <a:pt x="3271149" y="2484120"/>
                  <a:pt x="3208026" y="2484120"/>
                </a:cubicBezTo>
                <a:lnTo>
                  <a:pt x="114294" y="2484120"/>
                </a:lnTo>
                <a:cubicBezTo>
                  <a:pt x="51171" y="2484120"/>
                  <a:pt x="0" y="2432949"/>
                  <a:pt x="0" y="23698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>
                  <a:alpha val="4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981450" y="414147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/>
              </a:gs>
              <a:gs pos="100000">
                <a:srgbClr val="DC2626"/>
              </a:gs>
            </a:gsLst>
            <a:lin ang="2700000" scaled="1"/>
          </a:gradFill>
          <a:ln/>
        </p:spPr>
      </p:sp>
      <p:sp>
        <p:nvSpPr>
          <p:cNvPr id="36" name="Shape 33"/>
          <p:cNvSpPr/>
          <p:nvPr/>
        </p:nvSpPr>
        <p:spPr>
          <a:xfrm>
            <a:off x="4102894" y="427482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25040" y="166688"/>
                </a:lnTo>
                <a:cubicBezTo>
                  <a:pt x="28910" y="180417"/>
                  <a:pt x="41560" y="190500"/>
                  <a:pt x="56555" y="190500"/>
                </a:cubicBezTo>
                <a:cubicBezTo>
                  <a:pt x="71549" y="190500"/>
                  <a:pt x="84162" y="180417"/>
                  <a:pt x="88069" y="166688"/>
                </a:cubicBezTo>
                <a:lnTo>
                  <a:pt x="126243" y="166688"/>
                </a:lnTo>
                <a:cubicBezTo>
                  <a:pt x="130113" y="180417"/>
                  <a:pt x="142763" y="190500"/>
                  <a:pt x="157758" y="190500"/>
                </a:cubicBezTo>
                <a:cubicBezTo>
                  <a:pt x="172752" y="190500"/>
                  <a:pt x="185365" y="180417"/>
                  <a:pt x="189272" y="166688"/>
                </a:cubicBezTo>
                <a:lnTo>
                  <a:pt x="190500" y="166688"/>
                </a:lnTo>
                <a:cubicBezTo>
                  <a:pt x="203634" y="166688"/>
                  <a:pt x="214313" y="156009"/>
                  <a:pt x="214313" y="142875"/>
                </a:cubicBezTo>
                <a:lnTo>
                  <a:pt x="214313" y="88292"/>
                </a:lnTo>
                <a:cubicBezTo>
                  <a:pt x="214313" y="81967"/>
                  <a:pt x="211820" y="75902"/>
                  <a:pt x="207355" y="71438"/>
                </a:cubicBezTo>
                <a:lnTo>
                  <a:pt x="190500" y="54583"/>
                </a:lnTo>
                <a:cubicBezTo>
                  <a:pt x="186035" y="50118"/>
                  <a:pt x="179970" y="47625"/>
                  <a:pt x="173645" y="47625"/>
                </a:cubicBezTo>
                <a:lnTo>
                  <a:pt x="154781" y="47625"/>
                </a:lnTo>
                <a:lnTo>
                  <a:pt x="154781" y="35719"/>
                </a:lnTo>
                <a:cubicBezTo>
                  <a:pt x="154781" y="22585"/>
                  <a:pt x="144103" y="11906"/>
                  <a:pt x="130969" y="11906"/>
                </a:cubicBezTo>
                <a:lnTo>
                  <a:pt x="23812" y="11906"/>
                </a:lnTo>
                <a:close/>
                <a:moveTo>
                  <a:pt x="190500" y="88292"/>
                </a:moveTo>
                <a:lnTo>
                  <a:pt x="190500" y="107156"/>
                </a:lnTo>
                <a:lnTo>
                  <a:pt x="154781" y="107156"/>
                </a:lnTo>
                <a:lnTo>
                  <a:pt x="154781" y="71438"/>
                </a:lnTo>
                <a:lnTo>
                  <a:pt x="173645" y="71438"/>
                </a:lnTo>
                <a:lnTo>
                  <a:pt x="190500" y="88292"/>
                </a:lnTo>
                <a:close/>
                <a:moveTo>
                  <a:pt x="56555" y="142875"/>
                </a:moveTo>
                <a:cubicBezTo>
                  <a:pt x="64769" y="142875"/>
                  <a:pt x="71438" y="149544"/>
                  <a:pt x="71438" y="157758"/>
                </a:cubicBezTo>
                <a:cubicBezTo>
                  <a:pt x="71438" y="165972"/>
                  <a:pt x="64769" y="172641"/>
                  <a:pt x="56555" y="172641"/>
                </a:cubicBezTo>
                <a:cubicBezTo>
                  <a:pt x="48341" y="172641"/>
                  <a:pt x="41672" y="165972"/>
                  <a:pt x="41672" y="157758"/>
                </a:cubicBezTo>
                <a:cubicBezTo>
                  <a:pt x="41672" y="149544"/>
                  <a:pt x="48341" y="142875"/>
                  <a:pt x="56555" y="142875"/>
                </a:cubicBezTo>
                <a:close/>
                <a:moveTo>
                  <a:pt x="142875" y="157758"/>
                </a:moveTo>
                <a:cubicBezTo>
                  <a:pt x="142875" y="149544"/>
                  <a:pt x="149544" y="142875"/>
                  <a:pt x="157758" y="142875"/>
                </a:cubicBezTo>
                <a:cubicBezTo>
                  <a:pt x="165972" y="142875"/>
                  <a:pt x="172641" y="149544"/>
                  <a:pt x="172641" y="157758"/>
                </a:cubicBezTo>
                <a:cubicBezTo>
                  <a:pt x="172641" y="165972"/>
                  <a:pt x="165972" y="172641"/>
                  <a:pt x="157758" y="172641"/>
                </a:cubicBezTo>
                <a:cubicBezTo>
                  <a:pt x="149544" y="172641"/>
                  <a:pt x="142875" y="165972"/>
                  <a:pt x="142875" y="157758"/>
                </a:cubicBezTo>
                <a:close/>
                <a:moveTo>
                  <a:pt x="65484" y="50602"/>
                </a:moveTo>
                <a:cubicBezTo>
                  <a:pt x="65484" y="47327"/>
                  <a:pt x="68163" y="44648"/>
                  <a:pt x="71438" y="44648"/>
                </a:cubicBezTo>
                <a:lnTo>
                  <a:pt x="83344" y="44648"/>
                </a:lnTo>
                <a:cubicBezTo>
                  <a:pt x="86618" y="44648"/>
                  <a:pt x="89297" y="47327"/>
                  <a:pt x="89297" y="50602"/>
                </a:cubicBezTo>
                <a:lnTo>
                  <a:pt x="89297" y="65484"/>
                </a:lnTo>
                <a:lnTo>
                  <a:pt x="104180" y="65484"/>
                </a:lnTo>
                <a:cubicBezTo>
                  <a:pt x="107454" y="65484"/>
                  <a:pt x="110133" y="68163"/>
                  <a:pt x="110133" y="71438"/>
                </a:cubicBezTo>
                <a:lnTo>
                  <a:pt x="110133" y="83344"/>
                </a:lnTo>
                <a:cubicBezTo>
                  <a:pt x="110133" y="86618"/>
                  <a:pt x="107454" y="89297"/>
                  <a:pt x="104180" y="89297"/>
                </a:cubicBezTo>
                <a:lnTo>
                  <a:pt x="89297" y="89297"/>
                </a:lnTo>
                <a:lnTo>
                  <a:pt x="89297" y="104180"/>
                </a:lnTo>
                <a:cubicBezTo>
                  <a:pt x="89297" y="107454"/>
                  <a:pt x="86618" y="110133"/>
                  <a:pt x="83344" y="110133"/>
                </a:cubicBezTo>
                <a:lnTo>
                  <a:pt x="71438" y="110133"/>
                </a:lnTo>
                <a:cubicBezTo>
                  <a:pt x="68163" y="110133"/>
                  <a:pt x="65484" y="107454"/>
                  <a:pt x="65484" y="104180"/>
                </a:cubicBezTo>
                <a:lnTo>
                  <a:pt x="65484" y="89297"/>
                </a:lnTo>
                <a:lnTo>
                  <a:pt x="50602" y="89297"/>
                </a:lnTo>
                <a:cubicBezTo>
                  <a:pt x="47327" y="89297"/>
                  <a:pt x="44648" y="86618"/>
                  <a:pt x="44648" y="83344"/>
                </a:cubicBezTo>
                <a:lnTo>
                  <a:pt x="44648" y="71438"/>
                </a:lnTo>
                <a:cubicBezTo>
                  <a:pt x="44648" y="68163"/>
                  <a:pt x="47327" y="65484"/>
                  <a:pt x="50602" y="65484"/>
                </a:cubicBezTo>
                <a:lnTo>
                  <a:pt x="65484" y="65484"/>
                </a:lnTo>
                <a:lnTo>
                  <a:pt x="65484" y="506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4552950" y="4236723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Response Agent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3981450" y="4712973"/>
            <a:ext cx="307657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Coordinates accident reporting, dispatches alerts via SMTP, and integrates nearest hospital mapping.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002881" y="5993248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0" name="Text 37"/>
          <p:cNvSpPr/>
          <p:nvPr/>
        </p:nvSpPr>
        <p:spPr>
          <a:xfrm>
            <a:off x="4200525" y="5974319"/>
            <a:ext cx="108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alert dispatch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002881" y="6183632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2" name="Text 39"/>
          <p:cNvSpPr/>
          <p:nvPr/>
        </p:nvSpPr>
        <p:spPr>
          <a:xfrm>
            <a:off x="4200525" y="6164698"/>
            <a:ext cx="1247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Hospital GPS integration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303770" y="1375410"/>
            <a:ext cx="4503420" cy="3827145"/>
          </a:xfrm>
          <a:custGeom>
            <a:avLst/>
            <a:gdLst/>
            <a:ahLst/>
            <a:cxnLst/>
            <a:rect l="l" t="t" r="r" b="b"/>
            <a:pathLst>
              <a:path w="4503420" h="3827145">
                <a:moveTo>
                  <a:pt x="114317" y="0"/>
                </a:moveTo>
                <a:lnTo>
                  <a:pt x="4389103" y="0"/>
                </a:lnTo>
                <a:cubicBezTo>
                  <a:pt x="4452239" y="0"/>
                  <a:pt x="4503420" y="51181"/>
                  <a:pt x="4503420" y="114317"/>
                </a:cubicBezTo>
                <a:lnTo>
                  <a:pt x="4503420" y="3712828"/>
                </a:lnTo>
                <a:cubicBezTo>
                  <a:pt x="4503420" y="3775964"/>
                  <a:pt x="4452239" y="3827145"/>
                  <a:pt x="4389103" y="3827145"/>
                </a:cubicBezTo>
                <a:lnTo>
                  <a:pt x="114317" y="3827145"/>
                </a:lnTo>
                <a:cubicBezTo>
                  <a:pt x="51181" y="3827145"/>
                  <a:pt x="0" y="3775964"/>
                  <a:pt x="0" y="3712828"/>
                </a:cubicBezTo>
                <a:lnTo>
                  <a:pt x="0" y="114317"/>
                </a:lnTo>
                <a:cubicBezTo>
                  <a:pt x="0" y="51181"/>
                  <a:pt x="51181" y="0"/>
                  <a:pt x="114317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483793" y="15697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5" name="Text 42"/>
          <p:cNvSpPr/>
          <p:nvPr/>
        </p:nvSpPr>
        <p:spPr>
          <a:xfrm>
            <a:off x="7698105" y="1531620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Coordination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459980" y="1912620"/>
            <a:ext cx="4191000" cy="800100"/>
          </a:xfrm>
          <a:custGeom>
            <a:avLst/>
            <a:gdLst/>
            <a:ahLst/>
            <a:cxnLst/>
            <a:rect l="l" t="t" r="r" b="b"/>
            <a:pathLst>
              <a:path w="4191000" h="800100">
                <a:moveTo>
                  <a:pt x="76202" y="0"/>
                </a:moveTo>
                <a:lnTo>
                  <a:pt x="4114798" y="0"/>
                </a:lnTo>
                <a:cubicBezTo>
                  <a:pt x="4156883" y="0"/>
                  <a:pt x="4191000" y="34117"/>
                  <a:pt x="4191000" y="76202"/>
                </a:cubicBezTo>
                <a:lnTo>
                  <a:pt x="4191000" y="723898"/>
                </a:lnTo>
                <a:cubicBezTo>
                  <a:pt x="4191000" y="765983"/>
                  <a:pt x="4156883" y="800100"/>
                  <a:pt x="41147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7" name="Shape 44"/>
          <p:cNvSpPr/>
          <p:nvPr/>
        </p:nvSpPr>
        <p:spPr>
          <a:xfrm>
            <a:off x="7574280" y="202692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7540943" y="202692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955280" y="2065020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Detection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574280" y="2407923"/>
            <a:ext cx="402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agent detects an incident and publishes to the message bus.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459980" y="2827023"/>
            <a:ext cx="4191000" cy="800100"/>
          </a:xfrm>
          <a:custGeom>
            <a:avLst/>
            <a:gdLst/>
            <a:ahLst/>
            <a:cxnLst/>
            <a:rect l="l" t="t" r="r" b="b"/>
            <a:pathLst>
              <a:path w="4191000" h="800100">
                <a:moveTo>
                  <a:pt x="76202" y="0"/>
                </a:moveTo>
                <a:lnTo>
                  <a:pt x="4114798" y="0"/>
                </a:lnTo>
                <a:cubicBezTo>
                  <a:pt x="4156883" y="0"/>
                  <a:pt x="4191000" y="34117"/>
                  <a:pt x="4191000" y="76202"/>
                </a:cubicBezTo>
                <a:lnTo>
                  <a:pt x="4191000" y="723898"/>
                </a:lnTo>
                <a:cubicBezTo>
                  <a:pt x="4191000" y="765983"/>
                  <a:pt x="4156883" y="800100"/>
                  <a:pt x="41147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2" name="Shape 49"/>
          <p:cNvSpPr/>
          <p:nvPr/>
        </p:nvSpPr>
        <p:spPr>
          <a:xfrm>
            <a:off x="7574280" y="29413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7540943" y="294132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7955280" y="2979423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Cross-Agent Analysis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574280" y="3322323"/>
            <a:ext cx="402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Relevant agents receive event data and provide specialized analysis.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7459980" y="3741423"/>
            <a:ext cx="4191000" cy="800100"/>
          </a:xfrm>
          <a:custGeom>
            <a:avLst/>
            <a:gdLst/>
            <a:ahLst/>
            <a:cxnLst/>
            <a:rect l="l" t="t" r="r" b="b"/>
            <a:pathLst>
              <a:path w="4191000" h="800100">
                <a:moveTo>
                  <a:pt x="76202" y="0"/>
                </a:moveTo>
                <a:lnTo>
                  <a:pt x="4114798" y="0"/>
                </a:lnTo>
                <a:cubicBezTo>
                  <a:pt x="4156883" y="0"/>
                  <a:pt x="4191000" y="34117"/>
                  <a:pt x="4191000" y="76202"/>
                </a:cubicBezTo>
                <a:lnTo>
                  <a:pt x="4191000" y="723898"/>
                </a:lnTo>
                <a:cubicBezTo>
                  <a:pt x="4191000" y="765983"/>
                  <a:pt x="4156883" y="800100"/>
                  <a:pt x="41147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7" name="Shape 54"/>
          <p:cNvSpPr/>
          <p:nvPr/>
        </p:nvSpPr>
        <p:spPr>
          <a:xfrm>
            <a:off x="7574280" y="38557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2D3EE">
              <a:alpha val="30196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7540943" y="385572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7955280" y="3893823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Response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7574280" y="4236723"/>
            <a:ext cx="402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Coordinated action across all relevant city departments.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7303770" y="5322569"/>
            <a:ext cx="4503420" cy="1150620"/>
          </a:xfrm>
          <a:custGeom>
            <a:avLst/>
            <a:gdLst/>
            <a:ahLst/>
            <a:cxnLst/>
            <a:rect l="l" t="t" r="r" b="b"/>
            <a:pathLst>
              <a:path w="4503420" h="1150620">
                <a:moveTo>
                  <a:pt x="114303" y="0"/>
                </a:moveTo>
                <a:lnTo>
                  <a:pt x="4389117" y="0"/>
                </a:lnTo>
                <a:cubicBezTo>
                  <a:pt x="4452245" y="0"/>
                  <a:pt x="4503420" y="51175"/>
                  <a:pt x="4503420" y="114303"/>
                </a:cubicBezTo>
                <a:lnTo>
                  <a:pt x="4503420" y="1036317"/>
                </a:lnTo>
                <a:cubicBezTo>
                  <a:pt x="4503420" y="1099445"/>
                  <a:pt x="4452245" y="1150620"/>
                  <a:pt x="4389117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459980" y="5478782"/>
            <a:ext cx="427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7487364" y="588835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4" name="Text 61"/>
          <p:cNvSpPr/>
          <p:nvPr/>
        </p:nvSpPr>
        <p:spPr>
          <a:xfrm>
            <a:off x="7702868" y="5859782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Sub-second processing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9612630" y="58883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66" name="Text 63"/>
          <p:cNvSpPr/>
          <p:nvPr/>
        </p:nvSpPr>
        <p:spPr>
          <a:xfrm>
            <a:off x="9836468" y="5859782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sync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7487364" y="615505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43755" y="8334"/>
                </a:moveTo>
                <a:lnTo>
                  <a:pt x="6251" y="8334"/>
                </a:lnTo>
                <a:cubicBezTo>
                  <a:pt x="2787" y="8334"/>
                  <a:pt x="0" y="11121"/>
                  <a:pt x="0" y="14585"/>
                </a:cubicBezTo>
                <a:lnTo>
                  <a:pt x="0" y="52090"/>
                </a:lnTo>
                <a:cubicBezTo>
                  <a:pt x="0" y="54616"/>
                  <a:pt x="1511" y="56908"/>
                  <a:pt x="3855" y="57872"/>
                </a:cubicBezTo>
                <a:cubicBezTo>
                  <a:pt x="6199" y="58835"/>
                  <a:pt x="8881" y="58289"/>
                  <a:pt x="10678" y="56517"/>
                </a:cubicBezTo>
                <a:lnTo>
                  <a:pt x="21096" y="46100"/>
                </a:lnTo>
                <a:lnTo>
                  <a:pt x="41672" y="66675"/>
                </a:lnTo>
                <a:lnTo>
                  <a:pt x="21096" y="87250"/>
                </a:lnTo>
                <a:lnTo>
                  <a:pt x="10678" y="76833"/>
                </a:lnTo>
                <a:cubicBezTo>
                  <a:pt x="8881" y="75035"/>
                  <a:pt x="6199" y="74515"/>
                  <a:pt x="3855" y="75478"/>
                </a:cubicBezTo>
                <a:cubicBezTo>
                  <a:pt x="1511" y="76442"/>
                  <a:pt x="0" y="78734"/>
                  <a:pt x="0" y="81260"/>
                </a:cubicBezTo>
                <a:lnTo>
                  <a:pt x="0" y="118765"/>
                </a:lnTo>
                <a:cubicBezTo>
                  <a:pt x="0" y="122229"/>
                  <a:pt x="2787" y="125016"/>
                  <a:pt x="6251" y="125016"/>
                </a:cubicBezTo>
                <a:lnTo>
                  <a:pt x="43755" y="125016"/>
                </a:lnTo>
                <a:cubicBezTo>
                  <a:pt x="46282" y="125016"/>
                  <a:pt x="48574" y="123505"/>
                  <a:pt x="49537" y="121161"/>
                </a:cubicBezTo>
                <a:cubicBezTo>
                  <a:pt x="50501" y="118817"/>
                  <a:pt x="49980" y="116134"/>
                  <a:pt x="48183" y="114337"/>
                </a:cubicBezTo>
                <a:lnTo>
                  <a:pt x="37765" y="103919"/>
                </a:lnTo>
                <a:lnTo>
                  <a:pt x="58341" y="83344"/>
                </a:lnTo>
                <a:lnTo>
                  <a:pt x="78916" y="103919"/>
                </a:lnTo>
                <a:lnTo>
                  <a:pt x="68498" y="114337"/>
                </a:lnTo>
                <a:cubicBezTo>
                  <a:pt x="66701" y="116134"/>
                  <a:pt x="66180" y="118817"/>
                  <a:pt x="67144" y="121161"/>
                </a:cubicBezTo>
                <a:cubicBezTo>
                  <a:pt x="68107" y="123505"/>
                  <a:pt x="70399" y="125016"/>
                  <a:pt x="72926" y="125016"/>
                </a:cubicBezTo>
                <a:lnTo>
                  <a:pt x="110430" y="125016"/>
                </a:lnTo>
                <a:cubicBezTo>
                  <a:pt x="113894" y="125016"/>
                  <a:pt x="116681" y="122229"/>
                  <a:pt x="116681" y="118765"/>
                </a:cubicBezTo>
                <a:lnTo>
                  <a:pt x="116681" y="81260"/>
                </a:lnTo>
                <a:cubicBezTo>
                  <a:pt x="116681" y="78734"/>
                  <a:pt x="115171" y="76442"/>
                  <a:pt x="112827" y="75478"/>
                </a:cubicBezTo>
                <a:cubicBezTo>
                  <a:pt x="110483" y="74515"/>
                  <a:pt x="107800" y="75035"/>
                  <a:pt x="106003" y="76833"/>
                </a:cubicBezTo>
                <a:lnTo>
                  <a:pt x="95585" y="87250"/>
                </a:lnTo>
                <a:lnTo>
                  <a:pt x="75009" y="66675"/>
                </a:lnTo>
                <a:lnTo>
                  <a:pt x="95585" y="46100"/>
                </a:lnTo>
                <a:lnTo>
                  <a:pt x="106003" y="56517"/>
                </a:lnTo>
                <a:cubicBezTo>
                  <a:pt x="107800" y="58315"/>
                  <a:pt x="110483" y="58835"/>
                  <a:pt x="112827" y="57872"/>
                </a:cubicBezTo>
                <a:cubicBezTo>
                  <a:pt x="115171" y="56908"/>
                  <a:pt x="116681" y="54616"/>
                  <a:pt x="116681" y="52090"/>
                </a:cubicBezTo>
                <a:lnTo>
                  <a:pt x="116681" y="14585"/>
                </a:lnTo>
                <a:cubicBezTo>
                  <a:pt x="116681" y="11121"/>
                  <a:pt x="113894" y="8334"/>
                  <a:pt x="110430" y="8334"/>
                </a:cubicBezTo>
                <a:lnTo>
                  <a:pt x="72926" y="8334"/>
                </a:lnTo>
                <a:cubicBezTo>
                  <a:pt x="70399" y="8334"/>
                  <a:pt x="68107" y="9845"/>
                  <a:pt x="67144" y="12189"/>
                </a:cubicBezTo>
                <a:cubicBezTo>
                  <a:pt x="66180" y="14533"/>
                  <a:pt x="66727" y="17216"/>
                  <a:pt x="68498" y="19013"/>
                </a:cubicBezTo>
                <a:lnTo>
                  <a:pt x="78916" y="29431"/>
                </a:lnTo>
                <a:lnTo>
                  <a:pt x="58341" y="50006"/>
                </a:lnTo>
                <a:lnTo>
                  <a:pt x="37765" y="29431"/>
                </a:lnTo>
                <a:lnTo>
                  <a:pt x="48183" y="19013"/>
                </a:lnTo>
                <a:cubicBezTo>
                  <a:pt x="49980" y="17216"/>
                  <a:pt x="50501" y="14533"/>
                  <a:pt x="49537" y="12189"/>
                </a:cubicBezTo>
                <a:cubicBezTo>
                  <a:pt x="48574" y="9845"/>
                  <a:pt x="46282" y="8334"/>
                  <a:pt x="43755" y="833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8" name="Text 65"/>
          <p:cNvSpPr/>
          <p:nvPr/>
        </p:nvSpPr>
        <p:spPr>
          <a:xfrm>
            <a:off x="7702868" y="6126482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Horizontal scaling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9612630" y="61550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0" name="Text 67"/>
          <p:cNvSpPr/>
          <p:nvPr/>
        </p:nvSpPr>
        <p:spPr>
          <a:xfrm>
            <a:off x="9836468" y="6126482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Fault tolerance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FEATURE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Officer Feed: Real-Time Command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375410"/>
            <a:ext cx="6198870" cy="2331720"/>
          </a:xfrm>
          <a:custGeom>
            <a:avLst/>
            <a:gdLst/>
            <a:ahLst/>
            <a:cxnLst/>
            <a:rect l="l" t="t" r="r" b="b"/>
            <a:pathLst>
              <a:path w="6198870" h="2331720">
                <a:moveTo>
                  <a:pt x="114301" y="0"/>
                </a:moveTo>
                <a:lnTo>
                  <a:pt x="6084569" y="0"/>
                </a:lnTo>
                <a:cubicBezTo>
                  <a:pt x="6147696" y="0"/>
                  <a:pt x="6198870" y="51174"/>
                  <a:pt x="6198870" y="114301"/>
                </a:cubicBezTo>
                <a:lnTo>
                  <a:pt x="6198870" y="2217419"/>
                </a:lnTo>
                <a:cubicBezTo>
                  <a:pt x="6198870" y="2280546"/>
                  <a:pt x="6147696" y="2331720"/>
                  <a:pt x="6084569" y="2331720"/>
                </a:cubicBezTo>
                <a:lnTo>
                  <a:pt x="114301" y="2331720"/>
                </a:lnTo>
                <a:cubicBezTo>
                  <a:pt x="51174" y="2331720"/>
                  <a:pt x="0" y="2280546"/>
                  <a:pt x="0" y="22174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4832" y="15697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9145" y="1531623"/>
            <a:ext cx="574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912623"/>
            <a:ext cx="5962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Officer Feed is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command interface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police officers review citizen-submitted reports, analyze AI-extracted vehicle data, and award civic credits—building trust between law enforcement and communities.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4830" y="2773683"/>
            <a:ext cx="1903095" cy="769620"/>
          </a:xfrm>
          <a:custGeom>
            <a:avLst/>
            <a:gdLst/>
            <a:ahLst/>
            <a:cxnLst/>
            <a:rect l="l" t="t" r="r" b="b"/>
            <a:pathLst>
              <a:path w="1903095" h="769620">
                <a:moveTo>
                  <a:pt x="76200" y="0"/>
                </a:moveTo>
                <a:lnTo>
                  <a:pt x="1826895" y="0"/>
                </a:lnTo>
                <a:cubicBezTo>
                  <a:pt x="1868979" y="0"/>
                  <a:pt x="1903095" y="34116"/>
                  <a:pt x="1903095" y="76200"/>
                </a:cubicBezTo>
                <a:lnTo>
                  <a:pt x="1903095" y="693420"/>
                </a:lnTo>
                <a:cubicBezTo>
                  <a:pt x="1903095" y="735504"/>
                  <a:pt x="1868979" y="769620"/>
                  <a:pt x="1826895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7433" y="285369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42863"/>
                </a:moveTo>
                <a:cubicBezTo>
                  <a:pt x="42863" y="27102"/>
                  <a:pt x="55677" y="14288"/>
                  <a:pt x="71438" y="14288"/>
                </a:cubicBezTo>
                <a:lnTo>
                  <a:pt x="214313" y="14288"/>
                </a:lnTo>
                <a:cubicBezTo>
                  <a:pt x="230073" y="14288"/>
                  <a:pt x="242888" y="27102"/>
                  <a:pt x="242888" y="42863"/>
                </a:cubicBezTo>
                <a:lnTo>
                  <a:pt x="242888" y="157163"/>
                </a:lnTo>
                <a:cubicBezTo>
                  <a:pt x="242888" y="172923"/>
                  <a:pt x="230073" y="185738"/>
                  <a:pt x="214313" y="185738"/>
                </a:cubicBezTo>
                <a:lnTo>
                  <a:pt x="71438" y="185738"/>
                </a:lnTo>
                <a:cubicBezTo>
                  <a:pt x="55677" y="185738"/>
                  <a:pt x="42863" y="172923"/>
                  <a:pt x="42863" y="157163"/>
                </a:cubicBezTo>
                <a:lnTo>
                  <a:pt x="42863" y="42863"/>
                </a:lnTo>
                <a:close/>
                <a:moveTo>
                  <a:pt x="10716" y="57150"/>
                </a:moveTo>
                <a:cubicBezTo>
                  <a:pt x="16654" y="57150"/>
                  <a:pt x="21431" y="61927"/>
                  <a:pt x="21431" y="67866"/>
                </a:cubicBezTo>
                <a:lnTo>
                  <a:pt x="21431" y="200025"/>
                </a:lnTo>
                <a:cubicBezTo>
                  <a:pt x="21431" y="203954"/>
                  <a:pt x="24646" y="207169"/>
                  <a:pt x="28575" y="207169"/>
                </a:cubicBezTo>
                <a:lnTo>
                  <a:pt x="189309" y="207169"/>
                </a:lnTo>
                <a:cubicBezTo>
                  <a:pt x="195248" y="207169"/>
                  <a:pt x="200025" y="211946"/>
                  <a:pt x="200025" y="217884"/>
                </a:cubicBezTo>
                <a:cubicBezTo>
                  <a:pt x="200025" y="223823"/>
                  <a:pt x="195248" y="228600"/>
                  <a:pt x="189309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67866"/>
                </a:lnTo>
                <a:cubicBezTo>
                  <a:pt x="0" y="61927"/>
                  <a:pt x="4777" y="57150"/>
                  <a:pt x="10716" y="57150"/>
                </a:cubicBezTo>
                <a:close/>
                <a:moveTo>
                  <a:pt x="85725" y="71438"/>
                </a:moveTo>
                <a:cubicBezTo>
                  <a:pt x="93610" y="71438"/>
                  <a:pt x="100013" y="65035"/>
                  <a:pt x="100013" y="57150"/>
                </a:cubicBezTo>
                <a:cubicBezTo>
                  <a:pt x="100013" y="49265"/>
                  <a:pt x="93610" y="42863"/>
                  <a:pt x="85725" y="42863"/>
                </a:cubicBezTo>
                <a:cubicBezTo>
                  <a:pt x="77840" y="42863"/>
                  <a:pt x="71438" y="49265"/>
                  <a:pt x="71438" y="57150"/>
                </a:cubicBezTo>
                <a:cubicBezTo>
                  <a:pt x="71438" y="65035"/>
                  <a:pt x="77840" y="71438"/>
                  <a:pt x="85725" y="71438"/>
                </a:cubicBezTo>
                <a:close/>
                <a:moveTo>
                  <a:pt x="173459" y="76572"/>
                </a:moveTo>
                <a:cubicBezTo>
                  <a:pt x="171495" y="73402"/>
                  <a:pt x="168057" y="71438"/>
                  <a:pt x="164306" y="71438"/>
                </a:cubicBezTo>
                <a:cubicBezTo>
                  <a:pt x="160556" y="71438"/>
                  <a:pt x="157118" y="73402"/>
                  <a:pt x="155153" y="76572"/>
                </a:cubicBezTo>
                <a:lnTo>
                  <a:pt x="130016" y="117693"/>
                </a:lnTo>
                <a:lnTo>
                  <a:pt x="119077" y="104031"/>
                </a:lnTo>
                <a:cubicBezTo>
                  <a:pt x="117024" y="101486"/>
                  <a:pt x="113987" y="100013"/>
                  <a:pt x="110728" y="100013"/>
                </a:cubicBezTo>
                <a:cubicBezTo>
                  <a:pt x="107469" y="100013"/>
                  <a:pt x="104388" y="101486"/>
                  <a:pt x="102379" y="104031"/>
                </a:cubicBezTo>
                <a:lnTo>
                  <a:pt x="73804" y="139750"/>
                </a:lnTo>
                <a:cubicBezTo>
                  <a:pt x="71214" y="142964"/>
                  <a:pt x="70723" y="147384"/>
                  <a:pt x="72509" y="151090"/>
                </a:cubicBezTo>
                <a:cubicBezTo>
                  <a:pt x="74295" y="154796"/>
                  <a:pt x="78045" y="157163"/>
                  <a:pt x="82153" y="157163"/>
                </a:cubicBezTo>
                <a:lnTo>
                  <a:pt x="203597" y="157163"/>
                </a:lnTo>
                <a:cubicBezTo>
                  <a:pt x="207481" y="157163"/>
                  <a:pt x="211053" y="155064"/>
                  <a:pt x="212928" y="151671"/>
                </a:cubicBezTo>
                <a:cubicBezTo>
                  <a:pt x="214804" y="148277"/>
                  <a:pt x="214759" y="144170"/>
                  <a:pt x="212705" y="140821"/>
                </a:cubicBezTo>
                <a:lnTo>
                  <a:pt x="173415" y="76527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91502" y="3120391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Review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265" y="3310891"/>
            <a:ext cx="1800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 reports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31031" y="2773683"/>
            <a:ext cx="1903095" cy="769620"/>
          </a:xfrm>
          <a:custGeom>
            <a:avLst/>
            <a:gdLst/>
            <a:ahLst/>
            <a:cxnLst/>
            <a:rect l="l" t="t" r="r" b="b"/>
            <a:pathLst>
              <a:path w="1903095" h="769620">
                <a:moveTo>
                  <a:pt x="76200" y="0"/>
                </a:moveTo>
                <a:lnTo>
                  <a:pt x="1826895" y="0"/>
                </a:lnTo>
                <a:cubicBezTo>
                  <a:pt x="1868979" y="0"/>
                  <a:pt x="1903095" y="34116"/>
                  <a:pt x="1903095" y="76200"/>
                </a:cubicBezTo>
                <a:lnTo>
                  <a:pt x="1903095" y="693420"/>
                </a:lnTo>
                <a:cubicBezTo>
                  <a:pt x="1903095" y="735504"/>
                  <a:pt x="1868979" y="769620"/>
                  <a:pt x="1826895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7921" y="28536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0365" y="52417"/>
                </a:moveTo>
                <a:lnTo>
                  <a:pt x="48711" y="85725"/>
                </a:lnTo>
                <a:lnTo>
                  <a:pt x="179889" y="85725"/>
                </a:lnTo>
                <a:lnTo>
                  <a:pt x="168235" y="52417"/>
                </a:lnTo>
                <a:cubicBezTo>
                  <a:pt x="166226" y="46702"/>
                  <a:pt x="160824" y="42863"/>
                  <a:pt x="154751" y="42863"/>
                </a:cubicBezTo>
                <a:lnTo>
                  <a:pt x="73849" y="42863"/>
                </a:lnTo>
                <a:cubicBezTo>
                  <a:pt x="67776" y="42863"/>
                  <a:pt x="62374" y="46702"/>
                  <a:pt x="60365" y="52417"/>
                </a:cubicBezTo>
                <a:close/>
                <a:moveTo>
                  <a:pt x="17681" y="87868"/>
                </a:moveTo>
                <a:lnTo>
                  <a:pt x="33397" y="42996"/>
                </a:lnTo>
                <a:cubicBezTo>
                  <a:pt x="39425" y="25807"/>
                  <a:pt x="55632" y="14288"/>
                  <a:pt x="73849" y="14288"/>
                </a:cubicBezTo>
                <a:lnTo>
                  <a:pt x="154751" y="14288"/>
                </a:lnTo>
                <a:cubicBezTo>
                  <a:pt x="172968" y="14288"/>
                  <a:pt x="189175" y="25807"/>
                  <a:pt x="195203" y="42996"/>
                </a:cubicBezTo>
                <a:lnTo>
                  <a:pt x="210919" y="87868"/>
                </a:lnTo>
                <a:cubicBezTo>
                  <a:pt x="221278" y="92154"/>
                  <a:pt x="228600" y="102379"/>
                  <a:pt x="228600" y="11430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200025" y="214313"/>
                </a:lnTo>
                <a:cubicBezTo>
                  <a:pt x="192122" y="214313"/>
                  <a:pt x="185738" y="207928"/>
                  <a:pt x="185738" y="200025"/>
                </a:cubicBezTo>
                <a:lnTo>
                  <a:pt x="185738" y="185738"/>
                </a:lnTo>
                <a:lnTo>
                  <a:pt x="42863" y="185738"/>
                </a:lnTo>
                <a:lnTo>
                  <a:pt x="42863" y="200025"/>
                </a:lnTo>
                <a:cubicBezTo>
                  <a:pt x="42863" y="207928"/>
                  <a:pt x="36478" y="214313"/>
                  <a:pt x="28575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14300"/>
                </a:lnTo>
                <a:cubicBezTo>
                  <a:pt x="0" y="102379"/>
                  <a:pt x="7322" y="92154"/>
                  <a:pt x="17681" y="87868"/>
                </a:cubicBezTo>
                <a:close/>
                <a:moveTo>
                  <a:pt x="57150" y="135731"/>
                </a:moveTo>
                <a:cubicBezTo>
                  <a:pt x="57150" y="127846"/>
                  <a:pt x="50748" y="121444"/>
                  <a:pt x="42863" y="121444"/>
                </a:cubicBezTo>
                <a:cubicBezTo>
                  <a:pt x="34977" y="121444"/>
                  <a:pt x="28575" y="127846"/>
                  <a:pt x="28575" y="135731"/>
                </a:cubicBezTo>
                <a:cubicBezTo>
                  <a:pt x="28575" y="143617"/>
                  <a:pt x="34977" y="150019"/>
                  <a:pt x="42863" y="150019"/>
                </a:cubicBezTo>
                <a:cubicBezTo>
                  <a:pt x="50748" y="150019"/>
                  <a:pt x="57150" y="143617"/>
                  <a:pt x="57150" y="135731"/>
                </a:cubicBezTo>
                <a:close/>
                <a:moveTo>
                  <a:pt x="185738" y="150019"/>
                </a:moveTo>
                <a:cubicBezTo>
                  <a:pt x="193623" y="150019"/>
                  <a:pt x="200025" y="143617"/>
                  <a:pt x="200025" y="135731"/>
                </a:cubicBezTo>
                <a:cubicBezTo>
                  <a:pt x="200025" y="127846"/>
                  <a:pt x="193623" y="121444"/>
                  <a:pt x="185738" y="121444"/>
                </a:cubicBezTo>
                <a:cubicBezTo>
                  <a:pt x="177852" y="121444"/>
                  <a:pt x="171450" y="127846"/>
                  <a:pt x="171450" y="135731"/>
                </a:cubicBezTo>
                <a:cubicBezTo>
                  <a:pt x="171450" y="143617"/>
                  <a:pt x="177852" y="150019"/>
                  <a:pt x="185738" y="15001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577703" y="3120391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Vehicle 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82466" y="3310891"/>
            <a:ext cx="1800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extraction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17350" y="2773683"/>
            <a:ext cx="1903095" cy="769620"/>
          </a:xfrm>
          <a:custGeom>
            <a:avLst/>
            <a:gdLst/>
            <a:ahLst/>
            <a:cxnLst/>
            <a:rect l="l" t="t" r="r" b="b"/>
            <a:pathLst>
              <a:path w="1903095" h="769620">
                <a:moveTo>
                  <a:pt x="76200" y="0"/>
                </a:moveTo>
                <a:lnTo>
                  <a:pt x="1826895" y="0"/>
                </a:lnTo>
                <a:cubicBezTo>
                  <a:pt x="1868979" y="0"/>
                  <a:pt x="1903095" y="34116"/>
                  <a:pt x="1903095" y="76200"/>
                </a:cubicBezTo>
                <a:lnTo>
                  <a:pt x="1903095" y="693420"/>
                </a:lnTo>
                <a:cubicBezTo>
                  <a:pt x="1903095" y="735504"/>
                  <a:pt x="1868979" y="769620"/>
                  <a:pt x="1826895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68528" y="285369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9791" y="-11564"/>
                </a:moveTo>
                <a:cubicBezTo>
                  <a:pt x="103808" y="-15225"/>
                  <a:pt x="96262" y="-15225"/>
                  <a:pt x="90279" y="-11564"/>
                </a:cubicBezTo>
                <a:cubicBezTo>
                  <a:pt x="79385" y="-4911"/>
                  <a:pt x="72643" y="-3125"/>
                  <a:pt x="59874" y="-3393"/>
                </a:cubicBezTo>
                <a:cubicBezTo>
                  <a:pt x="52864" y="-3572"/>
                  <a:pt x="46345" y="223"/>
                  <a:pt x="42952" y="6385"/>
                </a:cubicBezTo>
                <a:cubicBezTo>
                  <a:pt x="36835" y="17591"/>
                  <a:pt x="31879" y="22547"/>
                  <a:pt x="20672" y="28664"/>
                </a:cubicBezTo>
                <a:cubicBezTo>
                  <a:pt x="14511" y="32013"/>
                  <a:pt x="10760" y="38576"/>
                  <a:pt x="10894" y="45586"/>
                </a:cubicBezTo>
                <a:cubicBezTo>
                  <a:pt x="11207" y="58356"/>
                  <a:pt x="9376" y="65097"/>
                  <a:pt x="2724" y="75992"/>
                </a:cubicBezTo>
                <a:cubicBezTo>
                  <a:pt x="-938" y="81975"/>
                  <a:pt x="-938" y="89520"/>
                  <a:pt x="2724" y="95503"/>
                </a:cubicBezTo>
                <a:cubicBezTo>
                  <a:pt x="9376" y="106397"/>
                  <a:pt x="11162" y="113139"/>
                  <a:pt x="10894" y="125909"/>
                </a:cubicBezTo>
                <a:cubicBezTo>
                  <a:pt x="10716" y="132918"/>
                  <a:pt x="14511" y="139437"/>
                  <a:pt x="20672" y="142830"/>
                </a:cubicBezTo>
                <a:cubicBezTo>
                  <a:pt x="30540" y="148233"/>
                  <a:pt x="35540" y="152698"/>
                  <a:pt x="40809" y="161359"/>
                </a:cubicBezTo>
                <a:lnTo>
                  <a:pt x="19065" y="204713"/>
                </a:lnTo>
                <a:cubicBezTo>
                  <a:pt x="16431" y="210026"/>
                  <a:pt x="18574" y="216456"/>
                  <a:pt x="23842" y="219090"/>
                </a:cubicBezTo>
                <a:lnTo>
                  <a:pt x="62240" y="238289"/>
                </a:lnTo>
                <a:cubicBezTo>
                  <a:pt x="67374" y="240834"/>
                  <a:pt x="73625" y="238914"/>
                  <a:pt x="76393" y="233913"/>
                </a:cubicBezTo>
                <a:lnTo>
                  <a:pt x="99968" y="191453"/>
                </a:lnTo>
                <a:lnTo>
                  <a:pt x="123542" y="233913"/>
                </a:lnTo>
                <a:cubicBezTo>
                  <a:pt x="126310" y="238914"/>
                  <a:pt x="132561" y="240878"/>
                  <a:pt x="137696" y="238289"/>
                </a:cubicBezTo>
                <a:lnTo>
                  <a:pt x="176093" y="219090"/>
                </a:lnTo>
                <a:cubicBezTo>
                  <a:pt x="181407" y="216456"/>
                  <a:pt x="183550" y="210026"/>
                  <a:pt x="180871" y="204713"/>
                </a:cubicBezTo>
                <a:lnTo>
                  <a:pt x="159172" y="161315"/>
                </a:lnTo>
                <a:cubicBezTo>
                  <a:pt x="164396" y="152653"/>
                  <a:pt x="169441" y="148188"/>
                  <a:pt x="179308" y="142786"/>
                </a:cubicBezTo>
                <a:cubicBezTo>
                  <a:pt x="185470" y="139437"/>
                  <a:pt x="189220" y="132874"/>
                  <a:pt x="189086" y="125864"/>
                </a:cubicBezTo>
                <a:cubicBezTo>
                  <a:pt x="188774" y="113094"/>
                  <a:pt x="190604" y="106353"/>
                  <a:pt x="197257" y="95458"/>
                </a:cubicBezTo>
                <a:cubicBezTo>
                  <a:pt x="200918" y="89475"/>
                  <a:pt x="200918" y="81930"/>
                  <a:pt x="197257" y="75947"/>
                </a:cubicBezTo>
                <a:cubicBezTo>
                  <a:pt x="190604" y="65053"/>
                  <a:pt x="188818" y="58311"/>
                  <a:pt x="189086" y="45541"/>
                </a:cubicBezTo>
                <a:cubicBezTo>
                  <a:pt x="189265" y="38532"/>
                  <a:pt x="185470" y="32013"/>
                  <a:pt x="179308" y="28620"/>
                </a:cubicBezTo>
                <a:cubicBezTo>
                  <a:pt x="168101" y="22503"/>
                  <a:pt x="163145" y="17547"/>
                  <a:pt x="157029" y="6340"/>
                </a:cubicBezTo>
                <a:cubicBezTo>
                  <a:pt x="153680" y="179"/>
                  <a:pt x="147117" y="-3572"/>
                  <a:pt x="140107" y="-3438"/>
                </a:cubicBezTo>
                <a:cubicBezTo>
                  <a:pt x="127337" y="-3125"/>
                  <a:pt x="120595" y="-4956"/>
                  <a:pt x="109701" y="-11609"/>
                </a:cubicBezTo>
                <a:close/>
                <a:moveTo>
                  <a:pt x="100013" y="42863"/>
                </a:moveTo>
                <a:cubicBezTo>
                  <a:pt x="123669" y="42863"/>
                  <a:pt x="142875" y="62069"/>
                  <a:pt x="142875" y="85725"/>
                </a:cubicBezTo>
                <a:cubicBezTo>
                  <a:pt x="142875" y="109381"/>
                  <a:pt x="123669" y="128588"/>
                  <a:pt x="100013" y="128588"/>
                </a:cubicBezTo>
                <a:cubicBezTo>
                  <a:pt x="76356" y="128588"/>
                  <a:pt x="57150" y="109381"/>
                  <a:pt x="57150" y="85725"/>
                </a:cubicBezTo>
                <a:cubicBezTo>
                  <a:pt x="57150" y="62069"/>
                  <a:pt x="76356" y="42863"/>
                  <a:pt x="100012" y="4286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4564023" y="3120391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 Awards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68785" y="3310891"/>
            <a:ext cx="1800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trust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810" y="3825121"/>
            <a:ext cx="3036570" cy="2836545"/>
          </a:xfrm>
          <a:custGeom>
            <a:avLst/>
            <a:gdLst/>
            <a:ahLst/>
            <a:cxnLst/>
            <a:rect l="l" t="t" r="r" b="b"/>
            <a:pathLst>
              <a:path w="3036570" h="2836545">
                <a:moveTo>
                  <a:pt x="114313" y="0"/>
                </a:moveTo>
                <a:lnTo>
                  <a:pt x="2922257" y="0"/>
                </a:lnTo>
                <a:cubicBezTo>
                  <a:pt x="2985390" y="0"/>
                  <a:pt x="3036570" y="51180"/>
                  <a:pt x="3036570" y="114313"/>
                </a:cubicBezTo>
                <a:lnTo>
                  <a:pt x="3036570" y="2722232"/>
                </a:lnTo>
                <a:cubicBezTo>
                  <a:pt x="3036570" y="2785365"/>
                  <a:pt x="2985390" y="2836545"/>
                  <a:pt x="2922257" y="2836545"/>
                </a:cubicBezTo>
                <a:lnTo>
                  <a:pt x="114313" y="2836545"/>
                </a:lnTo>
                <a:cubicBezTo>
                  <a:pt x="51180" y="2836545"/>
                  <a:pt x="0" y="2785365"/>
                  <a:pt x="0" y="2722232"/>
                </a:cubicBezTo>
                <a:lnTo>
                  <a:pt x="0" y="114313"/>
                </a:lnTo>
                <a:cubicBezTo>
                  <a:pt x="0" y="51180"/>
                  <a:pt x="51180" y="0"/>
                  <a:pt x="114313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4832" y="40194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5476" y="24110"/>
                </a:moveTo>
                <a:lnTo>
                  <a:pt x="51606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8894" y="35719"/>
                </a:lnTo>
                <a:lnTo>
                  <a:pt x="135024" y="24110"/>
                </a:lnTo>
                <a:cubicBezTo>
                  <a:pt x="132606" y="16818"/>
                  <a:pt x="125797" y="11906"/>
                  <a:pt x="118095" y="11906"/>
                </a:cubicBezTo>
                <a:lnTo>
                  <a:pt x="72405" y="11906"/>
                </a:lnTo>
                <a:cubicBezTo>
                  <a:pt x="64703" y="11906"/>
                  <a:pt x="57894" y="16818"/>
                  <a:pt x="55476" y="24110"/>
                </a:cubicBezTo>
                <a:close/>
                <a:moveTo>
                  <a:pt x="95250" y="71438"/>
                </a:moveTo>
                <a:cubicBezTo>
                  <a:pt x="114964" y="71438"/>
                  <a:pt x="130969" y="87443"/>
                  <a:pt x="130969" y="107156"/>
                </a:cubicBezTo>
                <a:cubicBezTo>
                  <a:pt x="130969" y="126870"/>
                  <a:pt x="114964" y="142875"/>
                  <a:pt x="95250" y="142875"/>
                </a:cubicBezTo>
                <a:cubicBezTo>
                  <a:pt x="75536" y="142875"/>
                  <a:pt x="59531" y="126870"/>
                  <a:pt x="59531" y="107156"/>
                </a:cubicBezTo>
                <a:cubicBezTo>
                  <a:pt x="59531" y="87443"/>
                  <a:pt x="75536" y="71438"/>
                  <a:pt x="95250" y="71438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855345" y="3981334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Image Analysis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1020" y="43813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05314" y="443853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" y="4362334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processing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submitted images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1020" y="48385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05314" y="489573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845820" y="4819534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detection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vehicles and violations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1020" y="52957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5314" y="535293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" y="5276734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Geolocation tagging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GPS coordinates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543300" y="3825121"/>
            <a:ext cx="3036570" cy="2836545"/>
          </a:xfrm>
          <a:custGeom>
            <a:avLst/>
            <a:gdLst/>
            <a:ahLst/>
            <a:cxnLst/>
            <a:rect l="l" t="t" r="r" b="b"/>
            <a:pathLst>
              <a:path w="3036570" h="2836545">
                <a:moveTo>
                  <a:pt x="114313" y="0"/>
                </a:moveTo>
                <a:lnTo>
                  <a:pt x="2922257" y="0"/>
                </a:lnTo>
                <a:cubicBezTo>
                  <a:pt x="2985390" y="0"/>
                  <a:pt x="3036570" y="51180"/>
                  <a:pt x="3036570" y="114313"/>
                </a:cubicBezTo>
                <a:lnTo>
                  <a:pt x="3036570" y="2722232"/>
                </a:lnTo>
                <a:cubicBezTo>
                  <a:pt x="3036570" y="2785365"/>
                  <a:pt x="2985390" y="2836545"/>
                  <a:pt x="2922257" y="2836545"/>
                </a:cubicBezTo>
                <a:lnTo>
                  <a:pt x="114313" y="2836545"/>
                </a:lnTo>
                <a:cubicBezTo>
                  <a:pt x="51180" y="2836545"/>
                  <a:pt x="0" y="2785365"/>
                  <a:pt x="0" y="2722232"/>
                </a:cubicBezTo>
                <a:lnTo>
                  <a:pt x="0" y="114313"/>
                </a:lnTo>
                <a:cubicBezTo>
                  <a:pt x="0" y="51180"/>
                  <a:pt x="51180" y="0"/>
                  <a:pt x="114313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3322" y="40194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95250"/>
                </a:moveTo>
                <a:cubicBezTo>
                  <a:pt x="17859" y="52499"/>
                  <a:pt x="52499" y="17859"/>
                  <a:pt x="95250" y="17859"/>
                </a:cubicBezTo>
                <a:cubicBezTo>
                  <a:pt x="118728" y="17859"/>
                  <a:pt x="139750" y="28315"/>
                  <a:pt x="153963" y="44834"/>
                </a:cubicBezTo>
                <a:cubicBezTo>
                  <a:pt x="157163" y="48592"/>
                  <a:pt x="162818" y="49002"/>
                  <a:pt x="166539" y="45802"/>
                </a:cubicBezTo>
                <a:cubicBezTo>
                  <a:pt x="170259" y="42602"/>
                  <a:pt x="170706" y="36947"/>
                  <a:pt x="167506" y="33226"/>
                </a:cubicBezTo>
                <a:cubicBezTo>
                  <a:pt x="150056" y="12874"/>
                  <a:pt x="124160" y="0"/>
                  <a:pt x="95250" y="0"/>
                </a:cubicBezTo>
                <a:cubicBezTo>
                  <a:pt x="42639" y="0"/>
                  <a:pt x="0" y="42639"/>
                  <a:pt x="0" y="95250"/>
                </a:cubicBezTo>
                <a:lnTo>
                  <a:pt x="0" y="110133"/>
                </a:lnTo>
                <a:cubicBezTo>
                  <a:pt x="0" y="115081"/>
                  <a:pt x="3981" y="119063"/>
                  <a:pt x="8930" y="119063"/>
                </a:cubicBezTo>
                <a:cubicBezTo>
                  <a:pt x="13878" y="119063"/>
                  <a:pt x="17859" y="115081"/>
                  <a:pt x="17859" y="110133"/>
                </a:cubicBezTo>
                <a:lnTo>
                  <a:pt x="17859" y="95250"/>
                </a:lnTo>
                <a:close/>
                <a:moveTo>
                  <a:pt x="188454" y="75567"/>
                </a:moveTo>
                <a:cubicBezTo>
                  <a:pt x="187449" y="70731"/>
                  <a:pt x="182687" y="67642"/>
                  <a:pt x="177887" y="68684"/>
                </a:cubicBezTo>
                <a:cubicBezTo>
                  <a:pt x="173087" y="69726"/>
                  <a:pt x="169962" y="74451"/>
                  <a:pt x="171004" y="79251"/>
                </a:cubicBezTo>
                <a:cubicBezTo>
                  <a:pt x="172083" y="84423"/>
                  <a:pt x="172678" y="89781"/>
                  <a:pt x="172678" y="95287"/>
                </a:cubicBezTo>
                <a:lnTo>
                  <a:pt x="172678" y="110170"/>
                </a:lnTo>
                <a:cubicBezTo>
                  <a:pt x="172678" y="115119"/>
                  <a:pt x="176659" y="119100"/>
                  <a:pt x="181608" y="119100"/>
                </a:cubicBezTo>
                <a:cubicBezTo>
                  <a:pt x="186556" y="119100"/>
                  <a:pt x="190537" y="115119"/>
                  <a:pt x="190537" y="110170"/>
                </a:cubicBezTo>
                <a:lnTo>
                  <a:pt x="190537" y="95287"/>
                </a:lnTo>
                <a:cubicBezTo>
                  <a:pt x="190537" y="88553"/>
                  <a:pt x="189830" y="81967"/>
                  <a:pt x="188491" y="75605"/>
                </a:cubicBezTo>
                <a:close/>
                <a:moveTo>
                  <a:pt x="95250" y="29766"/>
                </a:moveTo>
                <a:cubicBezTo>
                  <a:pt x="88181" y="29766"/>
                  <a:pt x="81335" y="30882"/>
                  <a:pt x="74972" y="32965"/>
                </a:cubicBezTo>
                <a:cubicBezTo>
                  <a:pt x="69317" y="34826"/>
                  <a:pt x="68014" y="41783"/>
                  <a:pt x="71884" y="46323"/>
                </a:cubicBezTo>
                <a:cubicBezTo>
                  <a:pt x="74526" y="49411"/>
                  <a:pt x="78879" y="50341"/>
                  <a:pt x="82823" y="49262"/>
                </a:cubicBezTo>
                <a:cubicBezTo>
                  <a:pt x="86767" y="48183"/>
                  <a:pt x="90934" y="47625"/>
                  <a:pt x="95250" y="47625"/>
                </a:cubicBezTo>
                <a:cubicBezTo>
                  <a:pt x="121555" y="47625"/>
                  <a:pt x="142875" y="68945"/>
                  <a:pt x="142875" y="95250"/>
                </a:cubicBezTo>
                <a:lnTo>
                  <a:pt x="142875" y="104515"/>
                </a:lnTo>
                <a:cubicBezTo>
                  <a:pt x="142875" y="113891"/>
                  <a:pt x="142317" y="123230"/>
                  <a:pt x="141238" y="132531"/>
                </a:cubicBezTo>
                <a:cubicBezTo>
                  <a:pt x="140605" y="137964"/>
                  <a:pt x="144735" y="142875"/>
                  <a:pt x="150242" y="142875"/>
                </a:cubicBezTo>
                <a:cubicBezTo>
                  <a:pt x="154632" y="142875"/>
                  <a:pt x="158390" y="139675"/>
                  <a:pt x="158911" y="135322"/>
                </a:cubicBezTo>
                <a:cubicBezTo>
                  <a:pt x="160139" y="125127"/>
                  <a:pt x="160772" y="114858"/>
                  <a:pt x="160772" y="104552"/>
                </a:cubicBezTo>
                <a:lnTo>
                  <a:pt x="160772" y="95287"/>
                </a:lnTo>
                <a:cubicBezTo>
                  <a:pt x="160772" y="59122"/>
                  <a:pt x="131452" y="29803"/>
                  <a:pt x="95287" y="29803"/>
                </a:cubicBezTo>
                <a:close/>
                <a:moveTo>
                  <a:pt x="56071" y="55327"/>
                </a:moveTo>
                <a:cubicBezTo>
                  <a:pt x="52685" y="51383"/>
                  <a:pt x="46658" y="51085"/>
                  <a:pt x="43458" y="55178"/>
                </a:cubicBezTo>
                <a:cubicBezTo>
                  <a:pt x="34863" y="66266"/>
                  <a:pt x="29766" y="80144"/>
                  <a:pt x="29766" y="95250"/>
                </a:cubicBezTo>
                <a:lnTo>
                  <a:pt x="29766" y="104515"/>
                </a:lnTo>
                <a:cubicBezTo>
                  <a:pt x="29766" y="113519"/>
                  <a:pt x="28798" y="122523"/>
                  <a:pt x="26863" y="131266"/>
                </a:cubicBezTo>
                <a:cubicBezTo>
                  <a:pt x="25598" y="137071"/>
                  <a:pt x="29803" y="142838"/>
                  <a:pt x="35756" y="142838"/>
                </a:cubicBezTo>
                <a:cubicBezTo>
                  <a:pt x="39663" y="142838"/>
                  <a:pt x="43160" y="140233"/>
                  <a:pt x="44016" y="136401"/>
                </a:cubicBezTo>
                <a:cubicBezTo>
                  <a:pt x="46397" y="125946"/>
                  <a:pt x="47625" y="115267"/>
                  <a:pt x="47625" y="104477"/>
                </a:cubicBezTo>
                <a:lnTo>
                  <a:pt x="47625" y="95213"/>
                </a:lnTo>
                <a:cubicBezTo>
                  <a:pt x="47625" y="85092"/>
                  <a:pt x="50788" y="75716"/>
                  <a:pt x="56145" y="68014"/>
                </a:cubicBezTo>
                <a:cubicBezTo>
                  <a:pt x="58824" y="64145"/>
                  <a:pt x="59122" y="58862"/>
                  <a:pt x="56071" y="55290"/>
                </a:cubicBezTo>
                <a:close/>
                <a:moveTo>
                  <a:pt x="95250" y="59531"/>
                </a:moveTo>
                <a:cubicBezTo>
                  <a:pt x="75530" y="59531"/>
                  <a:pt x="59531" y="75530"/>
                  <a:pt x="59531" y="95250"/>
                </a:cubicBezTo>
                <a:lnTo>
                  <a:pt x="59531" y="104515"/>
                </a:lnTo>
                <a:cubicBezTo>
                  <a:pt x="59531" y="117872"/>
                  <a:pt x="57820" y="131118"/>
                  <a:pt x="54397" y="143991"/>
                </a:cubicBezTo>
                <a:cubicBezTo>
                  <a:pt x="52983" y="149312"/>
                  <a:pt x="56890" y="154781"/>
                  <a:pt x="62396" y="154781"/>
                </a:cubicBezTo>
                <a:cubicBezTo>
                  <a:pt x="65931" y="154781"/>
                  <a:pt x="69056" y="152474"/>
                  <a:pt x="69986" y="149051"/>
                </a:cubicBezTo>
                <a:cubicBezTo>
                  <a:pt x="73893" y="134541"/>
                  <a:pt x="75902" y="119583"/>
                  <a:pt x="75902" y="104515"/>
                </a:cubicBezTo>
                <a:lnTo>
                  <a:pt x="75902" y="95250"/>
                </a:lnTo>
                <a:cubicBezTo>
                  <a:pt x="75902" y="84572"/>
                  <a:pt x="84572" y="75902"/>
                  <a:pt x="95250" y="75902"/>
                </a:cubicBezTo>
                <a:cubicBezTo>
                  <a:pt x="105928" y="75902"/>
                  <a:pt x="114598" y="84572"/>
                  <a:pt x="114598" y="95250"/>
                </a:cubicBezTo>
                <a:lnTo>
                  <a:pt x="114598" y="104515"/>
                </a:lnTo>
                <a:cubicBezTo>
                  <a:pt x="114598" y="118021"/>
                  <a:pt x="113295" y="131452"/>
                  <a:pt x="110728" y="144661"/>
                </a:cubicBezTo>
                <a:cubicBezTo>
                  <a:pt x="109724" y="149833"/>
                  <a:pt x="113593" y="154781"/>
                  <a:pt x="118839" y="154781"/>
                </a:cubicBezTo>
                <a:cubicBezTo>
                  <a:pt x="122634" y="154781"/>
                  <a:pt x="125909" y="152177"/>
                  <a:pt x="126653" y="148456"/>
                </a:cubicBezTo>
                <a:cubicBezTo>
                  <a:pt x="129518" y="134020"/>
                  <a:pt x="130969" y="119323"/>
                  <a:pt x="130969" y="104515"/>
                </a:cubicBezTo>
                <a:lnTo>
                  <a:pt x="130969" y="95250"/>
                </a:lnTo>
                <a:cubicBezTo>
                  <a:pt x="130969" y="75530"/>
                  <a:pt x="114970" y="59531"/>
                  <a:pt x="95250" y="59531"/>
                </a:cubicBezTo>
                <a:close/>
                <a:moveTo>
                  <a:pt x="104180" y="95250"/>
                </a:moveTo>
                <a:cubicBezTo>
                  <a:pt x="104180" y="90301"/>
                  <a:pt x="100199" y="86320"/>
                  <a:pt x="95250" y="86320"/>
                </a:cubicBezTo>
                <a:cubicBezTo>
                  <a:pt x="90301" y="86320"/>
                  <a:pt x="86320" y="90301"/>
                  <a:pt x="86320" y="95250"/>
                </a:cubicBezTo>
                <a:lnTo>
                  <a:pt x="86320" y="104515"/>
                </a:lnTo>
                <a:cubicBezTo>
                  <a:pt x="86320" y="126802"/>
                  <a:pt x="82228" y="148903"/>
                  <a:pt x="74228" y="169701"/>
                </a:cubicBezTo>
                <a:lnTo>
                  <a:pt x="72033" y="175394"/>
                </a:lnTo>
                <a:cubicBezTo>
                  <a:pt x="70247" y="180008"/>
                  <a:pt x="72554" y="185179"/>
                  <a:pt x="77167" y="186928"/>
                </a:cubicBezTo>
                <a:cubicBezTo>
                  <a:pt x="81781" y="188677"/>
                  <a:pt x="86953" y="186407"/>
                  <a:pt x="88702" y="181794"/>
                </a:cubicBezTo>
                <a:lnTo>
                  <a:pt x="90897" y="176101"/>
                </a:lnTo>
                <a:cubicBezTo>
                  <a:pt x="99678" y="153256"/>
                  <a:pt x="104180" y="128997"/>
                  <a:pt x="104180" y="104515"/>
                </a:cubicBezTo>
                <a:lnTo>
                  <a:pt x="104180" y="9525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4013835" y="3981334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 Forensics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99510" y="43813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763804" y="443853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4004310" y="4362334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Plate Number: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OCR extraction with 95%+ accuracy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699510" y="48385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763804" y="489573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4004310" y="4819534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 Recognition: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50+ vehicle makes identified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699510" y="52957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763804" y="535293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4" name="Text 42"/>
          <p:cNvSpPr/>
          <p:nvPr/>
        </p:nvSpPr>
        <p:spPr>
          <a:xfrm>
            <a:off x="4004310" y="5276734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 Detection: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Automated color classification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739890" y="1375410"/>
            <a:ext cx="5065395" cy="3855720"/>
          </a:xfrm>
          <a:custGeom>
            <a:avLst/>
            <a:gdLst/>
            <a:ahLst/>
            <a:cxnLst/>
            <a:rect l="l" t="t" r="r" b="b"/>
            <a:pathLst>
              <a:path w="5065395" h="3855720">
                <a:moveTo>
                  <a:pt x="114284" y="0"/>
                </a:moveTo>
                <a:lnTo>
                  <a:pt x="4951111" y="0"/>
                </a:lnTo>
                <a:cubicBezTo>
                  <a:pt x="5014229" y="0"/>
                  <a:pt x="5065395" y="51166"/>
                  <a:pt x="5065395" y="114284"/>
                </a:cubicBezTo>
                <a:lnTo>
                  <a:pt x="5065395" y="3741436"/>
                </a:lnTo>
                <a:cubicBezTo>
                  <a:pt x="5065395" y="3804554"/>
                  <a:pt x="5014229" y="3855720"/>
                  <a:pt x="4951111" y="3855720"/>
                </a:cubicBezTo>
                <a:lnTo>
                  <a:pt x="114284" y="3855720"/>
                </a:lnTo>
                <a:cubicBezTo>
                  <a:pt x="51166" y="3855720"/>
                  <a:pt x="0" y="3804554"/>
                  <a:pt x="0" y="3741436"/>
                </a:cubicBezTo>
                <a:lnTo>
                  <a:pt x="0" y="114284"/>
                </a:lnTo>
                <a:cubicBezTo>
                  <a:pt x="0" y="51166"/>
                  <a:pt x="51166" y="0"/>
                  <a:pt x="11428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819" y="156972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1492" y="-9637"/>
                </a:moveTo>
                <a:cubicBezTo>
                  <a:pt x="86506" y="-12688"/>
                  <a:pt x="80218" y="-12688"/>
                  <a:pt x="75233" y="-9637"/>
                </a:cubicBezTo>
                <a:cubicBezTo>
                  <a:pt x="66154" y="-4093"/>
                  <a:pt x="60536" y="-2604"/>
                  <a:pt x="49895" y="-2828"/>
                </a:cubicBezTo>
                <a:cubicBezTo>
                  <a:pt x="44053" y="-2977"/>
                  <a:pt x="38621" y="186"/>
                  <a:pt x="35793" y="5321"/>
                </a:cubicBezTo>
                <a:cubicBezTo>
                  <a:pt x="30696" y="14660"/>
                  <a:pt x="26566" y="18790"/>
                  <a:pt x="17227" y="23887"/>
                </a:cubicBezTo>
                <a:cubicBezTo>
                  <a:pt x="12092" y="26677"/>
                  <a:pt x="8967" y="32147"/>
                  <a:pt x="9079" y="37988"/>
                </a:cubicBezTo>
                <a:cubicBezTo>
                  <a:pt x="9339" y="48630"/>
                  <a:pt x="7813" y="54248"/>
                  <a:pt x="2270" y="63326"/>
                </a:cubicBezTo>
                <a:cubicBezTo>
                  <a:pt x="-781" y="68312"/>
                  <a:pt x="-781" y="74600"/>
                  <a:pt x="2270" y="79586"/>
                </a:cubicBezTo>
                <a:cubicBezTo>
                  <a:pt x="7813" y="88664"/>
                  <a:pt x="9302" y="94283"/>
                  <a:pt x="9079" y="104924"/>
                </a:cubicBezTo>
                <a:cubicBezTo>
                  <a:pt x="8930" y="110765"/>
                  <a:pt x="12092" y="116198"/>
                  <a:pt x="17227" y="119025"/>
                </a:cubicBezTo>
                <a:cubicBezTo>
                  <a:pt x="25450" y="123527"/>
                  <a:pt x="29617" y="127248"/>
                  <a:pt x="34007" y="134466"/>
                </a:cubicBezTo>
                <a:lnTo>
                  <a:pt x="15887" y="170594"/>
                </a:lnTo>
                <a:cubicBezTo>
                  <a:pt x="13692" y="175022"/>
                  <a:pt x="15478" y="180380"/>
                  <a:pt x="19869" y="182575"/>
                </a:cubicBezTo>
                <a:lnTo>
                  <a:pt x="51867" y="198574"/>
                </a:lnTo>
                <a:cubicBezTo>
                  <a:pt x="56145" y="200695"/>
                  <a:pt x="61354" y="199095"/>
                  <a:pt x="63661" y="194928"/>
                </a:cubicBezTo>
                <a:lnTo>
                  <a:pt x="83307" y="159544"/>
                </a:lnTo>
                <a:lnTo>
                  <a:pt x="102952" y="194928"/>
                </a:lnTo>
                <a:cubicBezTo>
                  <a:pt x="105259" y="199095"/>
                  <a:pt x="110468" y="200732"/>
                  <a:pt x="114746" y="198574"/>
                </a:cubicBezTo>
                <a:lnTo>
                  <a:pt x="146745" y="182575"/>
                </a:lnTo>
                <a:cubicBezTo>
                  <a:pt x="151172" y="180380"/>
                  <a:pt x="152958" y="175022"/>
                  <a:pt x="150726" y="170594"/>
                </a:cubicBezTo>
                <a:lnTo>
                  <a:pt x="132643" y="134429"/>
                </a:lnTo>
                <a:cubicBezTo>
                  <a:pt x="136996" y="127211"/>
                  <a:pt x="141201" y="123490"/>
                  <a:pt x="149423" y="118988"/>
                </a:cubicBezTo>
                <a:cubicBezTo>
                  <a:pt x="154558" y="116198"/>
                  <a:pt x="157683" y="110728"/>
                  <a:pt x="157572" y="104887"/>
                </a:cubicBezTo>
                <a:cubicBezTo>
                  <a:pt x="157311" y="94245"/>
                  <a:pt x="158837" y="88627"/>
                  <a:pt x="164381" y="79549"/>
                </a:cubicBezTo>
                <a:cubicBezTo>
                  <a:pt x="167432" y="74563"/>
                  <a:pt x="167432" y="68275"/>
                  <a:pt x="164381" y="63289"/>
                </a:cubicBezTo>
                <a:cubicBezTo>
                  <a:pt x="158837" y="54211"/>
                  <a:pt x="157349" y="48592"/>
                  <a:pt x="157572" y="37951"/>
                </a:cubicBezTo>
                <a:cubicBezTo>
                  <a:pt x="157721" y="32110"/>
                  <a:pt x="154558" y="26677"/>
                  <a:pt x="149423" y="23850"/>
                </a:cubicBezTo>
                <a:cubicBezTo>
                  <a:pt x="140084" y="18752"/>
                  <a:pt x="135954" y="14622"/>
                  <a:pt x="130857" y="5283"/>
                </a:cubicBezTo>
                <a:cubicBezTo>
                  <a:pt x="128067" y="149"/>
                  <a:pt x="122597" y="-2977"/>
                  <a:pt x="116756" y="-2865"/>
                </a:cubicBezTo>
                <a:cubicBezTo>
                  <a:pt x="106114" y="-2604"/>
                  <a:pt x="100496" y="-4130"/>
                  <a:pt x="91418" y="-9674"/>
                </a:cubicBezTo>
                <a:close/>
                <a:moveTo>
                  <a:pt x="83344" y="35719"/>
                </a:moveTo>
                <a:cubicBezTo>
                  <a:pt x="103057" y="35719"/>
                  <a:pt x="119063" y="51724"/>
                  <a:pt x="119063" y="71438"/>
                </a:cubicBezTo>
                <a:cubicBezTo>
                  <a:pt x="119063" y="91151"/>
                  <a:pt x="103057" y="107156"/>
                  <a:pt x="83344" y="107156"/>
                </a:cubicBezTo>
                <a:cubicBezTo>
                  <a:pt x="63630" y="107156"/>
                  <a:pt x="47625" y="91151"/>
                  <a:pt x="47625" y="71438"/>
                </a:cubicBezTo>
                <a:cubicBezTo>
                  <a:pt x="47625" y="51724"/>
                  <a:pt x="63630" y="35719"/>
                  <a:pt x="83344" y="35719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7" name="Text 45"/>
          <p:cNvSpPr/>
          <p:nvPr/>
        </p:nvSpPr>
        <p:spPr>
          <a:xfrm>
            <a:off x="7134225" y="1531623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Civic Credit System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915150" y="1912623"/>
            <a:ext cx="4733925" cy="1638300"/>
          </a:xfrm>
          <a:custGeom>
            <a:avLst/>
            <a:gdLst/>
            <a:ahLst/>
            <a:cxnLst/>
            <a:rect l="l" t="t" r="r" b="b"/>
            <a:pathLst>
              <a:path w="4733925" h="1638300">
                <a:moveTo>
                  <a:pt x="38100" y="0"/>
                </a:moveTo>
                <a:lnTo>
                  <a:pt x="4657728" y="0"/>
                </a:lnTo>
                <a:cubicBezTo>
                  <a:pt x="4699810" y="0"/>
                  <a:pt x="4733925" y="34115"/>
                  <a:pt x="4733925" y="76197"/>
                </a:cubicBezTo>
                <a:lnTo>
                  <a:pt x="4733925" y="1562103"/>
                </a:lnTo>
                <a:cubicBezTo>
                  <a:pt x="4733925" y="1604185"/>
                  <a:pt x="4699810" y="1638300"/>
                  <a:pt x="4657728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9" name="Shape 47"/>
          <p:cNvSpPr/>
          <p:nvPr/>
        </p:nvSpPr>
        <p:spPr>
          <a:xfrm>
            <a:off x="6915150" y="1912623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0" name="Text 48"/>
          <p:cNvSpPr/>
          <p:nvPr/>
        </p:nvSpPr>
        <p:spPr>
          <a:xfrm>
            <a:off x="7048500" y="2026923"/>
            <a:ext cx="456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48500" y="2331723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98400" y="2331723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 submits report with image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48500" y="2560323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223998" y="2560323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extracts vehicle metadata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048500" y="2788923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227451" y="2788923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Officer reviews and validates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48500" y="3017523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223879" y="3017523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Officer awards credits manually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048500" y="3246123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227808" y="3246123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 receives notification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896100" y="3665223"/>
            <a:ext cx="4752975" cy="1409700"/>
          </a:xfrm>
          <a:custGeom>
            <a:avLst/>
            <a:gdLst/>
            <a:ahLst/>
            <a:cxnLst/>
            <a:rect l="l" t="t" r="r" b="b"/>
            <a:pathLst>
              <a:path w="4752975" h="1409700">
                <a:moveTo>
                  <a:pt x="76194" y="0"/>
                </a:moveTo>
                <a:lnTo>
                  <a:pt x="4676781" y="0"/>
                </a:lnTo>
                <a:cubicBezTo>
                  <a:pt x="4718833" y="0"/>
                  <a:pt x="4752975" y="34142"/>
                  <a:pt x="4752975" y="76194"/>
                </a:cubicBezTo>
                <a:lnTo>
                  <a:pt x="4752975" y="1333506"/>
                </a:lnTo>
                <a:cubicBezTo>
                  <a:pt x="4752975" y="1375587"/>
                  <a:pt x="4718862" y="1409700"/>
                  <a:pt x="4676781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2" name="Text 60"/>
          <p:cNvSpPr/>
          <p:nvPr/>
        </p:nvSpPr>
        <p:spPr>
          <a:xfrm>
            <a:off x="7010400" y="3779523"/>
            <a:ext cx="460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 Tiers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010400" y="4084323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Violation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955060" y="4084323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credits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010400" y="4312923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Hazard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980659" y="4312923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 credits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010400" y="4541523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Accident Report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898029" y="4541523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credits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010400" y="4770123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Cleanliness Issue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973752" y="4770123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credits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739890" y="5353051"/>
            <a:ext cx="5065395" cy="1303020"/>
          </a:xfrm>
          <a:custGeom>
            <a:avLst/>
            <a:gdLst/>
            <a:ahLst/>
            <a:cxnLst/>
            <a:rect l="l" t="t" r="r" b="b"/>
            <a:pathLst>
              <a:path w="5065395" h="1303020">
                <a:moveTo>
                  <a:pt x="114301" y="0"/>
                </a:moveTo>
                <a:lnTo>
                  <a:pt x="4951094" y="0"/>
                </a:lnTo>
                <a:cubicBezTo>
                  <a:pt x="5014221" y="0"/>
                  <a:pt x="5065395" y="51174"/>
                  <a:pt x="5065395" y="114301"/>
                </a:cubicBezTo>
                <a:lnTo>
                  <a:pt x="5065395" y="1188719"/>
                </a:lnTo>
                <a:cubicBezTo>
                  <a:pt x="5065395" y="1251846"/>
                  <a:pt x="5014221" y="1303020"/>
                  <a:pt x="4951094" y="1303020"/>
                </a:cubicBezTo>
                <a:lnTo>
                  <a:pt x="114301" y="1303020"/>
                </a:lnTo>
                <a:cubicBezTo>
                  <a:pt x="51174" y="1303020"/>
                  <a:pt x="0" y="1251846"/>
                  <a:pt x="0" y="1188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>
                  <a:alpha val="2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016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919913" y="55473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73" name="Text 71"/>
          <p:cNvSpPr/>
          <p:nvPr/>
        </p:nvSpPr>
        <p:spPr>
          <a:xfrm>
            <a:off x="7248525" y="5509259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Community Impact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896100" y="5852159"/>
            <a:ext cx="48196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credit system transforms citizens from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 observers to active participants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urban safety, building trust and collaboration between communities and law enforcement.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573a5918bf7fd7635601a1cec4d93883422c123d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1755" b="1175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EF4444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IMPACT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Emergency Loop: Faster Response, Saved Lives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7" name="Shape 4"/>
          <p:cNvSpPr/>
          <p:nvPr/>
        </p:nvSpPr>
        <p:spPr>
          <a:xfrm>
            <a:off x="384810" y="1375410"/>
            <a:ext cx="6760845" cy="1569720"/>
          </a:xfrm>
          <a:custGeom>
            <a:avLst/>
            <a:gdLst/>
            <a:ahLst/>
            <a:cxnLst/>
            <a:rect l="l" t="t" r="r" b="b"/>
            <a:pathLst>
              <a:path w="6760845" h="1569720">
                <a:moveTo>
                  <a:pt x="114307" y="0"/>
                </a:moveTo>
                <a:lnTo>
                  <a:pt x="6646538" y="0"/>
                </a:lnTo>
                <a:cubicBezTo>
                  <a:pt x="6709668" y="0"/>
                  <a:pt x="6760845" y="51177"/>
                  <a:pt x="6760845" y="114307"/>
                </a:cubicBezTo>
                <a:lnTo>
                  <a:pt x="6760845" y="1455413"/>
                </a:lnTo>
                <a:cubicBezTo>
                  <a:pt x="6760845" y="1518543"/>
                  <a:pt x="6709668" y="1569720"/>
                  <a:pt x="6646538" y="1569720"/>
                </a:cubicBezTo>
                <a:lnTo>
                  <a:pt x="114307" y="1569720"/>
                </a:lnTo>
                <a:cubicBezTo>
                  <a:pt x="51219" y="1569720"/>
                  <a:pt x="0" y="1518501"/>
                  <a:pt x="0" y="14554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>
                  <a:alpha val="3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EF4444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4832" y="15697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779145" y="1531623"/>
            <a:ext cx="630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Accident Reporting Workflow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26544" y="19126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/>
              </a:gs>
              <a:gs pos="100000">
                <a:srgbClr val="F87171"/>
              </a:gs>
            </a:gsLst>
            <a:lin ang="2700000" scaled="1"/>
          </a:gradFill>
          <a:ln/>
        </p:spPr>
      </p:sp>
      <p:sp>
        <p:nvSpPr>
          <p:cNvPr id="11" name="Shape 8"/>
          <p:cNvSpPr/>
          <p:nvPr/>
        </p:nvSpPr>
        <p:spPr>
          <a:xfrm>
            <a:off x="1093232" y="205549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358" y="21431"/>
                </a:moveTo>
                <a:cubicBezTo>
                  <a:pt x="5358" y="9611"/>
                  <a:pt x="14968" y="0"/>
                  <a:pt x="26789" y="0"/>
                </a:cubicBezTo>
                <a:lnTo>
                  <a:pt x="101798" y="0"/>
                </a:lnTo>
                <a:cubicBezTo>
                  <a:pt x="113619" y="0"/>
                  <a:pt x="123230" y="9611"/>
                  <a:pt x="123230" y="21431"/>
                </a:cubicBezTo>
                <a:lnTo>
                  <a:pt x="123230" y="150019"/>
                </a:lnTo>
                <a:cubicBezTo>
                  <a:pt x="123230" y="161839"/>
                  <a:pt x="113619" y="171450"/>
                  <a:pt x="101798" y="171450"/>
                </a:cubicBezTo>
                <a:lnTo>
                  <a:pt x="26789" y="171450"/>
                </a:lnTo>
                <a:cubicBezTo>
                  <a:pt x="14968" y="171450"/>
                  <a:pt x="5358" y="161839"/>
                  <a:pt x="5358" y="150019"/>
                </a:cubicBezTo>
                <a:lnTo>
                  <a:pt x="5358" y="21431"/>
                </a:lnTo>
                <a:close/>
                <a:moveTo>
                  <a:pt x="26789" y="21431"/>
                </a:moveTo>
                <a:lnTo>
                  <a:pt x="26789" y="123230"/>
                </a:lnTo>
                <a:lnTo>
                  <a:pt x="101798" y="123230"/>
                </a:lnTo>
                <a:lnTo>
                  <a:pt x="101798" y="21431"/>
                </a:lnTo>
                <a:lnTo>
                  <a:pt x="26789" y="21431"/>
                </a:lnTo>
                <a:close/>
                <a:moveTo>
                  <a:pt x="64294" y="158055"/>
                </a:moveTo>
                <a:cubicBezTo>
                  <a:pt x="70221" y="158055"/>
                  <a:pt x="75009" y="153267"/>
                  <a:pt x="75009" y="147340"/>
                </a:cubicBezTo>
                <a:cubicBezTo>
                  <a:pt x="75009" y="141413"/>
                  <a:pt x="70221" y="136624"/>
                  <a:pt x="64294" y="136624"/>
                </a:cubicBezTo>
                <a:cubicBezTo>
                  <a:pt x="58367" y="136624"/>
                  <a:pt x="53578" y="141413"/>
                  <a:pt x="53578" y="147340"/>
                </a:cubicBezTo>
                <a:cubicBezTo>
                  <a:pt x="53578" y="153267"/>
                  <a:pt x="58367" y="158055"/>
                  <a:pt x="64294" y="1580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12445" y="2446023"/>
            <a:ext cx="1285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Capture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2445" y="2636402"/>
            <a:ext cx="1285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 snaps photo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364343" y="22554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5" name="Shape 12"/>
          <p:cNvSpPr/>
          <p:nvPr/>
        </p:nvSpPr>
        <p:spPr>
          <a:xfrm>
            <a:off x="3535561" y="19126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FBBF24"/>
              </a:gs>
            </a:gsLst>
            <a:lin ang="2700000" scaled="1"/>
          </a:gradFill>
          <a:ln/>
        </p:spPr>
      </p:sp>
      <p:sp>
        <p:nvSpPr>
          <p:cNvPr id="16" name="Shape 13"/>
          <p:cNvSpPr/>
          <p:nvPr/>
        </p:nvSpPr>
        <p:spPr>
          <a:xfrm>
            <a:off x="3680817" y="205549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3121462" y="2446023"/>
            <a:ext cx="1285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AI Process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121462" y="2636402"/>
            <a:ext cx="1285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Severity assessment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973479" y="22554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0" name="Shape 17"/>
          <p:cNvSpPr/>
          <p:nvPr/>
        </p:nvSpPr>
        <p:spPr>
          <a:xfrm>
            <a:off x="6144696" y="19126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/>
              </a:gs>
              <a:gs pos="100000">
                <a:srgbClr val="22D3EE"/>
              </a:gs>
            </a:gsLst>
            <a:lin ang="2700000" scaled="1"/>
          </a:gradFill>
          <a:ln/>
        </p:spPr>
      </p:sp>
      <p:sp>
        <p:nvSpPr>
          <p:cNvPr id="21" name="Shape 18"/>
          <p:cNvSpPr/>
          <p:nvPr/>
        </p:nvSpPr>
        <p:spPr>
          <a:xfrm>
            <a:off x="6289953" y="205549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3" y="21431"/>
                </a:moveTo>
                <a:cubicBezTo>
                  <a:pt x="7200" y="21431"/>
                  <a:pt x="0" y="28631"/>
                  <a:pt x="0" y="37505"/>
                </a:cubicBezTo>
                <a:cubicBezTo>
                  <a:pt x="0" y="42561"/>
                  <a:pt x="2378" y="47316"/>
                  <a:pt x="6429" y="50363"/>
                </a:cubicBezTo>
                <a:lnTo>
                  <a:pt x="76081" y="102602"/>
                </a:lnTo>
                <a:cubicBezTo>
                  <a:pt x="81807" y="106888"/>
                  <a:pt x="89643" y="106888"/>
                  <a:pt x="95369" y="102602"/>
                </a:cubicBezTo>
                <a:lnTo>
                  <a:pt x="165021" y="50363"/>
                </a:lnTo>
                <a:cubicBezTo>
                  <a:pt x="169072" y="47316"/>
                  <a:pt x="171450" y="42561"/>
                  <a:pt x="171450" y="37505"/>
                </a:cubicBezTo>
                <a:cubicBezTo>
                  <a:pt x="171450" y="28631"/>
                  <a:pt x="164250" y="21431"/>
                  <a:pt x="155377" y="21431"/>
                </a:cubicBezTo>
                <a:lnTo>
                  <a:pt x="16073" y="21431"/>
                </a:lnTo>
                <a:close/>
                <a:moveTo>
                  <a:pt x="0" y="65633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5633"/>
                </a:lnTo>
                <a:lnTo>
                  <a:pt x="105013" y="115461"/>
                </a:lnTo>
                <a:cubicBezTo>
                  <a:pt x="93594" y="124033"/>
                  <a:pt x="77856" y="124033"/>
                  <a:pt x="66437" y="115461"/>
                </a:cubicBezTo>
                <a:lnTo>
                  <a:pt x="0" y="656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5730597" y="2446023"/>
            <a:ext cx="1285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Alert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730597" y="2636402"/>
            <a:ext cx="1285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SMTP dispatch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84810" y="3066814"/>
            <a:ext cx="3322320" cy="2474595"/>
          </a:xfrm>
          <a:custGeom>
            <a:avLst/>
            <a:gdLst/>
            <a:ahLst/>
            <a:cxnLst/>
            <a:rect l="l" t="t" r="r" b="b"/>
            <a:pathLst>
              <a:path w="3322320" h="2474595">
                <a:moveTo>
                  <a:pt x="114302" y="0"/>
                </a:moveTo>
                <a:lnTo>
                  <a:pt x="3208018" y="0"/>
                </a:lnTo>
                <a:cubicBezTo>
                  <a:pt x="3271145" y="0"/>
                  <a:pt x="3322320" y="51175"/>
                  <a:pt x="3322320" y="114302"/>
                </a:cubicBezTo>
                <a:lnTo>
                  <a:pt x="3322320" y="2360293"/>
                </a:lnTo>
                <a:cubicBezTo>
                  <a:pt x="3322320" y="2423420"/>
                  <a:pt x="3271145" y="2474595"/>
                  <a:pt x="3208018" y="2474595"/>
                </a:cubicBezTo>
                <a:lnTo>
                  <a:pt x="114302" y="2474595"/>
                </a:lnTo>
                <a:cubicBezTo>
                  <a:pt x="51175" y="2474595"/>
                  <a:pt x="0" y="2423420"/>
                  <a:pt x="0" y="236029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6739" y="326112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6" name="Text 23"/>
          <p:cNvSpPr/>
          <p:nvPr/>
        </p:nvSpPr>
        <p:spPr>
          <a:xfrm>
            <a:off x="855345" y="3223022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Image Transmission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1020" y="3604022"/>
            <a:ext cx="3076575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SMTP email alerts include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images from the accident scene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giving hospitals and police immediate visual context.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41020" y="4854178"/>
            <a:ext cx="3009900" cy="533400"/>
          </a:xfrm>
          <a:custGeom>
            <a:avLst/>
            <a:gdLst/>
            <a:ahLst/>
            <a:cxnLst/>
            <a:rect l="l" t="t" r="r" b="b"/>
            <a:pathLst>
              <a:path w="3009900" h="533400">
                <a:moveTo>
                  <a:pt x="76202" y="0"/>
                </a:moveTo>
                <a:lnTo>
                  <a:pt x="2933698" y="0"/>
                </a:lnTo>
                <a:cubicBezTo>
                  <a:pt x="2975783" y="0"/>
                  <a:pt x="3009900" y="34117"/>
                  <a:pt x="3009900" y="76202"/>
                </a:cubicBezTo>
                <a:lnTo>
                  <a:pt x="3009900" y="457198"/>
                </a:lnTo>
                <a:cubicBezTo>
                  <a:pt x="3009900" y="499283"/>
                  <a:pt x="2975783" y="533400"/>
                  <a:pt x="2933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9" name="Shape 26"/>
          <p:cNvSpPr/>
          <p:nvPr/>
        </p:nvSpPr>
        <p:spPr>
          <a:xfrm>
            <a:off x="631508" y="494561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0140" y="2858"/>
                </a:moveTo>
                <a:cubicBezTo>
                  <a:pt x="62686" y="-9689"/>
                  <a:pt x="83046" y="-9689"/>
                  <a:pt x="95592" y="2858"/>
                </a:cubicBezTo>
                <a:cubicBezTo>
                  <a:pt x="108139" y="15404"/>
                  <a:pt x="108139" y="35763"/>
                  <a:pt x="95592" y="48310"/>
                </a:cubicBezTo>
                <a:lnTo>
                  <a:pt x="58981" y="84921"/>
                </a:lnTo>
                <a:cubicBezTo>
                  <a:pt x="51301" y="92601"/>
                  <a:pt x="38866" y="92601"/>
                  <a:pt x="31187" y="84921"/>
                </a:cubicBezTo>
                <a:cubicBezTo>
                  <a:pt x="23507" y="77242"/>
                  <a:pt x="23507" y="64807"/>
                  <a:pt x="31187" y="57128"/>
                </a:cubicBezTo>
                <a:lnTo>
                  <a:pt x="65298" y="23061"/>
                </a:lnTo>
                <a:cubicBezTo>
                  <a:pt x="68089" y="20270"/>
                  <a:pt x="72621" y="20270"/>
                  <a:pt x="75411" y="23061"/>
                </a:cubicBezTo>
                <a:cubicBezTo>
                  <a:pt x="78202" y="25851"/>
                  <a:pt x="78202" y="30383"/>
                  <a:pt x="75411" y="33174"/>
                </a:cubicBezTo>
                <a:lnTo>
                  <a:pt x="41300" y="67263"/>
                </a:lnTo>
                <a:cubicBezTo>
                  <a:pt x="39201" y="69361"/>
                  <a:pt x="39201" y="72755"/>
                  <a:pt x="41300" y="74831"/>
                </a:cubicBezTo>
                <a:cubicBezTo>
                  <a:pt x="43398" y="76907"/>
                  <a:pt x="46792" y="76929"/>
                  <a:pt x="48868" y="74831"/>
                </a:cubicBezTo>
                <a:lnTo>
                  <a:pt x="85479" y="38219"/>
                </a:lnTo>
                <a:cubicBezTo>
                  <a:pt x="92445" y="31254"/>
                  <a:pt x="92445" y="19936"/>
                  <a:pt x="85479" y="12970"/>
                </a:cubicBezTo>
                <a:cubicBezTo>
                  <a:pt x="78514" y="6005"/>
                  <a:pt x="67196" y="6005"/>
                  <a:pt x="60231" y="12970"/>
                </a:cubicBezTo>
                <a:lnTo>
                  <a:pt x="23619" y="49582"/>
                </a:lnTo>
                <a:cubicBezTo>
                  <a:pt x="11765" y="61436"/>
                  <a:pt x="11765" y="80657"/>
                  <a:pt x="23619" y="92512"/>
                </a:cubicBezTo>
                <a:cubicBezTo>
                  <a:pt x="35473" y="104366"/>
                  <a:pt x="54694" y="104366"/>
                  <a:pt x="66548" y="92512"/>
                </a:cubicBezTo>
                <a:lnTo>
                  <a:pt x="95615" y="63468"/>
                </a:lnTo>
                <a:cubicBezTo>
                  <a:pt x="98405" y="60677"/>
                  <a:pt x="102937" y="60677"/>
                  <a:pt x="105728" y="63468"/>
                </a:cubicBezTo>
                <a:cubicBezTo>
                  <a:pt x="108518" y="66258"/>
                  <a:pt x="108518" y="70790"/>
                  <a:pt x="105728" y="73581"/>
                </a:cubicBezTo>
                <a:lnTo>
                  <a:pt x="76661" y="102602"/>
                </a:lnTo>
                <a:cubicBezTo>
                  <a:pt x="59226" y="120037"/>
                  <a:pt x="30964" y="120037"/>
                  <a:pt x="13528" y="102602"/>
                </a:cubicBezTo>
                <a:cubicBezTo>
                  <a:pt x="-3907" y="85167"/>
                  <a:pt x="-3907" y="56904"/>
                  <a:pt x="13528" y="39469"/>
                </a:cubicBezTo>
                <a:lnTo>
                  <a:pt x="50140" y="2858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30" name="Text 27"/>
          <p:cNvSpPr/>
          <p:nvPr/>
        </p:nvSpPr>
        <p:spPr>
          <a:xfrm>
            <a:off x="788670" y="4930378"/>
            <a:ext cx="274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Attachments: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7220" y="5120762"/>
            <a:ext cx="771525" cy="190500"/>
          </a:xfrm>
          <a:custGeom>
            <a:avLst/>
            <a:gdLst/>
            <a:ahLst/>
            <a:cxnLst/>
            <a:rect l="l" t="t" r="r" b="b"/>
            <a:pathLst>
              <a:path w="771525" h="190500">
                <a:moveTo>
                  <a:pt x="38100" y="0"/>
                </a:moveTo>
                <a:lnTo>
                  <a:pt x="733425" y="0"/>
                </a:lnTo>
                <a:cubicBezTo>
                  <a:pt x="754453" y="0"/>
                  <a:pt x="771525" y="17072"/>
                  <a:pt x="771525" y="38100"/>
                </a:cubicBezTo>
                <a:lnTo>
                  <a:pt x="771525" y="152400"/>
                </a:lnTo>
                <a:cubicBezTo>
                  <a:pt x="771525" y="173428"/>
                  <a:pt x="754453" y="190500"/>
                  <a:pt x="73342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" y="5120762"/>
            <a:ext cx="8286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Scene Photo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423154" y="5120762"/>
            <a:ext cx="800100" cy="190500"/>
          </a:xfrm>
          <a:custGeom>
            <a:avLst/>
            <a:gdLst/>
            <a:ahLst/>
            <a:cxnLst/>
            <a:rect l="l" t="t" r="r" b="b"/>
            <a:pathLst>
              <a:path w="800100" h="190500">
                <a:moveTo>
                  <a:pt x="38100" y="0"/>
                </a:moveTo>
                <a:lnTo>
                  <a:pt x="762000" y="0"/>
                </a:lnTo>
                <a:cubicBezTo>
                  <a:pt x="783028" y="0"/>
                  <a:pt x="800100" y="17072"/>
                  <a:pt x="800100" y="38100"/>
                </a:cubicBezTo>
                <a:lnTo>
                  <a:pt x="800100" y="152400"/>
                </a:lnTo>
                <a:cubicBezTo>
                  <a:pt x="800100" y="173428"/>
                  <a:pt x="783028" y="190500"/>
                  <a:pt x="7620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1423154" y="5120762"/>
            <a:ext cx="8572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Location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2263735" y="5120762"/>
            <a:ext cx="704850" cy="190500"/>
          </a:xfrm>
          <a:custGeom>
            <a:avLst/>
            <a:gdLst/>
            <a:ahLst/>
            <a:cxnLst/>
            <a:rect l="l" t="t" r="r" b="b"/>
            <a:pathLst>
              <a:path w="704850" h="190500">
                <a:moveTo>
                  <a:pt x="38100" y="0"/>
                </a:moveTo>
                <a:lnTo>
                  <a:pt x="666750" y="0"/>
                </a:lnTo>
                <a:cubicBezTo>
                  <a:pt x="687778" y="0"/>
                  <a:pt x="704850" y="17072"/>
                  <a:pt x="704850" y="38100"/>
                </a:cubicBezTo>
                <a:lnTo>
                  <a:pt x="704850" y="152400"/>
                </a:lnTo>
                <a:cubicBezTo>
                  <a:pt x="704850" y="173428"/>
                  <a:pt x="687778" y="190500"/>
                  <a:pt x="6667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D3EE">
              <a:alpha val="30196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2263735" y="5120762"/>
            <a:ext cx="7620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825240" y="3066814"/>
            <a:ext cx="3322320" cy="2474595"/>
          </a:xfrm>
          <a:custGeom>
            <a:avLst/>
            <a:gdLst/>
            <a:ahLst/>
            <a:cxnLst/>
            <a:rect l="l" t="t" r="r" b="b"/>
            <a:pathLst>
              <a:path w="3322320" h="2474595">
                <a:moveTo>
                  <a:pt x="114302" y="0"/>
                </a:moveTo>
                <a:lnTo>
                  <a:pt x="3208018" y="0"/>
                </a:lnTo>
                <a:cubicBezTo>
                  <a:pt x="3271145" y="0"/>
                  <a:pt x="3322320" y="51175"/>
                  <a:pt x="3322320" y="114302"/>
                </a:cubicBezTo>
                <a:lnTo>
                  <a:pt x="3322320" y="2360293"/>
                </a:lnTo>
                <a:cubicBezTo>
                  <a:pt x="3322320" y="2423420"/>
                  <a:pt x="3271145" y="2474595"/>
                  <a:pt x="3208018" y="2474595"/>
                </a:cubicBezTo>
                <a:lnTo>
                  <a:pt x="114302" y="2474595"/>
                </a:lnTo>
                <a:cubicBezTo>
                  <a:pt x="51175" y="2474595"/>
                  <a:pt x="0" y="2423420"/>
                  <a:pt x="0" y="236029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993356" y="326112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47625" y="23812"/>
                </a:moveTo>
                <a:cubicBezTo>
                  <a:pt x="47625" y="10678"/>
                  <a:pt x="58303" y="0"/>
                  <a:pt x="71438" y="0"/>
                </a:cubicBezTo>
                <a:lnTo>
                  <a:pt x="142875" y="0"/>
                </a:lnTo>
                <a:cubicBezTo>
                  <a:pt x="156009" y="0"/>
                  <a:pt x="166688" y="10678"/>
                  <a:pt x="166688" y="23812"/>
                </a:cubicBezTo>
                <a:lnTo>
                  <a:pt x="166688" y="47625"/>
                </a:lnTo>
                <a:lnTo>
                  <a:pt x="190500" y="47625"/>
                </a:lnTo>
                <a:cubicBezTo>
                  <a:pt x="203634" y="47625"/>
                  <a:pt x="214313" y="58303"/>
                  <a:pt x="214313" y="71438"/>
                </a:cubicBezTo>
                <a:lnTo>
                  <a:pt x="214313" y="166688"/>
                </a:lnTo>
                <a:cubicBezTo>
                  <a:pt x="214313" y="179822"/>
                  <a:pt x="203634" y="190500"/>
                  <a:pt x="190500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71438"/>
                </a:lnTo>
                <a:cubicBezTo>
                  <a:pt x="0" y="58303"/>
                  <a:pt x="10678" y="47625"/>
                  <a:pt x="23812" y="47625"/>
                </a:cubicBezTo>
                <a:lnTo>
                  <a:pt x="47625" y="47625"/>
                </a:lnTo>
                <a:lnTo>
                  <a:pt x="47625" y="23812"/>
                </a:lnTo>
                <a:close/>
                <a:moveTo>
                  <a:pt x="101203" y="130969"/>
                </a:moveTo>
                <a:cubicBezTo>
                  <a:pt x="94617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125016" y="172641"/>
                </a:lnTo>
                <a:lnTo>
                  <a:pt x="125016" y="142875"/>
                </a:lnTo>
                <a:cubicBezTo>
                  <a:pt x="125016" y="136289"/>
                  <a:pt x="119695" y="130969"/>
                  <a:pt x="113109" y="130969"/>
                </a:cubicBezTo>
                <a:lnTo>
                  <a:pt x="101203" y="130969"/>
                </a:lnTo>
                <a:close/>
                <a:moveTo>
                  <a:pt x="47625" y="136922"/>
                </a:moveTo>
                <a:lnTo>
                  <a:pt x="47625" y="125016"/>
                </a:lnTo>
                <a:cubicBezTo>
                  <a:pt x="47625" y="121741"/>
                  <a:pt x="44946" y="119063"/>
                  <a:pt x="41672" y="119063"/>
                </a:cubicBezTo>
                <a:lnTo>
                  <a:pt x="29766" y="119063"/>
                </a:lnTo>
                <a:cubicBezTo>
                  <a:pt x="26491" y="119063"/>
                  <a:pt x="23812" y="121741"/>
                  <a:pt x="23812" y="125016"/>
                </a:cubicBezTo>
                <a:lnTo>
                  <a:pt x="23812" y="136922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41672" y="142875"/>
                </a:lnTo>
                <a:cubicBezTo>
                  <a:pt x="44946" y="142875"/>
                  <a:pt x="47625" y="140196"/>
                  <a:pt x="47625" y="136922"/>
                </a:cubicBezTo>
                <a:close/>
                <a:moveTo>
                  <a:pt x="41672" y="95250"/>
                </a:moveTo>
                <a:cubicBezTo>
                  <a:pt x="44946" y="95250"/>
                  <a:pt x="47625" y="92571"/>
                  <a:pt x="47625" y="89297"/>
                </a:cubicBezTo>
                <a:lnTo>
                  <a:pt x="47625" y="77391"/>
                </a:lnTo>
                <a:cubicBezTo>
                  <a:pt x="47625" y="74116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74116"/>
                  <a:pt x="23812" y="77391"/>
                </a:cubicBezTo>
                <a:lnTo>
                  <a:pt x="23812" y="89297"/>
                </a:lnTo>
                <a:cubicBezTo>
                  <a:pt x="23812" y="92571"/>
                  <a:pt x="26491" y="95250"/>
                  <a:pt x="29766" y="95250"/>
                </a:cubicBezTo>
                <a:lnTo>
                  <a:pt x="41672" y="95250"/>
                </a:lnTo>
                <a:close/>
                <a:moveTo>
                  <a:pt x="190500" y="136922"/>
                </a:moveTo>
                <a:lnTo>
                  <a:pt x="190500" y="125016"/>
                </a:lnTo>
                <a:cubicBezTo>
                  <a:pt x="190500" y="121741"/>
                  <a:pt x="187821" y="119063"/>
                  <a:pt x="184547" y="119063"/>
                </a:cubicBezTo>
                <a:lnTo>
                  <a:pt x="172641" y="119063"/>
                </a:lnTo>
                <a:cubicBezTo>
                  <a:pt x="169366" y="119063"/>
                  <a:pt x="166688" y="121741"/>
                  <a:pt x="166688" y="125016"/>
                </a:cubicBezTo>
                <a:lnTo>
                  <a:pt x="166688" y="136922"/>
                </a:lnTo>
                <a:cubicBezTo>
                  <a:pt x="166688" y="140196"/>
                  <a:pt x="169366" y="142875"/>
                  <a:pt x="172641" y="142875"/>
                </a:cubicBezTo>
                <a:lnTo>
                  <a:pt x="184547" y="142875"/>
                </a:lnTo>
                <a:cubicBezTo>
                  <a:pt x="187821" y="142875"/>
                  <a:pt x="190500" y="140196"/>
                  <a:pt x="190500" y="136922"/>
                </a:cubicBezTo>
                <a:close/>
                <a:moveTo>
                  <a:pt x="184547" y="95250"/>
                </a:moveTo>
                <a:cubicBezTo>
                  <a:pt x="187821" y="95250"/>
                  <a:pt x="190500" y="92571"/>
                  <a:pt x="190500" y="89297"/>
                </a:cubicBezTo>
                <a:lnTo>
                  <a:pt x="190500" y="77391"/>
                </a:lnTo>
                <a:cubicBezTo>
                  <a:pt x="190500" y="74116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74116"/>
                  <a:pt x="166688" y="77391"/>
                </a:cubicBezTo>
                <a:lnTo>
                  <a:pt x="166688" y="89297"/>
                </a:lnTo>
                <a:cubicBezTo>
                  <a:pt x="166688" y="92571"/>
                  <a:pt x="169366" y="95250"/>
                  <a:pt x="172641" y="95250"/>
                </a:cubicBezTo>
                <a:lnTo>
                  <a:pt x="184547" y="95250"/>
                </a:lnTo>
                <a:close/>
                <a:moveTo>
                  <a:pt x="98227" y="38695"/>
                </a:moveTo>
                <a:lnTo>
                  <a:pt x="98227" y="50602"/>
                </a:lnTo>
                <a:lnTo>
                  <a:pt x="86320" y="50602"/>
                </a:lnTo>
                <a:cubicBezTo>
                  <a:pt x="83046" y="50602"/>
                  <a:pt x="80367" y="53280"/>
                  <a:pt x="80367" y="56555"/>
                </a:cubicBezTo>
                <a:lnTo>
                  <a:pt x="80367" y="62508"/>
                </a:lnTo>
                <a:cubicBezTo>
                  <a:pt x="80367" y="65782"/>
                  <a:pt x="83046" y="68461"/>
                  <a:pt x="86320" y="68461"/>
                </a:cubicBezTo>
                <a:lnTo>
                  <a:pt x="98227" y="68461"/>
                </a:lnTo>
                <a:lnTo>
                  <a:pt x="98227" y="80367"/>
                </a:lnTo>
                <a:cubicBezTo>
                  <a:pt x="98227" y="83641"/>
                  <a:pt x="100905" y="86320"/>
                  <a:pt x="104180" y="86320"/>
                </a:cubicBezTo>
                <a:lnTo>
                  <a:pt x="110133" y="86320"/>
                </a:lnTo>
                <a:cubicBezTo>
                  <a:pt x="113407" y="86320"/>
                  <a:pt x="116086" y="83641"/>
                  <a:pt x="116086" y="80367"/>
                </a:cubicBezTo>
                <a:lnTo>
                  <a:pt x="116086" y="68461"/>
                </a:lnTo>
                <a:lnTo>
                  <a:pt x="127992" y="68461"/>
                </a:lnTo>
                <a:cubicBezTo>
                  <a:pt x="131266" y="68461"/>
                  <a:pt x="133945" y="65782"/>
                  <a:pt x="133945" y="62508"/>
                </a:cubicBezTo>
                <a:lnTo>
                  <a:pt x="133945" y="56555"/>
                </a:lnTo>
                <a:cubicBezTo>
                  <a:pt x="133945" y="53280"/>
                  <a:pt x="131266" y="50602"/>
                  <a:pt x="127992" y="50602"/>
                </a:cubicBezTo>
                <a:lnTo>
                  <a:pt x="116086" y="50602"/>
                </a:lnTo>
                <a:lnTo>
                  <a:pt x="116086" y="38695"/>
                </a:lnTo>
                <a:cubicBezTo>
                  <a:pt x="116086" y="35421"/>
                  <a:pt x="113407" y="32742"/>
                  <a:pt x="110133" y="32742"/>
                </a:cubicBezTo>
                <a:lnTo>
                  <a:pt x="104180" y="32742"/>
                </a:lnTo>
                <a:cubicBezTo>
                  <a:pt x="100905" y="32742"/>
                  <a:pt x="98227" y="35421"/>
                  <a:pt x="98227" y="3869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6"/>
          <p:cNvSpPr/>
          <p:nvPr/>
        </p:nvSpPr>
        <p:spPr>
          <a:xfrm>
            <a:off x="4295775" y="3223022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Nearest Hospital Mapping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3981450" y="3604022"/>
            <a:ext cx="3076575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suggests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nearest medical facilities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user's GPS input, with directions and estimated travel time.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010025" y="4873228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42103"/>
                </a:moveTo>
                <a:cubicBezTo>
                  <a:pt x="0" y="18842"/>
                  <a:pt x="19199" y="0"/>
                  <a:pt x="42863" y="0"/>
                </a:cubicBezTo>
                <a:cubicBezTo>
                  <a:pt x="66526" y="0"/>
                  <a:pt x="85725" y="18842"/>
                  <a:pt x="85725" y="42103"/>
                </a:cubicBezTo>
                <a:cubicBezTo>
                  <a:pt x="85725" y="68736"/>
                  <a:pt x="58891" y="100660"/>
                  <a:pt x="47685" y="112827"/>
                </a:cubicBezTo>
                <a:cubicBezTo>
                  <a:pt x="45050" y="115684"/>
                  <a:pt x="40652" y="115684"/>
                  <a:pt x="38018" y="112827"/>
                </a:cubicBezTo>
                <a:cubicBezTo>
                  <a:pt x="26811" y="100660"/>
                  <a:pt x="-22" y="68736"/>
                  <a:pt x="-22" y="42103"/>
                </a:cubicBezTo>
                <a:close/>
                <a:moveTo>
                  <a:pt x="42863" y="57150"/>
                </a:moveTo>
                <a:cubicBezTo>
                  <a:pt x="50748" y="57150"/>
                  <a:pt x="57150" y="50748"/>
                  <a:pt x="57150" y="42863"/>
                </a:cubicBezTo>
                <a:cubicBezTo>
                  <a:pt x="57150" y="34977"/>
                  <a:pt x="50748" y="28575"/>
                  <a:pt x="42863" y="28575"/>
                </a:cubicBezTo>
                <a:cubicBezTo>
                  <a:pt x="34977" y="28575"/>
                  <a:pt x="28575" y="34977"/>
                  <a:pt x="28575" y="42863"/>
                </a:cubicBezTo>
                <a:cubicBezTo>
                  <a:pt x="28575" y="50748"/>
                  <a:pt x="34977" y="57150"/>
                  <a:pt x="42863" y="5715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2" name="Text 39"/>
          <p:cNvSpPr/>
          <p:nvPr/>
        </p:nvSpPr>
        <p:spPr>
          <a:xfrm>
            <a:off x="4200525" y="4854299"/>
            <a:ext cx="1190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GPS tracking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3995738" y="506361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21431"/>
                </a:moveTo>
                <a:cubicBezTo>
                  <a:pt x="114300" y="32638"/>
                  <a:pt x="101106" y="49359"/>
                  <a:pt x="95414" y="56034"/>
                </a:cubicBezTo>
                <a:cubicBezTo>
                  <a:pt x="94565" y="57016"/>
                  <a:pt x="93315" y="57396"/>
                  <a:pt x="92177" y="57150"/>
                </a:cubicBezTo>
                <a:lnTo>
                  <a:pt x="71438" y="57150"/>
                </a:lnTo>
                <a:cubicBezTo>
                  <a:pt x="67486" y="57150"/>
                  <a:pt x="64294" y="60342"/>
                  <a:pt x="64294" y="64294"/>
                </a:cubicBezTo>
                <a:cubicBezTo>
                  <a:pt x="64294" y="68245"/>
                  <a:pt x="67486" y="71438"/>
                  <a:pt x="71438" y="71438"/>
                </a:cubicBezTo>
                <a:lnTo>
                  <a:pt x="92869" y="71438"/>
                </a:lnTo>
                <a:cubicBezTo>
                  <a:pt x="104701" y="71438"/>
                  <a:pt x="114300" y="81037"/>
                  <a:pt x="114300" y="92869"/>
                </a:cubicBezTo>
                <a:cubicBezTo>
                  <a:pt x="114300" y="104701"/>
                  <a:pt x="104701" y="114300"/>
                  <a:pt x="92869" y="114300"/>
                </a:cubicBezTo>
                <a:lnTo>
                  <a:pt x="31165" y="114300"/>
                </a:lnTo>
                <a:cubicBezTo>
                  <a:pt x="33107" y="112090"/>
                  <a:pt x="35473" y="109255"/>
                  <a:pt x="37862" y="106085"/>
                </a:cubicBezTo>
                <a:cubicBezTo>
                  <a:pt x="39268" y="104209"/>
                  <a:pt x="40719" y="102156"/>
                  <a:pt x="42103" y="100013"/>
                </a:cubicBezTo>
                <a:lnTo>
                  <a:pt x="92869" y="100013"/>
                </a:lnTo>
                <a:cubicBezTo>
                  <a:pt x="96820" y="100013"/>
                  <a:pt x="100013" y="96820"/>
                  <a:pt x="100013" y="92869"/>
                </a:cubicBezTo>
                <a:cubicBezTo>
                  <a:pt x="100013" y="88917"/>
                  <a:pt x="96820" y="85725"/>
                  <a:pt x="92869" y="85725"/>
                </a:cubicBezTo>
                <a:lnTo>
                  <a:pt x="71438" y="85725"/>
                </a:lnTo>
                <a:cubicBezTo>
                  <a:pt x="59606" y="85725"/>
                  <a:pt x="50006" y="76126"/>
                  <a:pt x="50006" y="64294"/>
                </a:cubicBezTo>
                <a:cubicBezTo>
                  <a:pt x="50006" y="52462"/>
                  <a:pt x="59606" y="42863"/>
                  <a:pt x="71438" y="42863"/>
                </a:cubicBezTo>
                <a:lnTo>
                  <a:pt x="80323" y="42863"/>
                </a:lnTo>
                <a:cubicBezTo>
                  <a:pt x="75634" y="35830"/>
                  <a:pt x="71438" y="27749"/>
                  <a:pt x="71438" y="21431"/>
                </a:cubicBezTo>
                <a:cubicBezTo>
                  <a:pt x="71438" y="9599"/>
                  <a:pt x="81037" y="0"/>
                  <a:pt x="92869" y="0"/>
                </a:cubicBezTo>
                <a:cubicBezTo>
                  <a:pt x="104701" y="0"/>
                  <a:pt x="114300" y="9599"/>
                  <a:pt x="114300" y="21431"/>
                </a:cubicBezTo>
                <a:close/>
                <a:moveTo>
                  <a:pt x="26142" y="109188"/>
                </a:moveTo>
                <a:cubicBezTo>
                  <a:pt x="25293" y="110148"/>
                  <a:pt x="24534" y="110996"/>
                  <a:pt x="23887" y="111710"/>
                </a:cubicBezTo>
                <a:lnTo>
                  <a:pt x="23485" y="112157"/>
                </a:lnTo>
                <a:lnTo>
                  <a:pt x="23440" y="112112"/>
                </a:lnTo>
                <a:cubicBezTo>
                  <a:pt x="22101" y="113139"/>
                  <a:pt x="20181" y="113005"/>
                  <a:pt x="18976" y="111710"/>
                </a:cubicBezTo>
                <a:cubicBezTo>
                  <a:pt x="13350" y="105594"/>
                  <a:pt x="0" y="89855"/>
                  <a:pt x="0" y="78581"/>
                </a:cubicBezTo>
                <a:cubicBezTo>
                  <a:pt x="0" y="66749"/>
                  <a:pt x="9599" y="57150"/>
                  <a:pt x="21431" y="57150"/>
                </a:cubicBezTo>
                <a:cubicBezTo>
                  <a:pt x="33263" y="57150"/>
                  <a:pt x="42863" y="66749"/>
                  <a:pt x="42863" y="78581"/>
                </a:cubicBezTo>
                <a:cubicBezTo>
                  <a:pt x="42863" y="85279"/>
                  <a:pt x="38152" y="93538"/>
                  <a:pt x="33151" y="100437"/>
                </a:cubicBezTo>
                <a:cubicBezTo>
                  <a:pt x="30763" y="103718"/>
                  <a:pt x="28307" y="106687"/>
                  <a:pt x="26276" y="109031"/>
                </a:cubicBezTo>
                <a:lnTo>
                  <a:pt x="26142" y="109188"/>
                </a:lnTo>
                <a:close/>
                <a:moveTo>
                  <a:pt x="28575" y="78581"/>
                </a:moveTo>
                <a:cubicBezTo>
                  <a:pt x="28575" y="74639"/>
                  <a:pt x="25374" y="71438"/>
                  <a:pt x="21431" y="71438"/>
                </a:cubicBezTo>
                <a:cubicBezTo>
                  <a:pt x="17489" y="71438"/>
                  <a:pt x="14288" y="74639"/>
                  <a:pt x="14288" y="78581"/>
                </a:cubicBezTo>
                <a:cubicBezTo>
                  <a:pt x="14288" y="82524"/>
                  <a:pt x="17489" y="85725"/>
                  <a:pt x="21431" y="85725"/>
                </a:cubicBezTo>
                <a:cubicBezTo>
                  <a:pt x="25374" y="85725"/>
                  <a:pt x="28575" y="82524"/>
                  <a:pt x="28575" y="78581"/>
                </a:cubicBezTo>
                <a:close/>
                <a:moveTo>
                  <a:pt x="92869" y="28575"/>
                </a:moveTo>
                <a:cubicBezTo>
                  <a:pt x="96811" y="28575"/>
                  <a:pt x="100013" y="25374"/>
                  <a:pt x="100013" y="21431"/>
                </a:cubicBezTo>
                <a:cubicBezTo>
                  <a:pt x="100013" y="17489"/>
                  <a:pt x="96811" y="14288"/>
                  <a:pt x="92869" y="14288"/>
                </a:cubicBezTo>
                <a:cubicBezTo>
                  <a:pt x="88926" y="14288"/>
                  <a:pt x="85725" y="17489"/>
                  <a:pt x="85725" y="21431"/>
                </a:cubicBezTo>
                <a:cubicBezTo>
                  <a:pt x="85725" y="25374"/>
                  <a:pt x="88926" y="28575"/>
                  <a:pt x="92869" y="2857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1"/>
          <p:cNvSpPr/>
          <p:nvPr/>
        </p:nvSpPr>
        <p:spPr>
          <a:xfrm>
            <a:off x="4200525" y="5044678"/>
            <a:ext cx="1304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route calculation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995738" y="525399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ubicBezTo>
                  <a:pt x="0" y="25608"/>
                  <a:pt x="25608" y="0"/>
                  <a:pt x="57150" y="0"/>
                </a:cubicBezTo>
                <a:close/>
                <a:moveTo>
                  <a:pt x="51792" y="26789"/>
                </a:moveTo>
                <a:lnTo>
                  <a:pt x="51792" y="57150"/>
                </a:lnTo>
                <a:cubicBezTo>
                  <a:pt x="51792" y="58936"/>
                  <a:pt x="52685" y="60610"/>
                  <a:pt x="54181" y="61615"/>
                </a:cubicBezTo>
                <a:lnTo>
                  <a:pt x="75612" y="75902"/>
                </a:lnTo>
                <a:cubicBezTo>
                  <a:pt x="78068" y="77554"/>
                  <a:pt x="81394" y="76885"/>
                  <a:pt x="83046" y="74407"/>
                </a:cubicBezTo>
                <a:cubicBezTo>
                  <a:pt x="84698" y="71929"/>
                  <a:pt x="84028" y="68625"/>
                  <a:pt x="81550" y="66973"/>
                </a:cubicBezTo>
                <a:lnTo>
                  <a:pt x="62508" y="54293"/>
                </a:lnTo>
                <a:lnTo>
                  <a:pt x="62508" y="26789"/>
                </a:lnTo>
                <a:cubicBezTo>
                  <a:pt x="62508" y="23820"/>
                  <a:pt x="60119" y="21431"/>
                  <a:pt x="57150" y="21431"/>
                </a:cubicBezTo>
                <a:cubicBezTo>
                  <a:pt x="54181" y="21431"/>
                  <a:pt x="51792" y="23820"/>
                  <a:pt x="51792" y="2678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6" name="Text 43"/>
          <p:cNvSpPr/>
          <p:nvPr/>
        </p:nvSpPr>
        <p:spPr>
          <a:xfrm>
            <a:off x="4200525" y="5235062"/>
            <a:ext cx="800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 to hospital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84810" y="5665469"/>
            <a:ext cx="6760845" cy="807720"/>
          </a:xfrm>
          <a:custGeom>
            <a:avLst/>
            <a:gdLst/>
            <a:ahLst/>
            <a:cxnLst/>
            <a:rect l="l" t="t" r="r" b="b"/>
            <a:pathLst>
              <a:path w="6760845" h="807720">
                <a:moveTo>
                  <a:pt x="114300" y="0"/>
                </a:moveTo>
                <a:lnTo>
                  <a:pt x="6646545" y="0"/>
                </a:lnTo>
                <a:cubicBezTo>
                  <a:pt x="6709671" y="0"/>
                  <a:pt x="6760845" y="51174"/>
                  <a:pt x="6760845" y="114300"/>
                </a:cubicBezTo>
                <a:lnTo>
                  <a:pt x="6760845" y="693420"/>
                </a:lnTo>
                <a:cubicBezTo>
                  <a:pt x="6760845" y="756546"/>
                  <a:pt x="6709671" y="807720"/>
                  <a:pt x="6646545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>
                  <a:alpha val="30000"/>
                </a:srgbClr>
              </a:gs>
              <a:gs pos="100000">
                <a:srgbClr val="F59E0B">
                  <a:alpha val="20000"/>
                </a:srgbClr>
              </a:gs>
            </a:gsLst>
            <a:lin ang="0" scaled="1"/>
          </a:gradFill>
          <a:ln w="10160">
            <a:solidFill>
              <a:srgbClr val="EF4444">
                <a:alpha val="50196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79120" y="592645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9" name="Text 46"/>
          <p:cNvSpPr/>
          <p:nvPr/>
        </p:nvSpPr>
        <p:spPr>
          <a:xfrm>
            <a:off x="1050608" y="5821682"/>
            <a:ext cx="567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Time Savings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050608" y="6126482"/>
            <a:ext cx="565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minute counts. Our system reduces notification-to-dispatch time from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minutes to seconds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303770" y="1375410"/>
            <a:ext cx="4503420" cy="3331845"/>
          </a:xfrm>
          <a:custGeom>
            <a:avLst/>
            <a:gdLst/>
            <a:ahLst/>
            <a:cxnLst/>
            <a:rect l="l" t="t" r="r" b="b"/>
            <a:pathLst>
              <a:path w="4503420" h="3331845">
                <a:moveTo>
                  <a:pt x="114316" y="0"/>
                </a:moveTo>
                <a:lnTo>
                  <a:pt x="4389104" y="0"/>
                </a:lnTo>
                <a:cubicBezTo>
                  <a:pt x="4452239" y="0"/>
                  <a:pt x="4503420" y="51181"/>
                  <a:pt x="4503420" y="114316"/>
                </a:cubicBezTo>
                <a:lnTo>
                  <a:pt x="4503420" y="3217529"/>
                </a:lnTo>
                <a:cubicBezTo>
                  <a:pt x="4503420" y="3280664"/>
                  <a:pt x="4452239" y="3331845"/>
                  <a:pt x="4389104" y="3331845"/>
                </a:cubicBezTo>
                <a:lnTo>
                  <a:pt x="114316" y="3331845"/>
                </a:lnTo>
                <a:cubicBezTo>
                  <a:pt x="51181" y="3331845"/>
                  <a:pt x="0" y="3280664"/>
                  <a:pt x="0" y="3217529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>
                  <a:alpha val="4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483793" y="15697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3" name="Text 50"/>
          <p:cNvSpPr/>
          <p:nvPr/>
        </p:nvSpPr>
        <p:spPr>
          <a:xfrm>
            <a:off x="7698105" y="1531623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Impact of Speed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7459980" y="1912623"/>
            <a:ext cx="4191000" cy="609600"/>
          </a:xfrm>
          <a:custGeom>
            <a:avLst/>
            <a:gdLst/>
            <a:ahLst/>
            <a:cxnLst/>
            <a:rect l="l" t="t" r="r" b="b"/>
            <a:pathLst>
              <a:path w="4191000" h="609600">
                <a:moveTo>
                  <a:pt x="76200" y="0"/>
                </a:moveTo>
                <a:lnTo>
                  <a:pt x="4114800" y="0"/>
                </a:lnTo>
                <a:cubicBezTo>
                  <a:pt x="4156856" y="0"/>
                  <a:pt x="4191000" y="34144"/>
                  <a:pt x="4191000" y="76200"/>
                </a:cubicBezTo>
                <a:lnTo>
                  <a:pt x="4191000" y="533400"/>
                </a:lnTo>
                <a:cubicBezTo>
                  <a:pt x="4191000" y="575456"/>
                  <a:pt x="4156856" y="609600"/>
                  <a:pt x="4114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5" name="Text 52"/>
          <p:cNvSpPr/>
          <p:nvPr/>
        </p:nvSpPr>
        <p:spPr>
          <a:xfrm>
            <a:off x="7574280" y="2065023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Response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0983754" y="2026923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7+ min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7574280" y="2331723"/>
            <a:ext cx="3962400" cy="76200"/>
          </a:xfrm>
          <a:custGeom>
            <a:avLst/>
            <a:gdLst/>
            <a:ahLst/>
            <a:cxnLst/>
            <a:rect l="l" t="t" r="r" b="b"/>
            <a:pathLst>
              <a:path w="3962400" h="76200">
                <a:moveTo>
                  <a:pt x="38100" y="0"/>
                </a:moveTo>
                <a:lnTo>
                  <a:pt x="3924300" y="0"/>
                </a:lnTo>
                <a:cubicBezTo>
                  <a:pt x="3945328" y="0"/>
                  <a:pt x="3962400" y="17072"/>
                  <a:pt x="3962400" y="38100"/>
                </a:cubicBezTo>
                <a:lnTo>
                  <a:pt x="3962400" y="38100"/>
                </a:lnTo>
                <a:cubicBezTo>
                  <a:pt x="3962400" y="59128"/>
                  <a:pt x="3945328" y="76200"/>
                  <a:pt x="3924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58" name="Shape 55"/>
          <p:cNvSpPr/>
          <p:nvPr/>
        </p:nvSpPr>
        <p:spPr>
          <a:xfrm>
            <a:off x="7574280" y="2331723"/>
            <a:ext cx="3371850" cy="76200"/>
          </a:xfrm>
          <a:custGeom>
            <a:avLst/>
            <a:gdLst/>
            <a:ahLst/>
            <a:cxnLst/>
            <a:rect l="l" t="t" r="r" b="b"/>
            <a:pathLst>
              <a:path w="3371850" h="76200">
                <a:moveTo>
                  <a:pt x="38100" y="0"/>
                </a:moveTo>
                <a:lnTo>
                  <a:pt x="3333750" y="0"/>
                </a:lnTo>
                <a:cubicBezTo>
                  <a:pt x="3354778" y="0"/>
                  <a:pt x="3371850" y="17072"/>
                  <a:pt x="3371850" y="38100"/>
                </a:cubicBezTo>
                <a:lnTo>
                  <a:pt x="3371850" y="38100"/>
                </a:lnTo>
                <a:cubicBezTo>
                  <a:pt x="3371850" y="59128"/>
                  <a:pt x="3354778" y="76200"/>
                  <a:pt x="33337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9" name="Shape 56"/>
          <p:cNvSpPr/>
          <p:nvPr/>
        </p:nvSpPr>
        <p:spPr>
          <a:xfrm>
            <a:off x="7459980" y="2636523"/>
            <a:ext cx="4191000" cy="609600"/>
          </a:xfrm>
          <a:custGeom>
            <a:avLst/>
            <a:gdLst/>
            <a:ahLst/>
            <a:cxnLst/>
            <a:rect l="l" t="t" r="r" b="b"/>
            <a:pathLst>
              <a:path w="4191000" h="609600">
                <a:moveTo>
                  <a:pt x="76200" y="0"/>
                </a:moveTo>
                <a:lnTo>
                  <a:pt x="4114800" y="0"/>
                </a:lnTo>
                <a:cubicBezTo>
                  <a:pt x="4156856" y="0"/>
                  <a:pt x="4191000" y="34144"/>
                  <a:pt x="4191000" y="76200"/>
                </a:cubicBezTo>
                <a:lnTo>
                  <a:pt x="4191000" y="533400"/>
                </a:lnTo>
                <a:cubicBezTo>
                  <a:pt x="4191000" y="575456"/>
                  <a:pt x="4156856" y="609600"/>
                  <a:pt x="4114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0" name="Text 57"/>
          <p:cNvSpPr/>
          <p:nvPr/>
        </p:nvSpPr>
        <p:spPr>
          <a:xfrm>
            <a:off x="7574280" y="2788923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UrbanPulse AI Response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10863024" y="2750823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&lt;30 sec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7574280" y="3055623"/>
            <a:ext cx="3962400" cy="76200"/>
          </a:xfrm>
          <a:custGeom>
            <a:avLst/>
            <a:gdLst/>
            <a:ahLst/>
            <a:cxnLst/>
            <a:rect l="l" t="t" r="r" b="b"/>
            <a:pathLst>
              <a:path w="3962400" h="76200">
                <a:moveTo>
                  <a:pt x="38100" y="0"/>
                </a:moveTo>
                <a:lnTo>
                  <a:pt x="3924300" y="0"/>
                </a:lnTo>
                <a:cubicBezTo>
                  <a:pt x="3945328" y="0"/>
                  <a:pt x="3962400" y="17072"/>
                  <a:pt x="3962400" y="38100"/>
                </a:cubicBezTo>
                <a:lnTo>
                  <a:pt x="3962400" y="38100"/>
                </a:lnTo>
                <a:cubicBezTo>
                  <a:pt x="3962400" y="59128"/>
                  <a:pt x="3945328" y="76200"/>
                  <a:pt x="3924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63" name="Shape 60"/>
          <p:cNvSpPr/>
          <p:nvPr/>
        </p:nvSpPr>
        <p:spPr>
          <a:xfrm>
            <a:off x="7574280" y="3055623"/>
            <a:ext cx="400050" cy="76200"/>
          </a:xfrm>
          <a:custGeom>
            <a:avLst/>
            <a:gdLst/>
            <a:ahLst/>
            <a:cxnLst/>
            <a:rect l="l" t="t" r="r" b="b"/>
            <a:pathLst>
              <a:path w="400050" h="76200">
                <a:moveTo>
                  <a:pt x="38100" y="0"/>
                </a:moveTo>
                <a:lnTo>
                  <a:pt x="361950" y="0"/>
                </a:lnTo>
                <a:cubicBezTo>
                  <a:pt x="382978" y="0"/>
                  <a:pt x="400050" y="17072"/>
                  <a:pt x="400050" y="38100"/>
                </a:cubicBezTo>
                <a:lnTo>
                  <a:pt x="400050" y="38100"/>
                </a:lnTo>
                <a:cubicBezTo>
                  <a:pt x="400050" y="59128"/>
                  <a:pt x="382978" y="76200"/>
                  <a:pt x="3619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4" name="Shape 61"/>
          <p:cNvSpPr/>
          <p:nvPr/>
        </p:nvSpPr>
        <p:spPr>
          <a:xfrm>
            <a:off x="7463790" y="3364233"/>
            <a:ext cx="4179570" cy="1036320"/>
          </a:xfrm>
          <a:custGeom>
            <a:avLst/>
            <a:gdLst/>
            <a:ahLst/>
            <a:cxnLst/>
            <a:rect l="l" t="t" r="r" b="b"/>
            <a:pathLst>
              <a:path w="4179570" h="1036320">
                <a:moveTo>
                  <a:pt x="76201" y="0"/>
                </a:moveTo>
                <a:lnTo>
                  <a:pt x="4103369" y="0"/>
                </a:lnTo>
                <a:cubicBezTo>
                  <a:pt x="4145454" y="0"/>
                  <a:pt x="4179570" y="34116"/>
                  <a:pt x="4179570" y="76201"/>
                </a:cubicBezTo>
                <a:lnTo>
                  <a:pt x="4179570" y="960119"/>
                </a:lnTo>
                <a:cubicBezTo>
                  <a:pt x="4179570" y="1002204"/>
                  <a:pt x="4145454" y="1036320"/>
                  <a:pt x="4103369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EF4444">
                <a:alpha val="50196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581900" y="3497582"/>
            <a:ext cx="10358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shows: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7624762" y="3787141"/>
            <a:ext cx="57150" cy="114300"/>
          </a:xfrm>
          <a:custGeom>
            <a:avLst/>
            <a:gdLst/>
            <a:ahLst/>
            <a:cxnLst/>
            <a:rect l="l" t="t" r="r" b="b"/>
            <a:pathLst>
              <a:path w="57150" h="114300">
                <a:moveTo>
                  <a:pt x="7255" y="21431"/>
                </a:moveTo>
                <a:cubicBezTo>
                  <a:pt x="7255" y="18551"/>
                  <a:pt x="8997" y="15939"/>
                  <a:pt x="11676" y="14823"/>
                </a:cubicBezTo>
                <a:cubicBezTo>
                  <a:pt x="14354" y="13707"/>
                  <a:pt x="17413" y="14332"/>
                  <a:pt x="19444" y="16386"/>
                </a:cubicBezTo>
                <a:lnTo>
                  <a:pt x="55163" y="52105"/>
                </a:lnTo>
                <a:cubicBezTo>
                  <a:pt x="57954" y="54895"/>
                  <a:pt x="57954" y="59427"/>
                  <a:pt x="55163" y="62218"/>
                </a:cubicBezTo>
                <a:lnTo>
                  <a:pt x="19444" y="97936"/>
                </a:lnTo>
                <a:cubicBezTo>
                  <a:pt x="17391" y="99990"/>
                  <a:pt x="14332" y="100593"/>
                  <a:pt x="11653" y="99477"/>
                </a:cubicBezTo>
                <a:cubicBezTo>
                  <a:pt x="8974" y="98361"/>
                  <a:pt x="7255" y="95749"/>
                  <a:pt x="7255" y="92869"/>
                </a:cubicBezTo>
                <a:lnTo>
                  <a:pt x="7255" y="21431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7" name="Text 64"/>
          <p:cNvSpPr/>
          <p:nvPr/>
        </p:nvSpPr>
        <p:spPr>
          <a:xfrm>
            <a:off x="7800975" y="3749041"/>
            <a:ext cx="2066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≥12 min = </a:t>
            </a:r>
            <a:pPr>
              <a:lnSpc>
                <a:spcPct val="110000"/>
              </a:lnSpc>
            </a:pPr>
            <a:r>
              <a:rPr lang="en-US" sz="9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46% higher mortality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7624762" y="3977641"/>
            <a:ext cx="57150" cy="114300"/>
          </a:xfrm>
          <a:custGeom>
            <a:avLst/>
            <a:gdLst/>
            <a:ahLst/>
            <a:cxnLst/>
            <a:rect l="l" t="t" r="r" b="b"/>
            <a:pathLst>
              <a:path w="57150" h="114300">
                <a:moveTo>
                  <a:pt x="7255" y="21431"/>
                </a:moveTo>
                <a:cubicBezTo>
                  <a:pt x="7255" y="18551"/>
                  <a:pt x="8997" y="15939"/>
                  <a:pt x="11676" y="14823"/>
                </a:cubicBezTo>
                <a:cubicBezTo>
                  <a:pt x="14354" y="13707"/>
                  <a:pt x="17413" y="14332"/>
                  <a:pt x="19444" y="16386"/>
                </a:cubicBezTo>
                <a:lnTo>
                  <a:pt x="55163" y="52105"/>
                </a:lnTo>
                <a:cubicBezTo>
                  <a:pt x="57954" y="54895"/>
                  <a:pt x="57954" y="59427"/>
                  <a:pt x="55163" y="62218"/>
                </a:cubicBezTo>
                <a:lnTo>
                  <a:pt x="19444" y="97936"/>
                </a:lnTo>
                <a:cubicBezTo>
                  <a:pt x="17391" y="99990"/>
                  <a:pt x="14332" y="100593"/>
                  <a:pt x="11653" y="99477"/>
                </a:cubicBezTo>
                <a:cubicBezTo>
                  <a:pt x="8974" y="98361"/>
                  <a:pt x="7255" y="95749"/>
                  <a:pt x="7255" y="92869"/>
                </a:cubicBezTo>
                <a:lnTo>
                  <a:pt x="7255" y="21431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9" name="Text 66"/>
          <p:cNvSpPr/>
          <p:nvPr/>
        </p:nvSpPr>
        <p:spPr>
          <a:xfrm>
            <a:off x="7800975" y="3939541"/>
            <a:ext cx="2171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causes </a:t>
            </a:r>
            <a:pPr>
              <a:lnSpc>
                <a:spcPct val="110000"/>
              </a:lnSpc>
            </a:pPr>
            <a:r>
              <a:rPr lang="en-US" sz="9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10,387+ EMS delays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annually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7624762" y="4168141"/>
            <a:ext cx="57150" cy="114300"/>
          </a:xfrm>
          <a:custGeom>
            <a:avLst/>
            <a:gdLst/>
            <a:ahLst/>
            <a:cxnLst/>
            <a:rect l="l" t="t" r="r" b="b"/>
            <a:pathLst>
              <a:path w="57150" h="114300">
                <a:moveTo>
                  <a:pt x="7255" y="21431"/>
                </a:moveTo>
                <a:cubicBezTo>
                  <a:pt x="7255" y="18551"/>
                  <a:pt x="8997" y="15939"/>
                  <a:pt x="11676" y="14823"/>
                </a:cubicBezTo>
                <a:cubicBezTo>
                  <a:pt x="14354" y="13707"/>
                  <a:pt x="17413" y="14332"/>
                  <a:pt x="19444" y="16386"/>
                </a:cubicBezTo>
                <a:lnTo>
                  <a:pt x="55163" y="52105"/>
                </a:lnTo>
                <a:cubicBezTo>
                  <a:pt x="57954" y="54895"/>
                  <a:pt x="57954" y="59427"/>
                  <a:pt x="55163" y="62218"/>
                </a:cubicBezTo>
                <a:lnTo>
                  <a:pt x="19444" y="97936"/>
                </a:lnTo>
                <a:cubicBezTo>
                  <a:pt x="17391" y="99990"/>
                  <a:pt x="14332" y="100593"/>
                  <a:pt x="11653" y="99477"/>
                </a:cubicBezTo>
                <a:cubicBezTo>
                  <a:pt x="8974" y="98361"/>
                  <a:pt x="7255" y="95749"/>
                  <a:pt x="7255" y="92869"/>
                </a:cubicBezTo>
                <a:lnTo>
                  <a:pt x="7255" y="21431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71" name="Text 68"/>
          <p:cNvSpPr/>
          <p:nvPr/>
        </p:nvSpPr>
        <p:spPr>
          <a:xfrm>
            <a:off x="7800975" y="4130041"/>
            <a:ext cx="1876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Golden hour: First 60 minutes critical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7303770" y="4827269"/>
            <a:ext cx="4503420" cy="1645920"/>
          </a:xfrm>
          <a:custGeom>
            <a:avLst/>
            <a:gdLst/>
            <a:ahLst/>
            <a:cxnLst/>
            <a:rect l="l" t="t" r="r" b="b"/>
            <a:pathLst>
              <a:path w="4503420" h="1645920">
                <a:moveTo>
                  <a:pt x="114293" y="0"/>
                </a:moveTo>
                <a:lnTo>
                  <a:pt x="4389127" y="0"/>
                </a:lnTo>
                <a:cubicBezTo>
                  <a:pt x="4452249" y="0"/>
                  <a:pt x="4503420" y="51171"/>
                  <a:pt x="4503420" y="114293"/>
                </a:cubicBezTo>
                <a:lnTo>
                  <a:pt x="4503420" y="1531627"/>
                </a:lnTo>
                <a:cubicBezTo>
                  <a:pt x="4503420" y="1594749"/>
                  <a:pt x="4452249" y="1645920"/>
                  <a:pt x="4389127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473077" y="5031107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1352"/>
                </a:moveTo>
                <a:lnTo>
                  <a:pt x="32281" y="58869"/>
                </a:lnTo>
                <a:lnTo>
                  <a:pt x="85223" y="98115"/>
                </a:lnTo>
                <a:cubicBezTo>
                  <a:pt x="86997" y="99421"/>
                  <a:pt x="88973" y="100425"/>
                  <a:pt x="91083" y="101028"/>
                </a:cubicBezTo>
                <a:lnTo>
                  <a:pt x="91083" y="155377"/>
                </a:lnTo>
                <a:cubicBezTo>
                  <a:pt x="91083" y="157218"/>
                  <a:pt x="91250" y="158993"/>
                  <a:pt x="91518" y="160734"/>
                </a:cubicBezTo>
                <a:lnTo>
                  <a:pt x="32147" y="160734"/>
                </a:lnTo>
                <a:cubicBezTo>
                  <a:pt x="20326" y="160734"/>
                  <a:pt x="10716" y="151124"/>
                  <a:pt x="10716" y="139303"/>
                </a:cubicBezTo>
                <a:lnTo>
                  <a:pt x="10716" y="58969"/>
                </a:lnTo>
                <a:cubicBezTo>
                  <a:pt x="10716" y="52172"/>
                  <a:pt x="13930" y="45776"/>
                  <a:pt x="19389" y="41757"/>
                </a:cubicBezTo>
                <a:lnTo>
                  <a:pt x="85223" y="-7032"/>
                </a:lnTo>
                <a:cubicBezTo>
                  <a:pt x="88471" y="-9443"/>
                  <a:pt x="92389" y="-10716"/>
                  <a:pt x="96441" y="-10716"/>
                </a:cubicBezTo>
                <a:cubicBezTo>
                  <a:pt x="100492" y="-10716"/>
                  <a:pt x="104410" y="-9410"/>
                  <a:pt x="107659" y="-7032"/>
                </a:cubicBezTo>
                <a:lnTo>
                  <a:pt x="173493" y="41757"/>
                </a:lnTo>
                <a:cubicBezTo>
                  <a:pt x="175904" y="43532"/>
                  <a:pt x="177879" y="45776"/>
                  <a:pt x="179319" y="48321"/>
                </a:cubicBezTo>
                <a:cubicBezTo>
                  <a:pt x="178482" y="48254"/>
                  <a:pt x="177645" y="48220"/>
                  <a:pt x="176808" y="48220"/>
                </a:cubicBezTo>
                <a:lnTo>
                  <a:pt x="146201" y="48220"/>
                </a:lnTo>
                <a:lnTo>
                  <a:pt x="96441" y="11352"/>
                </a:lnTo>
                <a:close/>
                <a:moveTo>
                  <a:pt x="107156" y="80367"/>
                </a:moveTo>
                <a:cubicBezTo>
                  <a:pt x="107156" y="71493"/>
                  <a:pt x="114356" y="64294"/>
                  <a:pt x="123230" y="64294"/>
                </a:cubicBezTo>
                <a:lnTo>
                  <a:pt x="176808" y="64294"/>
                </a:lnTo>
                <a:cubicBezTo>
                  <a:pt x="185682" y="64294"/>
                  <a:pt x="192881" y="71493"/>
                  <a:pt x="192881" y="80367"/>
                </a:cubicBezTo>
                <a:lnTo>
                  <a:pt x="192881" y="155377"/>
                </a:lnTo>
                <a:cubicBezTo>
                  <a:pt x="192881" y="164250"/>
                  <a:pt x="185682" y="171450"/>
                  <a:pt x="176808" y="171450"/>
                </a:cubicBezTo>
                <a:lnTo>
                  <a:pt x="123230" y="171450"/>
                </a:lnTo>
                <a:cubicBezTo>
                  <a:pt x="114356" y="171450"/>
                  <a:pt x="107156" y="164250"/>
                  <a:pt x="107156" y="155377"/>
                </a:cubicBezTo>
                <a:lnTo>
                  <a:pt x="107156" y="80367"/>
                </a:lnTo>
                <a:close/>
                <a:moveTo>
                  <a:pt x="133945" y="85725"/>
                </a:moveTo>
                <a:cubicBezTo>
                  <a:pt x="129492" y="85725"/>
                  <a:pt x="125909" y="89308"/>
                  <a:pt x="125909" y="93762"/>
                </a:cubicBezTo>
                <a:cubicBezTo>
                  <a:pt x="125909" y="98215"/>
                  <a:pt x="129492" y="101798"/>
                  <a:pt x="133945" y="101798"/>
                </a:cubicBezTo>
                <a:lnTo>
                  <a:pt x="166092" y="101798"/>
                </a:lnTo>
                <a:cubicBezTo>
                  <a:pt x="170546" y="101798"/>
                  <a:pt x="174129" y="98215"/>
                  <a:pt x="174129" y="93762"/>
                </a:cubicBezTo>
                <a:cubicBezTo>
                  <a:pt x="174129" y="89308"/>
                  <a:pt x="170546" y="85725"/>
                  <a:pt x="166092" y="85725"/>
                </a:cubicBezTo>
                <a:lnTo>
                  <a:pt x="133945" y="85725"/>
                </a:lnTo>
                <a:close/>
                <a:moveTo>
                  <a:pt x="133945" y="117872"/>
                </a:moveTo>
                <a:cubicBezTo>
                  <a:pt x="129492" y="117872"/>
                  <a:pt x="125909" y="121455"/>
                  <a:pt x="125909" y="125909"/>
                </a:cubicBezTo>
                <a:cubicBezTo>
                  <a:pt x="125909" y="130362"/>
                  <a:pt x="129492" y="133945"/>
                  <a:pt x="133945" y="133945"/>
                </a:cubicBezTo>
                <a:lnTo>
                  <a:pt x="152698" y="133945"/>
                </a:lnTo>
                <a:cubicBezTo>
                  <a:pt x="157151" y="133945"/>
                  <a:pt x="160734" y="130362"/>
                  <a:pt x="160734" y="125909"/>
                </a:cubicBezTo>
                <a:cubicBezTo>
                  <a:pt x="160734" y="121455"/>
                  <a:pt x="157151" y="117872"/>
                  <a:pt x="152698" y="117872"/>
                </a:cubicBezTo>
                <a:lnTo>
                  <a:pt x="133945" y="117872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4" name="Text 71"/>
          <p:cNvSpPr/>
          <p:nvPr/>
        </p:nvSpPr>
        <p:spPr>
          <a:xfrm>
            <a:off x="7679055" y="4983482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SMTP Alert System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7479030" y="53549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6" name="Text 73"/>
          <p:cNvSpPr/>
          <p:nvPr/>
        </p:nvSpPr>
        <p:spPr>
          <a:xfrm>
            <a:off x="7702868" y="5326382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email dispatch</a:t>
            </a: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7479030" y="56216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8" name="Text 75"/>
          <p:cNvSpPr/>
          <p:nvPr/>
        </p:nvSpPr>
        <p:spPr>
          <a:xfrm>
            <a:off x="7702868" y="5593082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recipients</a:t>
            </a: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7479030" y="58883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0" name="Text 77"/>
          <p:cNvSpPr/>
          <p:nvPr/>
        </p:nvSpPr>
        <p:spPr>
          <a:xfrm>
            <a:off x="7702868" y="5859782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media attachments</a:t>
            </a:r>
            <a:endParaRPr lang="en-US" sz="1600" dirty="0"/>
          </a:p>
        </p:txBody>
      </p:sp>
      <p:sp>
        <p:nvSpPr>
          <p:cNvPr id="81" name="Shape 78"/>
          <p:cNvSpPr/>
          <p:nvPr/>
        </p:nvSpPr>
        <p:spPr>
          <a:xfrm>
            <a:off x="7479030" y="61550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2" name="Text 79"/>
          <p:cNvSpPr/>
          <p:nvPr/>
        </p:nvSpPr>
        <p:spPr>
          <a:xfrm>
            <a:off x="7702868" y="6126482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Delivery confirmation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&amp; MARKET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 &amp; Market Opportunity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375410"/>
            <a:ext cx="5627370" cy="4808220"/>
          </a:xfrm>
          <a:custGeom>
            <a:avLst/>
            <a:gdLst/>
            <a:ahLst/>
            <a:cxnLst/>
            <a:rect l="l" t="t" r="r" b="b"/>
            <a:pathLst>
              <a:path w="5627370" h="4808220">
                <a:moveTo>
                  <a:pt x="114291" y="0"/>
                </a:moveTo>
                <a:lnTo>
                  <a:pt x="5513079" y="0"/>
                </a:lnTo>
                <a:cubicBezTo>
                  <a:pt x="5576200" y="0"/>
                  <a:pt x="5627370" y="51170"/>
                  <a:pt x="5627370" y="114291"/>
                </a:cubicBezTo>
                <a:lnTo>
                  <a:pt x="5627370" y="4693929"/>
                </a:lnTo>
                <a:cubicBezTo>
                  <a:pt x="5627370" y="4757050"/>
                  <a:pt x="5576200" y="4808220"/>
                  <a:pt x="5513079" y="4808220"/>
                </a:cubicBezTo>
                <a:lnTo>
                  <a:pt x="114291" y="4808220"/>
                </a:lnTo>
                <a:cubicBezTo>
                  <a:pt x="51170" y="4808220"/>
                  <a:pt x="0" y="4757050"/>
                  <a:pt x="0" y="469392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2926" y="156972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9145" y="1531623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0070" y="1912623"/>
            <a:ext cx="5295900" cy="1066800"/>
          </a:xfrm>
          <a:custGeom>
            <a:avLst/>
            <a:gdLst/>
            <a:ahLst/>
            <a:cxnLst/>
            <a:rect l="l" t="t" r="r" b="b"/>
            <a:pathLst>
              <a:path w="5295900" h="1066800">
                <a:moveTo>
                  <a:pt x="38100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990598"/>
                </a:lnTo>
                <a:cubicBezTo>
                  <a:pt x="5295900" y="1032683"/>
                  <a:pt x="5261783" y="1066800"/>
                  <a:pt x="521969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9" name="Shape 7"/>
          <p:cNvSpPr/>
          <p:nvPr/>
        </p:nvSpPr>
        <p:spPr>
          <a:xfrm>
            <a:off x="560070" y="1912623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693420" y="20269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576" y="213169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02692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1.5 Flash API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255523"/>
            <a:ext cx="1352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3420" y="2484123"/>
            <a:ext cx="5114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AI processing for images, text, and data analysis with sub-second response times.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0070" y="3055623"/>
            <a:ext cx="5295900" cy="1066800"/>
          </a:xfrm>
          <a:custGeom>
            <a:avLst/>
            <a:gdLst/>
            <a:ahLst/>
            <a:cxnLst/>
            <a:rect l="l" t="t" r="r" b="b"/>
            <a:pathLst>
              <a:path w="5295900" h="1066800">
                <a:moveTo>
                  <a:pt x="38100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990598"/>
                </a:lnTo>
                <a:cubicBezTo>
                  <a:pt x="5295900" y="1032683"/>
                  <a:pt x="5261783" y="1066800"/>
                  <a:pt x="521969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560070" y="3055623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93420" y="31699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89861" y="327469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0716"/>
                </a:moveTo>
                <a:cubicBezTo>
                  <a:pt x="69384" y="10716"/>
                  <a:pt x="47718" y="23039"/>
                  <a:pt x="31946" y="37706"/>
                </a:cubicBezTo>
                <a:cubicBezTo>
                  <a:pt x="16274" y="52272"/>
                  <a:pt x="5793" y="69652"/>
                  <a:pt x="804" y="81606"/>
                </a:cubicBezTo>
                <a:cubicBezTo>
                  <a:pt x="-301" y="84252"/>
                  <a:pt x="-301" y="87198"/>
                  <a:pt x="804" y="89844"/>
                </a:cubicBezTo>
                <a:cubicBezTo>
                  <a:pt x="5793" y="101798"/>
                  <a:pt x="16274" y="119211"/>
                  <a:pt x="31946" y="133744"/>
                </a:cubicBezTo>
                <a:cubicBezTo>
                  <a:pt x="47718" y="148378"/>
                  <a:pt x="69384" y="160734"/>
                  <a:pt x="96441" y="160734"/>
                </a:cubicBezTo>
                <a:cubicBezTo>
                  <a:pt x="123498" y="160734"/>
                  <a:pt x="145163" y="148411"/>
                  <a:pt x="160935" y="133744"/>
                </a:cubicBezTo>
                <a:cubicBezTo>
                  <a:pt x="176607" y="119178"/>
                  <a:pt x="187088" y="101798"/>
                  <a:pt x="192078" y="89844"/>
                </a:cubicBezTo>
                <a:cubicBezTo>
                  <a:pt x="193183" y="87198"/>
                  <a:pt x="193183" y="84252"/>
                  <a:pt x="192078" y="81606"/>
                </a:cubicBezTo>
                <a:cubicBezTo>
                  <a:pt x="187088" y="69652"/>
                  <a:pt x="176607" y="52239"/>
                  <a:pt x="160935" y="37706"/>
                </a:cubicBezTo>
                <a:cubicBezTo>
                  <a:pt x="145163" y="23072"/>
                  <a:pt x="123498" y="10716"/>
                  <a:pt x="96441" y="10716"/>
                </a:cubicBezTo>
                <a:close/>
                <a:moveTo>
                  <a:pt x="48220" y="85725"/>
                </a:moveTo>
                <a:cubicBezTo>
                  <a:pt x="48220" y="59111"/>
                  <a:pt x="69827" y="37505"/>
                  <a:pt x="96441" y="37505"/>
                </a:cubicBezTo>
                <a:cubicBezTo>
                  <a:pt x="123054" y="37505"/>
                  <a:pt x="144661" y="59111"/>
                  <a:pt x="144661" y="85725"/>
                </a:cubicBezTo>
                <a:cubicBezTo>
                  <a:pt x="144661" y="112339"/>
                  <a:pt x="123054" y="133945"/>
                  <a:pt x="96441" y="133945"/>
                </a:cubicBezTo>
                <a:cubicBezTo>
                  <a:pt x="69827" y="133945"/>
                  <a:pt x="48220" y="112339"/>
                  <a:pt x="48220" y="85725"/>
                </a:cubicBezTo>
                <a:close/>
                <a:moveTo>
                  <a:pt x="96441" y="64294"/>
                </a:moveTo>
                <a:cubicBezTo>
                  <a:pt x="96441" y="76114"/>
                  <a:pt x="86830" y="85725"/>
                  <a:pt x="75009" y="85725"/>
                </a:cubicBezTo>
                <a:cubicBezTo>
                  <a:pt x="71158" y="85725"/>
                  <a:pt x="67542" y="84720"/>
                  <a:pt x="64394" y="82912"/>
                </a:cubicBezTo>
                <a:cubicBezTo>
                  <a:pt x="64059" y="86562"/>
                  <a:pt x="64361" y="90313"/>
                  <a:pt x="65365" y="94030"/>
                </a:cubicBezTo>
                <a:cubicBezTo>
                  <a:pt x="69953" y="111175"/>
                  <a:pt x="87600" y="121354"/>
                  <a:pt x="104745" y="116767"/>
                </a:cubicBezTo>
                <a:cubicBezTo>
                  <a:pt x="121890" y="112179"/>
                  <a:pt x="132070" y="94532"/>
                  <a:pt x="127482" y="77387"/>
                </a:cubicBezTo>
                <a:cubicBezTo>
                  <a:pt x="123397" y="62084"/>
                  <a:pt x="108898" y="52339"/>
                  <a:pt x="93628" y="53679"/>
                </a:cubicBezTo>
                <a:cubicBezTo>
                  <a:pt x="95403" y="56793"/>
                  <a:pt x="96441" y="60409"/>
                  <a:pt x="96441" y="6429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169923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398523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OpenCV + Custom Models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3420" y="3627123"/>
            <a:ext cx="5114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image processing for vehicle detection, plate recognition, and safety monitoring.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0070" y="4198623"/>
            <a:ext cx="5295900" cy="876300"/>
          </a:xfrm>
          <a:custGeom>
            <a:avLst/>
            <a:gdLst/>
            <a:ahLst/>
            <a:cxnLst/>
            <a:rect l="l" t="t" r="r" b="b"/>
            <a:pathLst>
              <a:path w="5295900" h="876300">
                <a:moveTo>
                  <a:pt x="38100" y="0"/>
                </a:moveTo>
                <a:lnTo>
                  <a:pt x="5219697" y="0"/>
                </a:lnTo>
                <a:cubicBezTo>
                  <a:pt x="5261783" y="0"/>
                  <a:pt x="5295900" y="34117"/>
                  <a:pt x="5295900" y="76203"/>
                </a:cubicBezTo>
                <a:lnTo>
                  <a:pt x="5295900" y="800097"/>
                </a:lnTo>
                <a:cubicBezTo>
                  <a:pt x="5295900" y="842183"/>
                  <a:pt x="5261783" y="876300"/>
                  <a:pt x="52196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560070" y="4198623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4" name="Shape 22"/>
          <p:cNvSpPr/>
          <p:nvPr/>
        </p:nvSpPr>
        <p:spPr>
          <a:xfrm>
            <a:off x="693420" y="43129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2D3EE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79145" y="4417698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21431" y="32147"/>
                </a:moveTo>
                <a:cubicBezTo>
                  <a:pt x="21431" y="20326"/>
                  <a:pt x="31042" y="10716"/>
                  <a:pt x="42863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192881" y="112514"/>
                </a:lnTo>
                <a:lnTo>
                  <a:pt x="171450" y="112514"/>
                </a:lnTo>
                <a:lnTo>
                  <a:pt x="171450" y="32147"/>
                </a:lnTo>
                <a:lnTo>
                  <a:pt x="42863" y="32147"/>
                </a:lnTo>
                <a:lnTo>
                  <a:pt x="42863" y="112514"/>
                </a:lnTo>
                <a:lnTo>
                  <a:pt x="21431" y="112514"/>
                </a:lnTo>
                <a:lnTo>
                  <a:pt x="21431" y="32147"/>
                </a:lnTo>
                <a:close/>
                <a:moveTo>
                  <a:pt x="0" y="135017"/>
                </a:moveTo>
                <a:cubicBezTo>
                  <a:pt x="0" y="131467"/>
                  <a:pt x="2880" y="128588"/>
                  <a:pt x="6429" y="128588"/>
                </a:cubicBezTo>
                <a:lnTo>
                  <a:pt x="207883" y="128588"/>
                </a:lnTo>
                <a:cubicBezTo>
                  <a:pt x="211433" y="128588"/>
                  <a:pt x="214313" y="131467"/>
                  <a:pt x="214313" y="135017"/>
                </a:cubicBezTo>
                <a:cubicBezTo>
                  <a:pt x="214313" y="149215"/>
                  <a:pt x="202793" y="160734"/>
                  <a:pt x="188595" y="160734"/>
                </a:cubicBezTo>
                <a:lnTo>
                  <a:pt x="25718" y="160734"/>
                </a:lnTo>
                <a:cubicBezTo>
                  <a:pt x="11519" y="160734"/>
                  <a:pt x="0" y="149215"/>
                  <a:pt x="0" y="135017"/>
                </a:cubicBezTo>
                <a:close/>
                <a:moveTo>
                  <a:pt x="94097" y="69986"/>
                </a:moveTo>
                <a:lnTo>
                  <a:pt x="83716" y="80367"/>
                </a:lnTo>
                <a:lnTo>
                  <a:pt x="94097" y="90748"/>
                </a:lnTo>
                <a:cubicBezTo>
                  <a:pt x="97244" y="93896"/>
                  <a:pt x="97244" y="98986"/>
                  <a:pt x="94097" y="102100"/>
                </a:cubicBezTo>
                <a:cubicBezTo>
                  <a:pt x="90949" y="105214"/>
                  <a:pt x="85859" y="105248"/>
                  <a:pt x="82745" y="102100"/>
                </a:cubicBezTo>
                <a:lnTo>
                  <a:pt x="66671" y="86026"/>
                </a:lnTo>
                <a:cubicBezTo>
                  <a:pt x="63524" y="82879"/>
                  <a:pt x="63524" y="77789"/>
                  <a:pt x="66671" y="74675"/>
                </a:cubicBezTo>
                <a:lnTo>
                  <a:pt x="82745" y="58601"/>
                </a:lnTo>
                <a:cubicBezTo>
                  <a:pt x="85892" y="55453"/>
                  <a:pt x="90982" y="55453"/>
                  <a:pt x="94097" y="58601"/>
                </a:cubicBezTo>
                <a:cubicBezTo>
                  <a:pt x="97211" y="61749"/>
                  <a:pt x="97244" y="66839"/>
                  <a:pt x="94097" y="69953"/>
                </a:cubicBezTo>
                <a:close/>
                <a:moveTo>
                  <a:pt x="131601" y="58601"/>
                </a:moveTo>
                <a:lnTo>
                  <a:pt x="147675" y="74675"/>
                </a:lnTo>
                <a:cubicBezTo>
                  <a:pt x="150822" y="77822"/>
                  <a:pt x="150822" y="82912"/>
                  <a:pt x="147675" y="86026"/>
                </a:cubicBezTo>
                <a:lnTo>
                  <a:pt x="131601" y="102100"/>
                </a:lnTo>
                <a:cubicBezTo>
                  <a:pt x="128454" y="105248"/>
                  <a:pt x="123364" y="105248"/>
                  <a:pt x="120249" y="102100"/>
                </a:cubicBezTo>
                <a:cubicBezTo>
                  <a:pt x="117135" y="98952"/>
                  <a:pt x="117102" y="93862"/>
                  <a:pt x="120249" y="90748"/>
                </a:cubicBezTo>
                <a:lnTo>
                  <a:pt x="130630" y="80367"/>
                </a:lnTo>
                <a:lnTo>
                  <a:pt x="120249" y="69986"/>
                </a:lnTo>
                <a:cubicBezTo>
                  <a:pt x="117102" y="66839"/>
                  <a:pt x="117102" y="61749"/>
                  <a:pt x="120249" y="58635"/>
                </a:cubicBezTo>
                <a:cubicBezTo>
                  <a:pt x="123397" y="55520"/>
                  <a:pt x="128487" y="55487"/>
                  <a:pt x="131601" y="5863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4312923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React.js Frontend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541523"/>
            <a:ext cx="131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Web Framework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3420" y="4770123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Responsive, component-based UI with real-time updates and mobile-first design.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0070" y="5151123"/>
            <a:ext cx="5295900" cy="876300"/>
          </a:xfrm>
          <a:custGeom>
            <a:avLst/>
            <a:gdLst/>
            <a:ahLst/>
            <a:cxnLst/>
            <a:rect l="l" t="t" r="r" b="b"/>
            <a:pathLst>
              <a:path w="5295900" h="876300">
                <a:moveTo>
                  <a:pt x="38100" y="0"/>
                </a:moveTo>
                <a:lnTo>
                  <a:pt x="5219697" y="0"/>
                </a:lnTo>
                <a:cubicBezTo>
                  <a:pt x="5261783" y="0"/>
                  <a:pt x="5295900" y="34117"/>
                  <a:pt x="5295900" y="76203"/>
                </a:cubicBezTo>
                <a:lnTo>
                  <a:pt x="5295900" y="800097"/>
                </a:lnTo>
                <a:cubicBezTo>
                  <a:pt x="5295900" y="842183"/>
                  <a:pt x="5261783" y="876300"/>
                  <a:pt x="52196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0" name="Shape 28"/>
          <p:cNvSpPr/>
          <p:nvPr/>
        </p:nvSpPr>
        <p:spPr>
          <a:xfrm>
            <a:off x="560070" y="5151123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Shape 29"/>
          <p:cNvSpPr/>
          <p:nvPr/>
        </p:nvSpPr>
        <p:spPr>
          <a:xfrm>
            <a:off x="693420" y="52654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00576" y="537019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3" y="21431"/>
                </a:moveTo>
                <a:cubicBezTo>
                  <a:pt x="7200" y="21431"/>
                  <a:pt x="0" y="28631"/>
                  <a:pt x="0" y="37505"/>
                </a:cubicBezTo>
                <a:cubicBezTo>
                  <a:pt x="0" y="42561"/>
                  <a:pt x="2378" y="47316"/>
                  <a:pt x="6429" y="50363"/>
                </a:cubicBezTo>
                <a:lnTo>
                  <a:pt x="76081" y="102602"/>
                </a:lnTo>
                <a:cubicBezTo>
                  <a:pt x="81807" y="106888"/>
                  <a:pt x="89643" y="106888"/>
                  <a:pt x="95369" y="102602"/>
                </a:cubicBezTo>
                <a:lnTo>
                  <a:pt x="165021" y="50363"/>
                </a:lnTo>
                <a:cubicBezTo>
                  <a:pt x="169072" y="47316"/>
                  <a:pt x="171450" y="42561"/>
                  <a:pt x="171450" y="37505"/>
                </a:cubicBezTo>
                <a:cubicBezTo>
                  <a:pt x="171450" y="28631"/>
                  <a:pt x="164250" y="21431"/>
                  <a:pt x="155377" y="21431"/>
                </a:cubicBezTo>
                <a:lnTo>
                  <a:pt x="16073" y="21431"/>
                </a:lnTo>
                <a:close/>
                <a:moveTo>
                  <a:pt x="0" y="65633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5633"/>
                </a:lnTo>
                <a:lnTo>
                  <a:pt x="105013" y="115461"/>
                </a:lnTo>
                <a:cubicBezTo>
                  <a:pt x="93594" y="124033"/>
                  <a:pt x="77856" y="124033"/>
                  <a:pt x="66437" y="115461"/>
                </a:cubicBezTo>
                <a:lnTo>
                  <a:pt x="0" y="6563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5265423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SMTP Email Integration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88720" y="5494023"/>
            <a:ext cx="1571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System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3420" y="5722623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email alerts with image attachments for emergency response coordination.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6010" y="1375410"/>
            <a:ext cx="5627370" cy="4131945"/>
          </a:xfrm>
          <a:custGeom>
            <a:avLst/>
            <a:gdLst/>
            <a:ahLst/>
            <a:cxnLst/>
            <a:rect l="l" t="t" r="r" b="b"/>
            <a:pathLst>
              <a:path w="5627370" h="4131945">
                <a:moveTo>
                  <a:pt x="114290" y="0"/>
                </a:moveTo>
                <a:lnTo>
                  <a:pt x="5513080" y="0"/>
                </a:lnTo>
                <a:cubicBezTo>
                  <a:pt x="5576201" y="0"/>
                  <a:pt x="5627370" y="51169"/>
                  <a:pt x="5627370" y="114290"/>
                </a:cubicBezTo>
                <a:lnTo>
                  <a:pt x="5627370" y="4017655"/>
                </a:lnTo>
                <a:cubicBezTo>
                  <a:pt x="5627370" y="4080776"/>
                  <a:pt x="5576201" y="4131945"/>
                  <a:pt x="5513080" y="4131945"/>
                </a:cubicBezTo>
                <a:lnTo>
                  <a:pt x="114290" y="4131945"/>
                </a:lnTo>
                <a:cubicBezTo>
                  <a:pt x="51169" y="4131945"/>
                  <a:pt x="0" y="4080776"/>
                  <a:pt x="0" y="4017655"/>
                </a:cubicBezTo>
                <a:lnTo>
                  <a:pt x="0" y="114290"/>
                </a:lnTo>
                <a:cubicBezTo>
                  <a:pt x="0" y="51211"/>
                  <a:pt x="51211" y="0"/>
                  <a:pt x="11429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44126" y="156972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6570345" y="1531623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32220" y="1912623"/>
            <a:ext cx="5314950" cy="914400"/>
          </a:xfrm>
          <a:custGeom>
            <a:avLst/>
            <a:gdLst/>
            <a:ahLst/>
            <a:cxnLst/>
            <a:rect l="l" t="t" r="r" b="b"/>
            <a:pathLst>
              <a:path w="5314950" h="914400">
                <a:moveTo>
                  <a:pt x="76197" y="0"/>
                </a:moveTo>
                <a:lnTo>
                  <a:pt x="5238753" y="0"/>
                </a:lnTo>
                <a:cubicBezTo>
                  <a:pt x="5280835" y="0"/>
                  <a:pt x="5314950" y="34115"/>
                  <a:pt x="5314950" y="76197"/>
                </a:cubicBezTo>
                <a:lnTo>
                  <a:pt x="5314950" y="838203"/>
                </a:lnTo>
                <a:cubicBezTo>
                  <a:pt x="5314950" y="880285"/>
                  <a:pt x="5280835" y="914400"/>
                  <a:pt x="52387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2045973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 Smart Cities Market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846832" y="2026923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$460B+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46520" y="2369823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2034 at 27.8% CAGR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46520" y="2636523"/>
            <a:ext cx="5086350" cy="76200"/>
          </a:xfrm>
          <a:custGeom>
            <a:avLst/>
            <a:gdLst/>
            <a:ahLst/>
            <a:cxnLst/>
            <a:rect l="l" t="t" r="r" b="b"/>
            <a:pathLst>
              <a:path w="5086350" h="76200">
                <a:moveTo>
                  <a:pt x="38100" y="0"/>
                </a:moveTo>
                <a:lnTo>
                  <a:pt x="5048250" y="0"/>
                </a:lnTo>
                <a:cubicBezTo>
                  <a:pt x="5069278" y="0"/>
                  <a:pt x="5086350" y="17072"/>
                  <a:pt x="5086350" y="38100"/>
                </a:cubicBezTo>
                <a:lnTo>
                  <a:pt x="5086350" y="38100"/>
                </a:lnTo>
                <a:cubicBezTo>
                  <a:pt x="5086350" y="59128"/>
                  <a:pt x="5069278" y="76200"/>
                  <a:pt x="5048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44" name="Shape 42"/>
          <p:cNvSpPr/>
          <p:nvPr/>
        </p:nvSpPr>
        <p:spPr>
          <a:xfrm>
            <a:off x="6446520" y="2636523"/>
            <a:ext cx="4324350" cy="76200"/>
          </a:xfrm>
          <a:custGeom>
            <a:avLst/>
            <a:gdLst/>
            <a:ahLst/>
            <a:cxnLst/>
            <a:rect l="l" t="t" r="r" b="b"/>
            <a:pathLst>
              <a:path w="4324350" h="76200">
                <a:moveTo>
                  <a:pt x="38100" y="0"/>
                </a:moveTo>
                <a:lnTo>
                  <a:pt x="4286250" y="0"/>
                </a:lnTo>
                <a:cubicBezTo>
                  <a:pt x="4307278" y="0"/>
                  <a:pt x="4324350" y="17072"/>
                  <a:pt x="4324350" y="38100"/>
                </a:cubicBezTo>
                <a:lnTo>
                  <a:pt x="4324350" y="38100"/>
                </a:lnTo>
                <a:cubicBezTo>
                  <a:pt x="4324350" y="59128"/>
                  <a:pt x="4307278" y="76200"/>
                  <a:pt x="4286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6336030" y="2945133"/>
            <a:ext cx="2617470" cy="693420"/>
          </a:xfrm>
          <a:custGeom>
            <a:avLst/>
            <a:gdLst/>
            <a:ahLst/>
            <a:cxnLst/>
            <a:rect l="l" t="t" r="r" b="b"/>
            <a:pathLst>
              <a:path w="2617470" h="693420">
                <a:moveTo>
                  <a:pt x="76200" y="0"/>
                </a:moveTo>
                <a:lnTo>
                  <a:pt x="2541270" y="0"/>
                </a:lnTo>
                <a:cubicBezTo>
                  <a:pt x="2583354" y="0"/>
                  <a:pt x="2617470" y="34116"/>
                  <a:pt x="2617470" y="76200"/>
                </a:cubicBezTo>
                <a:lnTo>
                  <a:pt x="2617470" y="617220"/>
                </a:lnTo>
                <a:cubicBezTo>
                  <a:pt x="2617470" y="659304"/>
                  <a:pt x="2583354" y="693420"/>
                  <a:pt x="254127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6990" y="3063241"/>
            <a:ext cx="2495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25565" y="3367920"/>
            <a:ext cx="2438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Management is top AI application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33510" y="2945133"/>
            <a:ext cx="2617470" cy="693420"/>
          </a:xfrm>
          <a:custGeom>
            <a:avLst/>
            <a:gdLst/>
            <a:ahLst/>
            <a:cxnLst/>
            <a:rect l="l" t="t" r="r" b="b"/>
            <a:pathLst>
              <a:path w="2617470" h="693420">
                <a:moveTo>
                  <a:pt x="76200" y="0"/>
                </a:moveTo>
                <a:lnTo>
                  <a:pt x="2541270" y="0"/>
                </a:lnTo>
                <a:cubicBezTo>
                  <a:pt x="2583354" y="0"/>
                  <a:pt x="2617470" y="34116"/>
                  <a:pt x="2617470" y="76200"/>
                </a:cubicBezTo>
                <a:lnTo>
                  <a:pt x="2617470" y="617220"/>
                </a:lnTo>
                <a:cubicBezTo>
                  <a:pt x="2617470" y="659304"/>
                  <a:pt x="2583354" y="693420"/>
                  <a:pt x="254127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22D3EE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94470" y="3063241"/>
            <a:ext cx="2495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Fastest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23045" y="3367920"/>
            <a:ext cx="2438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 growth segment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32220" y="3756422"/>
            <a:ext cx="5314950" cy="1409700"/>
          </a:xfrm>
          <a:custGeom>
            <a:avLst/>
            <a:gdLst/>
            <a:ahLst/>
            <a:cxnLst/>
            <a:rect l="l" t="t" r="r" b="b"/>
            <a:pathLst>
              <a:path w="5314950" h="1409700">
                <a:moveTo>
                  <a:pt x="76194" y="0"/>
                </a:moveTo>
                <a:lnTo>
                  <a:pt x="5238756" y="0"/>
                </a:lnTo>
                <a:cubicBezTo>
                  <a:pt x="5280808" y="0"/>
                  <a:pt x="5314950" y="34142"/>
                  <a:pt x="5314950" y="76194"/>
                </a:cubicBezTo>
                <a:lnTo>
                  <a:pt x="5314950" y="1333506"/>
                </a:lnTo>
                <a:cubicBezTo>
                  <a:pt x="5314950" y="1375587"/>
                  <a:pt x="5280837" y="1409700"/>
                  <a:pt x="523875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3870722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Growth Drivers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57236" y="4204097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6689407" y="4175522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urbanization &amp; infrastructure strain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65570" y="443269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2750" y="1745"/>
                </a:moveTo>
                <a:cubicBezTo>
                  <a:pt x="124417" y="156"/>
                  <a:pt x="126839" y="-417"/>
                  <a:pt x="129079" y="313"/>
                </a:cubicBezTo>
                <a:cubicBezTo>
                  <a:pt x="131631" y="1172"/>
                  <a:pt x="133350" y="3568"/>
                  <a:pt x="133350" y="6251"/>
                </a:cubicBezTo>
                <a:lnTo>
                  <a:pt x="133350" y="54929"/>
                </a:lnTo>
                <a:cubicBezTo>
                  <a:pt x="133350" y="89100"/>
                  <a:pt x="105195" y="116681"/>
                  <a:pt x="71155" y="116681"/>
                </a:cubicBezTo>
                <a:cubicBezTo>
                  <a:pt x="51100" y="116681"/>
                  <a:pt x="33806" y="103789"/>
                  <a:pt x="27529" y="85766"/>
                </a:cubicBezTo>
                <a:cubicBezTo>
                  <a:pt x="18310" y="93788"/>
                  <a:pt x="12502" y="105586"/>
                  <a:pt x="12502" y="118765"/>
                </a:cubicBezTo>
                <a:cubicBezTo>
                  <a:pt x="12502" y="122229"/>
                  <a:pt x="9715" y="125016"/>
                  <a:pt x="6251" y="125016"/>
                </a:cubicBezTo>
                <a:cubicBezTo>
                  <a:pt x="2787" y="125016"/>
                  <a:pt x="0" y="122229"/>
                  <a:pt x="0" y="118765"/>
                </a:cubicBezTo>
                <a:cubicBezTo>
                  <a:pt x="0" y="99257"/>
                  <a:pt x="9949" y="82068"/>
                  <a:pt x="25029" y="71962"/>
                </a:cubicBezTo>
                <a:cubicBezTo>
                  <a:pt x="34223" y="65816"/>
                  <a:pt x="45188" y="62508"/>
                  <a:pt x="56257" y="62508"/>
                </a:cubicBezTo>
                <a:lnTo>
                  <a:pt x="77093" y="62508"/>
                </a:lnTo>
                <a:cubicBezTo>
                  <a:pt x="80557" y="62508"/>
                  <a:pt x="83344" y="59721"/>
                  <a:pt x="83344" y="56257"/>
                </a:cubicBezTo>
                <a:cubicBezTo>
                  <a:pt x="83344" y="52793"/>
                  <a:pt x="80557" y="50006"/>
                  <a:pt x="77093" y="50006"/>
                </a:cubicBezTo>
                <a:lnTo>
                  <a:pt x="56257" y="50006"/>
                </a:lnTo>
                <a:cubicBezTo>
                  <a:pt x="45917" y="50006"/>
                  <a:pt x="36124" y="52298"/>
                  <a:pt x="27347" y="56387"/>
                </a:cubicBezTo>
                <a:cubicBezTo>
                  <a:pt x="33416" y="38156"/>
                  <a:pt x="50579" y="25003"/>
                  <a:pt x="70842" y="25003"/>
                </a:cubicBezTo>
                <a:cubicBezTo>
                  <a:pt x="88136" y="25003"/>
                  <a:pt x="101002" y="19247"/>
                  <a:pt x="109571" y="13543"/>
                </a:cubicBezTo>
                <a:cubicBezTo>
                  <a:pt x="114572" y="10210"/>
                  <a:pt x="118817" y="6225"/>
                  <a:pt x="122776" y="174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6689407" y="4404122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Sustainability &amp; efficiency mandates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65570" y="466129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6689407" y="4632722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safety &amp; emergency response needs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65570" y="488989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5839" y="6251"/>
                </a:moveTo>
                <a:cubicBezTo>
                  <a:pt x="45839" y="2787"/>
                  <a:pt x="43052" y="0"/>
                  <a:pt x="39588" y="0"/>
                </a:cubicBezTo>
                <a:cubicBezTo>
                  <a:pt x="36124" y="0"/>
                  <a:pt x="33337" y="2787"/>
                  <a:pt x="33337" y="6251"/>
                </a:cubicBezTo>
                <a:lnTo>
                  <a:pt x="33337" y="16669"/>
                </a:lnTo>
                <a:cubicBezTo>
                  <a:pt x="24144" y="16669"/>
                  <a:pt x="16669" y="24144"/>
                  <a:pt x="16669" y="33337"/>
                </a:cubicBezTo>
                <a:lnTo>
                  <a:pt x="6251" y="33337"/>
                </a:lnTo>
                <a:cubicBezTo>
                  <a:pt x="2787" y="33337"/>
                  <a:pt x="0" y="36124"/>
                  <a:pt x="0" y="39588"/>
                </a:cubicBezTo>
                <a:cubicBezTo>
                  <a:pt x="0" y="43052"/>
                  <a:pt x="2787" y="45839"/>
                  <a:pt x="6251" y="45839"/>
                </a:cubicBezTo>
                <a:lnTo>
                  <a:pt x="16669" y="45839"/>
                </a:lnTo>
                <a:lnTo>
                  <a:pt x="16669" y="60424"/>
                </a:lnTo>
                <a:lnTo>
                  <a:pt x="6251" y="60424"/>
                </a:lnTo>
                <a:cubicBezTo>
                  <a:pt x="2787" y="60424"/>
                  <a:pt x="0" y="63211"/>
                  <a:pt x="0" y="66675"/>
                </a:cubicBezTo>
                <a:cubicBezTo>
                  <a:pt x="0" y="70139"/>
                  <a:pt x="2787" y="72926"/>
                  <a:pt x="6251" y="72926"/>
                </a:cubicBezTo>
                <a:lnTo>
                  <a:pt x="16669" y="72926"/>
                </a:ln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90298"/>
                  <a:pt x="0" y="93762"/>
                </a:cubicBezTo>
                <a:cubicBezTo>
                  <a:pt x="0" y="97226"/>
                  <a:pt x="2787" y="100013"/>
                  <a:pt x="6251" y="100013"/>
                </a:cubicBezTo>
                <a:lnTo>
                  <a:pt x="16669" y="100013"/>
                </a:lnTo>
                <a:cubicBezTo>
                  <a:pt x="16669" y="109206"/>
                  <a:pt x="24144" y="116681"/>
                  <a:pt x="33337" y="116681"/>
                </a:cubicBezTo>
                <a:lnTo>
                  <a:pt x="33337" y="127099"/>
                </a:lnTo>
                <a:cubicBezTo>
                  <a:pt x="33337" y="130563"/>
                  <a:pt x="36124" y="133350"/>
                  <a:pt x="39588" y="133350"/>
                </a:cubicBezTo>
                <a:cubicBezTo>
                  <a:pt x="43052" y="133350"/>
                  <a:pt x="45839" y="130563"/>
                  <a:pt x="45839" y="127099"/>
                </a:cubicBezTo>
                <a:lnTo>
                  <a:pt x="45839" y="116681"/>
                </a:lnTo>
                <a:lnTo>
                  <a:pt x="60424" y="116681"/>
                </a:lnTo>
                <a:lnTo>
                  <a:pt x="60424" y="127099"/>
                </a:lnTo>
                <a:cubicBezTo>
                  <a:pt x="60424" y="130563"/>
                  <a:pt x="63211" y="133350"/>
                  <a:pt x="66675" y="133350"/>
                </a:cubicBezTo>
                <a:cubicBezTo>
                  <a:pt x="70139" y="133350"/>
                  <a:pt x="72926" y="130563"/>
                  <a:pt x="72926" y="127099"/>
                </a:cubicBezTo>
                <a:lnTo>
                  <a:pt x="72926" y="116681"/>
                </a:lnTo>
                <a:lnTo>
                  <a:pt x="87511" y="116681"/>
                </a:lnTo>
                <a:lnTo>
                  <a:pt x="87511" y="127099"/>
                </a:lnTo>
                <a:cubicBezTo>
                  <a:pt x="87511" y="130563"/>
                  <a:pt x="90298" y="133350"/>
                  <a:pt x="93762" y="133350"/>
                </a:cubicBezTo>
                <a:cubicBezTo>
                  <a:pt x="97226" y="133350"/>
                  <a:pt x="100013" y="130563"/>
                  <a:pt x="100013" y="127099"/>
                </a:cubicBezTo>
                <a:lnTo>
                  <a:pt x="100013" y="116681"/>
                </a:lnTo>
                <a:cubicBezTo>
                  <a:pt x="109206" y="116681"/>
                  <a:pt x="116681" y="109206"/>
                  <a:pt x="116681" y="100013"/>
                </a:cubicBezTo>
                <a:lnTo>
                  <a:pt x="127099" y="100013"/>
                </a:lnTo>
                <a:cubicBezTo>
                  <a:pt x="130563" y="100013"/>
                  <a:pt x="133350" y="97226"/>
                  <a:pt x="133350" y="93762"/>
                </a:cubicBezTo>
                <a:cubicBezTo>
                  <a:pt x="133350" y="90298"/>
                  <a:pt x="130563" y="87511"/>
                  <a:pt x="127099" y="87511"/>
                </a:cubicBezTo>
                <a:lnTo>
                  <a:pt x="116681" y="87511"/>
                </a:lnTo>
                <a:lnTo>
                  <a:pt x="116681" y="72926"/>
                </a:lnTo>
                <a:lnTo>
                  <a:pt x="127099" y="72926"/>
                </a:lnTo>
                <a:cubicBezTo>
                  <a:pt x="130563" y="72926"/>
                  <a:pt x="133350" y="70139"/>
                  <a:pt x="133350" y="66675"/>
                </a:cubicBezTo>
                <a:cubicBezTo>
                  <a:pt x="133350" y="63211"/>
                  <a:pt x="130563" y="60424"/>
                  <a:pt x="127099" y="60424"/>
                </a:cubicBezTo>
                <a:lnTo>
                  <a:pt x="116681" y="60424"/>
                </a:lnTo>
                <a:lnTo>
                  <a:pt x="116681" y="45839"/>
                </a:lnTo>
                <a:lnTo>
                  <a:pt x="127099" y="45839"/>
                </a:lnTo>
                <a:cubicBezTo>
                  <a:pt x="130563" y="45839"/>
                  <a:pt x="133350" y="43052"/>
                  <a:pt x="133350" y="39588"/>
                </a:cubicBezTo>
                <a:cubicBezTo>
                  <a:pt x="133350" y="36124"/>
                  <a:pt x="130563" y="33337"/>
                  <a:pt x="127099" y="33337"/>
                </a:cubicBez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100013" y="6251"/>
                </a:lnTo>
                <a:cubicBezTo>
                  <a:pt x="100013" y="2787"/>
                  <a:pt x="97226" y="0"/>
                  <a:pt x="93762" y="0"/>
                </a:cubicBezTo>
                <a:cubicBezTo>
                  <a:pt x="90298" y="0"/>
                  <a:pt x="87511" y="2787"/>
                  <a:pt x="87511" y="6251"/>
                </a:cubicBezTo>
                <a:lnTo>
                  <a:pt x="87511" y="16669"/>
                </a:lnTo>
                <a:lnTo>
                  <a:pt x="72926" y="16669"/>
                </a:lnTo>
                <a:lnTo>
                  <a:pt x="72926" y="6251"/>
                </a:lnTo>
                <a:cubicBezTo>
                  <a:pt x="72926" y="2787"/>
                  <a:pt x="70139" y="0"/>
                  <a:pt x="66675" y="0"/>
                </a:cubicBezTo>
                <a:cubicBezTo>
                  <a:pt x="63211" y="0"/>
                  <a:pt x="60424" y="2787"/>
                  <a:pt x="60424" y="6251"/>
                </a:cubicBezTo>
                <a:lnTo>
                  <a:pt x="60424" y="16669"/>
                </a:lnTo>
                <a:lnTo>
                  <a:pt x="45839" y="16669"/>
                </a:lnTo>
                <a:lnTo>
                  <a:pt x="45839" y="6251"/>
                </a:lnTo>
                <a:close/>
                <a:moveTo>
                  <a:pt x="41672" y="33337"/>
                </a:moveTo>
                <a:lnTo>
                  <a:pt x="91678" y="33337"/>
                </a:lnTo>
                <a:cubicBezTo>
                  <a:pt x="96288" y="33337"/>
                  <a:pt x="100013" y="37062"/>
                  <a:pt x="100013" y="41672"/>
                </a:cubicBezTo>
                <a:lnTo>
                  <a:pt x="100013" y="91678"/>
                </a:lnTo>
                <a:cubicBezTo>
                  <a:pt x="100013" y="96288"/>
                  <a:pt x="96288" y="100013"/>
                  <a:pt x="91678" y="100013"/>
                </a:cubicBezTo>
                <a:lnTo>
                  <a:pt x="41672" y="100013"/>
                </a:lnTo>
                <a:cubicBezTo>
                  <a:pt x="37062" y="100013"/>
                  <a:pt x="33337" y="96288"/>
                  <a:pt x="33337" y="91678"/>
                </a:cubicBezTo>
                <a:lnTo>
                  <a:pt x="33337" y="41672"/>
                </a:lnTo>
                <a:cubicBezTo>
                  <a:pt x="33337" y="37062"/>
                  <a:pt x="37062" y="33337"/>
                  <a:pt x="41672" y="33337"/>
                </a:cubicBezTo>
                <a:close/>
                <a:moveTo>
                  <a:pt x="45839" y="45839"/>
                </a:moveTo>
                <a:lnTo>
                  <a:pt x="45839" y="87511"/>
                </a:lnTo>
                <a:lnTo>
                  <a:pt x="87511" y="87511"/>
                </a:lnTo>
                <a:lnTo>
                  <a:pt x="87511" y="45839"/>
                </a:lnTo>
                <a:lnTo>
                  <a:pt x="45839" y="45839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0" name="Text 58"/>
          <p:cNvSpPr/>
          <p:nvPr/>
        </p:nvSpPr>
        <p:spPr>
          <a:xfrm>
            <a:off x="6689407" y="4861322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AI/IoT/5G technology convergence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76010" y="5627490"/>
            <a:ext cx="5627370" cy="845820"/>
          </a:xfrm>
          <a:custGeom>
            <a:avLst/>
            <a:gdLst/>
            <a:ahLst/>
            <a:cxnLst/>
            <a:rect l="l" t="t" r="r" b="b"/>
            <a:pathLst>
              <a:path w="5627370" h="845820">
                <a:moveTo>
                  <a:pt x="114304" y="0"/>
                </a:moveTo>
                <a:lnTo>
                  <a:pt x="5513066" y="0"/>
                </a:lnTo>
                <a:cubicBezTo>
                  <a:pt x="5576194" y="0"/>
                  <a:pt x="5627370" y="51176"/>
                  <a:pt x="5627370" y="114304"/>
                </a:cubicBezTo>
                <a:lnTo>
                  <a:pt x="5627370" y="731516"/>
                </a:lnTo>
                <a:cubicBezTo>
                  <a:pt x="5627370" y="794644"/>
                  <a:pt x="5576194" y="845820"/>
                  <a:pt x="5513066" y="845820"/>
                </a:cubicBezTo>
                <a:lnTo>
                  <a:pt x="114304" y="845820"/>
                </a:lnTo>
                <a:cubicBezTo>
                  <a:pt x="51176" y="845820"/>
                  <a:pt x="0" y="794644"/>
                  <a:pt x="0" y="7315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3B82F6">
                  <a:alpha val="30000"/>
                </a:srgbClr>
              </a:gs>
            </a:gsLst>
            <a:lin ang="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32220" y="5802632"/>
            <a:ext cx="212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Addressable Market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32220" y="6107432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Cities + Insurance Integration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642402" y="5783698"/>
            <a:ext cx="1009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$1.4T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756702" y="6164698"/>
            <a:ext cx="895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2030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echelevator.com/5540cb512a7a6032ab0722d91556777d011c4573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837" b="7837"/>
          <a:stretch/>
        </p:blipFill>
        <p:spPr>
          <a:xfrm>
            <a:off x="0" y="0"/>
            <a:ext cx="12192000" cy="6859618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618"/>
          </a:xfrm>
          <a:custGeom>
            <a:avLst/>
            <a:gdLst/>
            <a:ahLst/>
            <a:cxnLst/>
            <a:rect l="l" t="t" r="r" b="b"/>
            <a:pathLst>
              <a:path w="12192000" h="6859618">
                <a:moveTo>
                  <a:pt x="0" y="0"/>
                </a:moveTo>
                <a:lnTo>
                  <a:pt x="12192000" y="0"/>
                </a:lnTo>
                <a:lnTo>
                  <a:pt x="12192000" y="6859618"/>
                </a:lnTo>
                <a:lnTo>
                  <a:pt x="0" y="685961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2000"/>
                </a:srgbClr>
              </a:gs>
              <a:gs pos="100000">
                <a:srgbClr val="06B6D4">
                  <a:alpha val="1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45138" y="345138"/>
            <a:ext cx="11570752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b="1" spc="54" kern="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MODEL &amp; TEAM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5138" y="621248"/>
            <a:ext cx="11657036" cy="34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SaaS for Smart Cities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5138" y="1069928"/>
            <a:ext cx="828331" cy="34514"/>
          </a:xfrm>
          <a:custGeom>
            <a:avLst/>
            <a:gdLst/>
            <a:ahLst/>
            <a:cxnLst/>
            <a:rect l="l" t="t" r="r" b="b"/>
            <a:pathLst>
              <a:path w="828331" h="34514">
                <a:moveTo>
                  <a:pt x="0" y="0"/>
                </a:moveTo>
                <a:lnTo>
                  <a:pt x="828331" y="0"/>
                </a:lnTo>
                <a:lnTo>
                  <a:pt x="828331" y="34514"/>
                </a:lnTo>
                <a:lnTo>
                  <a:pt x="0" y="34514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Shape 4"/>
          <p:cNvSpPr/>
          <p:nvPr/>
        </p:nvSpPr>
        <p:spPr>
          <a:xfrm>
            <a:off x="348589" y="1245948"/>
            <a:ext cx="6245272" cy="3320228"/>
          </a:xfrm>
          <a:custGeom>
            <a:avLst/>
            <a:gdLst/>
            <a:ahLst/>
            <a:cxnLst/>
            <a:rect l="l" t="t" r="r" b="b"/>
            <a:pathLst>
              <a:path w="6245272" h="3320228">
                <a:moveTo>
                  <a:pt x="103558" y="0"/>
                </a:moveTo>
                <a:lnTo>
                  <a:pt x="6141714" y="0"/>
                </a:lnTo>
                <a:cubicBezTo>
                  <a:pt x="6198908" y="0"/>
                  <a:pt x="6245272" y="46364"/>
                  <a:pt x="6245272" y="103558"/>
                </a:cubicBezTo>
                <a:lnTo>
                  <a:pt x="6245272" y="3216670"/>
                </a:lnTo>
                <a:cubicBezTo>
                  <a:pt x="6245272" y="3273863"/>
                  <a:pt x="6198908" y="3320228"/>
                  <a:pt x="6141714" y="3320228"/>
                </a:cubicBezTo>
                <a:lnTo>
                  <a:pt x="103558" y="3320228"/>
                </a:lnTo>
                <a:cubicBezTo>
                  <a:pt x="46364" y="3320228"/>
                  <a:pt x="0" y="3273863"/>
                  <a:pt x="0" y="3216670"/>
                </a:cubicBezTo>
                <a:lnTo>
                  <a:pt x="0" y="103558"/>
                </a:lnTo>
                <a:cubicBezTo>
                  <a:pt x="0" y="46403"/>
                  <a:pt x="46403" y="0"/>
                  <a:pt x="103558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4024" y="1421971"/>
            <a:ext cx="107856" cy="172569"/>
          </a:xfrm>
          <a:custGeom>
            <a:avLst/>
            <a:gdLst/>
            <a:ahLst/>
            <a:cxnLst/>
            <a:rect l="l" t="t" r="r" b="b"/>
            <a:pathLst>
              <a:path w="107856" h="172569">
                <a:moveTo>
                  <a:pt x="45839" y="8089"/>
                </a:moveTo>
                <a:cubicBezTo>
                  <a:pt x="45839" y="3606"/>
                  <a:pt x="49445" y="0"/>
                  <a:pt x="53928" y="0"/>
                </a:cubicBezTo>
                <a:cubicBezTo>
                  <a:pt x="58411" y="0"/>
                  <a:pt x="62017" y="3606"/>
                  <a:pt x="62017" y="8089"/>
                </a:cubicBezTo>
                <a:lnTo>
                  <a:pt x="62017" y="21571"/>
                </a:lnTo>
                <a:lnTo>
                  <a:pt x="80892" y="21571"/>
                </a:lnTo>
                <a:cubicBezTo>
                  <a:pt x="86857" y="21571"/>
                  <a:pt x="91677" y="26391"/>
                  <a:pt x="91677" y="32357"/>
                </a:cubicBezTo>
                <a:cubicBezTo>
                  <a:pt x="91677" y="38322"/>
                  <a:pt x="86857" y="43142"/>
                  <a:pt x="80892" y="43142"/>
                </a:cubicBezTo>
                <a:lnTo>
                  <a:pt x="42165" y="43142"/>
                </a:lnTo>
                <a:cubicBezTo>
                  <a:pt x="33772" y="43142"/>
                  <a:pt x="26964" y="49951"/>
                  <a:pt x="26964" y="58343"/>
                </a:cubicBezTo>
                <a:cubicBezTo>
                  <a:pt x="26964" y="65927"/>
                  <a:pt x="32525" y="72331"/>
                  <a:pt x="40008" y="73409"/>
                </a:cubicBezTo>
                <a:lnTo>
                  <a:pt x="70881" y="77825"/>
                </a:lnTo>
                <a:cubicBezTo>
                  <a:pt x="89015" y="80420"/>
                  <a:pt x="102463" y="95924"/>
                  <a:pt x="102463" y="114226"/>
                </a:cubicBezTo>
                <a:cubicBezTo>
                  <a:pt x="102463" y="134550"/>
                  <a:pt x="85981" y="150998"/>
                  <a:pt x="65691" y="150998"/>
                </a:cubicBezTo>
                <a:lnTo>
                  <a:pt x="62017" y="150998"/>
                </a:lnTo>
                <a:lnTo>
                  <a:pt x="62017" y="164480"/>
                </a:lnTo>
                <a:cubicBezTo>
                  <a:pt x="62017" y="168963"/>
                  <a:pt x="58411" y="172569"/>
                  <a:pt x="53928" y="172569"/>
                </a:cubicBezTo>
                <a:cubicBezTo>
                  <a:pt x="49445" y="172569"/>
                  <a:pt x="45839" y="168963"/>
                  <a:pt x="45839" y="164480"/>
                </a:cubicBezTo>
                <a:lnTo>
                  <a:pt x="45839" y="150998"/>
                </a:lnTo>
                <a:lnTo>
                  <a:pt x="21571" y="150998"/>
                </a:lnTo>
                <a:cubicBezTo>
                  <a:pt x="15605" y="150998"/>
                  <a:pt x="10786" y="146178"/>
                  <a:pt x="10786" y="140212"/>
                </a:cubicBezTo>
                <a:cubicBezTo>
                  <a:pt x="10786" y="134247"/>
                  <a:pt x="15605" y="129427"/>
                  <a:pt x="21571" y="129427"/>
                </a:cubicBezTo>
                <a:lnTo>
                  <a:pt x="65691" y="129427"/>
                </a:lnTo>
                <a:cubicBezTo>
                  <a:pt x="74083" y="129427"/>
                  <a:pt x="80892" y="122618"/>
                  <a:pt x="80892" y="114226"/>
                </a:cubicBezTo>
                <a:cubicBezTo>
                  <a:pt x="80892" y="106642"/>
                  <a:pt x="75330" y="100238"/>
                  <a:pt x="67848" y="99160"/>
                </a:cubicBezTo>
                <a:lnTo>
                  <a:pt x="36974" y="94744"/>
                </a:lnTo>
                <a:cubicBezTo>
                  <a:pt x="18841" y="92183"/>
                  <a:pt x="5393" y="76645"/>
                  <a:pt x="5393" y="58343"/>
                </a:cubicBezTo>
                <a:cubicBezTo>
                  <a:pt x="5393" y="38053"/>
                  <a:pt x="21874" y="21571"/>
                  <a:pt x="42165" y="21571"/>
                </a:cubicBezTo>
                <a:lnTo>
                  <a:pt x="45839" y="21571"/>
                </a:lnTo>
                <a:lnTo>
                  <a:pt x="45839" y="8089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9" name="Text 6"/>
          <p:cNvSpPr/>
          <p:nvPr/>
        </p:nvSpPr>
        <p:spPr>
          <a:xfrm>
            <a:off x="705807" y="1387457"/>
            <a:ext cx="5832832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Model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7353" y="1732595"/>
            <a:ext cx="5945002" cy="1242497"/>
          </a:xfrm>
          <a:custGeom>
            <a:avLst/>
            <a:gdLst/>
            <a:ahLst/>
            <a:cxnLst/>
            <a:rect l="l" t="t" r="r" b="b"/>
            <a:pathLst>
              <a:path w="5945002" h="1242497">
                <a:moveTo>
                  <a:pt x="34514" y="0"/>
                </a:moveTo>
                <a:lnTo>
                  <a:pt x="5875969" y="0"/>
                </a:lnTo>
                <a:cubicBezTo>
                  <a:pt x="5914095" y="0"/>
                  <a:pt x="5945002" y="30907"/>
                  <a:pt x="5945002" y="69033"/>
                </a:cubicBezTo>
                <a:lnTo>
                  <a:pt x="5945002" y="1173464"/>
                </a:lnTo>
                <a:cubicBezTo>
                  <a:pt x="5945002" y="1211590"/>
                  <a:pt x="5914095" y="1242497"/>
                  <a:pt x="5875969" y="1242497"/>
                </a:cubicBezTo>
                <a:lnTo>
                  <a:pt x="34514" y="1242497"/>
                </a:lnTo>
                <a:cubicBezTo>
                  <a:pt x="15465" y="1242497"/>
                  <a:pt x="0" y="1227032"/>
                  <a:pt x="0" y="1207983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1" name="Shape 8"/>
          <p:cNvSpPr/>
          <p:nvPr/>
        </p:nvSpPr>
        <p:spPr>
          <a:xfrm>
            <a:off x="507353" y="1732595"/>
            <a:ext cx="34514" cy="1242497"/>
          </a:xfrm>
          <a:custGeom>
            <a:avLst/>
            <a:gdLst/>
            <a:ahLst/>
            <a:cxnLst/>
            <a:rect l="l" t="t" r="r" b="b"/>
            <a:pathLst>
              <a:path w="34514" h="1242497">
                <a:moveTo>
                  <a:pt x="34514" y="0"/>
                </a:moveTo>
                <a:lnTo>
                  <a:pt x="34514" y="0"/>
                </a:lnTo>
                <a:lnTo>
                  <a:pt x="34514" y="1242497"/>
                </a:lnTo>
                <a:lnTo>
                  <a:pt x="34514" y="1242497"/>
                </a:lnTo>
                <a:cubicBezTo>
                  <a:pt x="15465" y="1242497"/>
                  <a:pt x="0" y="1227032"/>
                  <a:pt x="0" y="1207983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628151" y="1836137"/>
            <a:ext cx="1492722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Municipal Subscriptions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94651" y="1836137"/>
            <a:ext cx="552221" cy="207083"/>
          </a:xfrm>
          <a:custGeom>
            <a:avLst/>
            <a:gdLst/>
            <a:ahLst/>
            <a:cxnLst/>
            <a:rect l="l" t="t" r="r" b="b"/>
            <a:pathLst>
              <a:path w="552221" h="207083">
                <a:moveTo>
                  <a:pt x="103541" y="0"/>
                </a:moveTo>
                <a:lnTo>
                  <a:pt x="448679" y="0"/>
                </a:lnTo>
                <a:cubicBezTo>
                  <a:pt x="505864" y="0"/>
                  <a:pt x="552221" y="46357"/>
                  <a:pt x="552221" y="103541"/>
                </a:cubicBezTo>
                <a:lnTo>
                  <a:pt x="552221" y="103541"/>
                </a:lnTo>
                <a:cubicBezTo>
                  <a:pt x="552221" y="160726"/>
                  <a:pt x="505864" y="207083"/>
                  <a:pt x="448679" y="207083"/>
                </a:cubicBezTo>
                <a:lnTo>
                  <a:pt x="103541" y="207083"/>
                </a:lnTo>
                <a:cubicBezTo>
                  <a:pt x="46357" y="207083"/>
                  <a:pt x="0" y="160726"/>
                  <a:pt x="0" y="103541"/>
                </a:cubicBezTo>
                <a:lnTo>
                  <a:pt x="0" y="103541"/>
                </a:lnTo>
                <a:cubicBezTo>
                  <a:pt x="0" y="46357"/>
                  <a:pt x="46357" y="0"/>
                  <a:pt x="103541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794651" y="1836137"/>
            <a:ext cx="603992" cy="207083"/>
          </a:xfrm>
          <a:prstGeom prst="rect">
            <a:avLst/>
          </a:prstGeom>
          <a:noFill/>
          <a:ln/>
        </p:spPr>
        <p:txBody>
          <a:bodyPr wrap="square" lIns="103541" tIns="34514" rIns="103541" bIns="34514" rtlCol="0" anchor="ctr"/>
          <a:lstStyle/>
          <a:p>
            <a:pPr>
              <a:lnSpc>
                <a:spcPct val="110000"/>
              </a:lnSpc>
            </a:pPr>
            <a:r>
              <a:rPr lang="en-US" sz="815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8151" y="2112247"/>
            <a:ext cx="5781062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Tiered pricing based on city population and deployment scope.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8151" y="2353844"/>
            <a:ext cx="1863745" cy="517707"/>
          </a:xfrm>
          <a:custGeom>
            <a:avLst/>
            <a:gdLst/>
            <a:ahLst/>
            <a:cxnLst/>
            <a:rect l="l" t="t" r="r" b="b"/>
            <a:pathLst>
              <a:path w="1863745" h="517707">
                <a:moveTo>
                  <a:pt x="34516" y="0"/>
                </a:moveTo>
                <a:lnTo>
                  <a:pt x="1829230" y="0"/>
                </a:lnTo>
                <a:cubicBezTo>
                  <a:pt x="1848292" y="0"/>
                  <a:pt x="1863745" y="15453"/>
                  <a:pt x="1863745" y="34516"/>
                </a:cubicBezTo>
                <a:lnTo>
                  <a:pt x="1863745" y="483191"/>
                </a:lnTo>
                <a:cubicBezTo>
                  <a:pt x="1863745" y="502254"/>
                  <a:pt x="1848292" y="517707"/>
                  <a:pt x="1829230" y="517707"/>
                </a:cubicBezTo>
                <a:lnTo>
                  <a:pt x="34516" y="517707"/>
                </a:lnTo>
                <a:cubicBezTo>
                  <a:pt x="15453" y="517707"/>
                  <a:pt x="0" y="502254"/>
                  <a:pt x="0" y="483191"/>
                </a:cubicBezTo>
                <a:lnTo>
                  <a:pt x="0" y="34516"/>
                </a:lnTo>
                <a:cubicBezTo>
                  <a:pt x="0" y="15466"/>
                  <a:pt x="15466" y="0"/>
                  <a:pt x="34516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671293" y="2422871"/>
            <a:ext cx="1777461" cy="13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City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8351" y="2560817"/>
            <a:ext cx="1803346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3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$5K/mo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557796" y="2353844"/>
            <a:ext cx="1863745" cy="517707"/>
          </a:xfrm>
          <a:custGeom>
            <a:avLst/>
            <a:gdLst/>
            <a:ahLst/>
            <a:cxnLst/>
            <a:rect l="l" t="t" r="r" b="b"/>
            <a:pathLst>
              <a:path w="1863745" h="517707">
                <a:moveTo>
                  <a:pt x="34516" y="0"/>
                </a:moveTo>
                <a:lnTo>
                  <a:pt x="1829230" y="0"/>
                </a:lnTo>
                <a:cubicBezTo>
                  <a:pt x="1848292" y="0"/>
                  <a:pt x="1863745" y="15453"/>
                  <a:pt x="1863745" y="34516"/>
                </a:cubicBezTo>
                <a:lnTo>
                  <a:pt x="1863745" y="483191"/>
                </a:lnTo>
                <a:cubicBezTo>
                  <a:pt x="1863745" y="502254"/>
                  <a:pt x="1848292" y="517707"/>
                  <a:pt x="1829230" y="517707"/>
                </a:cubicBezTo>
                <a:lnTo>
                  <a:pt x="34516" y="517707"/>
                </a:lnTo>
                <a:cubicBezTo>
                  <a:pt x="15453" y="517707"/>
                  <a:pt x="0" y="502254"/>
                  <a:pt x="0" y="483191"/>
                </a:cubicBezTo>
                <a:lnTo>
                  <a:pt x="0" y="34516"/>
                </a:lnTo>
                <a:cubicBezTo>
                  <a:pt x="0" y="15466"/>
                  <a:pt x="15466" y="0"/>
                  <a:pt x="34516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2600938" y="2422871"/>
            <a:ext cx="1777461" cy="13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City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587996" y="2560817"/>
            <a:ext cx="1803346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3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$15K/mo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487441" y="2353844"/>
            <a:ext cx="1863745" cy="517707"/>
          </a:xfrm>
          <a:custGeom>
            <a:avLst/>
            <a:gdLst/>
            <a:ahLst/>
            <a:cxnLst/>
            <a:rect l="l" t="t" r="r" b="b"/>
            <a:pathLst>
              <a:path w="1863745" h="517707">
                <a:moveTo>
                  <a:pt x="34516" y="0"/>
                </a:moveTo>
                <a:lnTo>
                  <a:pt x="1829230" y="0"/>
                </a:lnTo>
                <a:cubicBezTo>
                  <a:pt x="1848292" y="0"/>
                  <a:pt x="1863745" y="15453"/>
                  <a:pt x="1863745" y="34516"/>
                </a:cubicBezTo>
                <a:lnTo>
                  <a:pt x="1863745" y="483191"/>
                </a:lnTo>
                <a:cubicBezTo>
                  <a:pt x="1863745" y="502254"/>
                  <a:pt x="1848292" y="517707"/>
                  <a:pt x="1829230" y="517707"/>
                </a:cubicBezTo>
                <a:lnTo>
                  <a:pt x="34516" y="517707"/>
                </a:lnTo>
                <a:cubicBezTo>
                  <a:pt x="15453" y="517707"/>
                  <a:pt x="0" y="502254"/>
                  <a:pt x="0" y="483191"/>
                </a:cubicBezTo>
                <a:lnTo>
                  <a:pt x="0" y="34516"/>
                </a:lnTo>
                <a:cubicBezTo>
                  <a:pt x="0" y="15466"/>
                  <a:pt x="15466" y="0"/>
                  <a:pt x="34516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3" name="Text 20"/>
          <p:cNvSpPr/>
          <p:nvPr/>
        </p:nvSpPr>
        <p:spPr>
          <a:xfrm>
            <a:off x="4530584" y="2422871"/>
            <a:ext cx="1777461" cy="13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Metro City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17641" y="2560817"/>
            <a:ext cx="1803346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3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$50K/mo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07353" y="3044010"/>
            <a:ext cx="5945002" cy="655762"/>
          </a:xfrm>
          <a:custGeom>
            <a:avLst/>
            <a:gdLst/>
            <a:ahLst/>
            <a:cxnLst/>
            <a:rect l="l" t="t" r="r" b="b"/>
            <a:pathLst>
              <a:path w="5945002" h="655762">
                <a:moveTo>
                  <a:pt x="34514" y="0"/>
                </a:moveTo>
                <a:lnTo>
                  <a:pt x="5875977" y="0"/>
                </a:lnTo>
                <a:cubicBezTo>
                  <a:pt x="5914098" y="0"/>
                  <a:pt x="5945002" y="30904"/>
                  <a:pt x="5945002" y="69026"/>
                </a:cubicBezTo>
                <a:lnTo>
                  <a:pt x="5945002" y="586737"/>
                </a:lnTo>
                <a:cubicBezTo>
                  <a:pt x="5945002" y="624858"/>
                  <a:pt x="5914098" y="655762"/>
                  <a:pt x="5875977" y="655762"/>
                </a:cubicBezTo>
                <a:lnTo>
                  <a:pt x="34514" y="655762"/>
                </a:lnTo>
                <a:cubicBezTo>
                  <a:pt x="15465" y="655762"/>
                  <a:pt x="0" y="640297"/>
                  <a:pt x="0" y="621248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6" name="Shape 23"/>
          <p:cNvSpPr/>
          <p:nvPr/>
        </p:nvSpPr>
        <p:spPr>
          <a:xfrm>
            <a:off x="507353" y="3044010"/>
            <a:ext cx="34514" cy="655762"/>
          </a:xfrm>
          <a:custGeom>
            <a:avLst/>
            <a:gdLst/>
            <a:ahLst/>
            <a:cxnLst/>
            <a:rect l="l" t="t" r="r" b="b"/>
            <a:pathLst>
              <a:path w="34514" h="655762">
                <a:moveTo>
                  <a:pt x="34514" y="0"/>
                </a:moveTo>
                <a:lnTo>
                  <a:pt x="34514" y="0"/>
                </a:lnTo>
                <a:lnTo>
                  <a:pt x="34514" y="655762"/>
                </a:lnTo>
                <a:lnTo>
                  <a:pt x="34514" y="655762"/>
                </a:lnTo>
                <a:cubicBezTo>
                  <a:pt x="15465" y="655762"/>
                  <a:pt x="0" y="640297"/>
                  <a:pt x="0" y="621248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4"/>
          <p:cNvSpPr/>
          <p:nvPr/>
        </p:nvSpPr>
        <p:spPr>
          <a:xfrm>
            <a:off x="628151" y="3147552"/>
            <a:ext cx="1423694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 Partnerships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802417" y="3147552"/>
            <a:ext cx="543592" cy="207083"/>
          </a:xfrm>
          <a:custGeom>
            <a:avLst/>
            <a:gdLst/>
            <a:ahLst/>
            <a:cxnLst/>
            <a:rect l="l" t="t" r="r" b="b"/>
            <a:pathLst>
              <a:path w="543592" h="207083">
                <a:moveTo>
                  <a:pt x="103541" y="0"/>
                </a:moveTo>
                <a:lnTo>
                  <a:pt x="440051" y="0"/>
                </a:lnTo>
                <a:cubicBezTo>
                  <a:pt x="497235" y="0"/>
                  <a:pt x="543592" y="46357"/>
                  <a:pt x="543592" y="103541"/>
                </a:cubicBezTo>
                <a:lnTo>
                  <a:pt x="543592" y="103541"/>
                </a:lnTo>
                <a:cubicBezTo>
                  <a:pt x="543592" y="160726"/>
                  <a:pt x="497235" y="207083"/>
                  <a:pt x="440051" y="207083"/>
                </a:cubicBezTo>
                <a:lnTo>
                  <a:pt x="103541" y="207083"/>
                </a:lnTo>
                <a:cubicBezTo>
                  <a:pt x="46357" y="207083"/>
                  <a:pt x="0" y="160726"/>
                  <a:pt x="0" y="103541"/>
                </a:cubicBezTo>
                <a:lnTo>
                  <a:pt x="0" y="103541"/>
                </a:lnTo>
                <a:cubicBezTo>
                  <a:pt x="0" y="46357"/>
                  <a:pt x="46357" y="0"/>
                  <a:pt x="103541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802417" y="3147552"/>
            <a:ext cx="595363" cy="207083"/>
          </a:xfrm>
          <a:prstGeom prst="rect">
            <a:avLst/>
          </a:prstGeom>
          <a:noFill/>
          <a:ln/>
        </p:spPr>
        <p:txBody>
          <a:bodyPr wrap="square" lIns="103541" tIns="34514" rIns="103541" bIns="34514" rtlCol="0" anchor="ctr"/>
          <a:lstStyle/>
          <a:p>
            <a:pPr>
              <a:lnSpc>
                <a:spcPct val="110000"/>
              </a:lnSpc>
            </a:pPr>
            <a:r>
              <a:rPr lang="en-US" sz="815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28151" y="3423662"/>
            <a:ext cx="5781062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assessment data, accident verification, and fraud detection services for insurance companies.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07353" y="3768800"/>
            <a:ext cx="5945002" cy="655762"/>
          </a:xfrm>
          <a:custGeom>
            <a:avLst/>
            <a:gdLst/>
            <a:ahLst/>
            <a:cxnLst/>
            <a:rect l="l" t="t" r="r" b="b"/>
            <a:pathLst>
              <a:path w="5945002" h="655762">
                <a:moveTo>
                  <a:pt x="34514" y="0"/>
                </a:moveTo>
                <a:lnTo>
                  <a:pt x="5875977" y="0"/>
                </a:lnTo>
                <a:cubicBezTo>
                  <a:pt x="5914098" y="0"/>
                  <a:pt x="5945002" y="30904"/>
                  <a:pt x="5945002" y="69026"/>
                </a:cubicBezTo>
                <a:lnTo>
                  <a:pt x="5945002" y="586737"/>
                </a:lnTo>
                <a:cubicBezTo>
                  <a:pt x="5945002" y="624858"/>
                  <a:pt x="5914098" y="655762"/>
                  <a:pt x="5875977" y="655762"/>
                </a:cubicBezTo>
                <a:lnTo>
                  <a:pt x="34514" y="655762"/>
                </a:lnTo>
                <a:cubicBezTo>
                  <a:pt x="15465" y="655762"/>
                  <a:pt x="0" y="640297"/>
                  <a:pt x="0" y="621248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2" name="Shape 29"/>
          <p:cNvSpPr/>
          <p:nvPr/>
        </p:nvSpPr>
        <p:spPr>
          <a:xfrm>
            <a:off x="507353" y="3768800"/>
            <a:ext cx="34514" cy="655762"/>
          </a:xfrm>
          <a:custGeom>
            <a:avLst/>
            <a:gdLst/>
            <a:ahLst/>
            <a:cxnLst/>
            <a:rect l="l" t="t" r="r" b="b"/>
            <a:pathLst>
              <a:path w="34514" h="655762">
                <a:moveTo>
                  <a:pt x="34514" y="0"/>
                </a:moveTo>
                <a:lnTo>
                  <a:pt x="34514" y="0"/>
                </a:lnTo>
                <a:lnTo>
                  <a:pt x="34514" y="655762"/>
                </a:lnTo>
                <a:lnTo>
                  <a:pt x="34514" y="655762"/>
                </a:lnTo>
                <a:cubicBezTo>
                  <a:pt x="15465" y="655762"/>
                  <a:pt x="0" y="640297"/>
                  <a:pt x="0" y="621248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3" name="Text 30"/>
          <p:cNvSpPr/>
          <p:nvPr/>
        </p:nvSpPr>
        <p:spPr>
          <a:xfrm>
            <a:off x="628151" y="3872341"/>
            <a:ext cx="1182098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Analytics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790661" y="3872341"/>
            <a:ext cx="560849" cy="207083"/>
          </a:xfrm>
          <a:custGeom>
            <a:avLst/>
            <a:gdLst/>
            <a:ahLst/>
            <a:cxnLst/>
            <a:rect l="l" t="t" r="r" b="b"/>
            <a:pathLst>
              <a:path w="560849" h="207083">
                <a:moveTo>
                  <a:pt x="103541" y="0"/>
                </a:moveTo>
                <a:lnTo>
                  <a:pt x="457308" y="0"/>
                </a:lnTo>
                <a:cubicBezTo>
                  <a:pt x="514492" y="0"/>
                  <a:pt x="560849" y="46357"/>
                  <a:pt x="560849" y="103541"/>
                </a:cubicBezTo>
                <a:lnTo>
                  <a:pt x="560849" y="103541"/>
                </a:lnTo>
                <a:cubicBezTo>
                  <a:pt x="560849" y="160726"/>
                  <a:pt x="514492" y="207083"/>
                  <a:pt x="457308" y="207083"/>
                </a:cubicBezTo>
                <a:lnTo>
                  <a:pt x="103541" y="207083"/>
                </a:lnTo>
                <a:cubicBezTo>
                  <a:pt x="46357" y="207083"/>
                  <a:pt x="0" y="160726"/>
                  <a:pt x="0" y="103541"/>
                </a:cubicBezTo>
                <a:lnTo>
                  <a:pt x="0" y="103541"/>
                </a:lnTo>
                <a:cubicBezTo>
                  <a:pt x="0" y="46357"/>
                  <a:pt x="46357" y="0"/>
                  <a:pt x="103541" y="0"/>
                </a:cubicBezTo>
                <a:close/>
              </a:path>
            </a:pathLst>
          </a:custGeom>
          <a:solidFill>
            <a:srgbClr val="22D3EE">
              <a:alpha val="30196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5790661" y="3872341"/>
            <a:ext cx="612620" cy="207083"/>
          </a:xfrm>
          <a:prstGeom prst="rect">
            <a:avLst/>
          </a:prstGeom>
          <a:noFill/>
          <a:ln/>
        </p:spPr>
        <p:txBody>
          <a:bodyPr wrap="square" lIns="103541" tIns="34514" rIns="103541" bIns="34514" rtlCol="0" anchor="ctr"/>
          <a:lstStyle/>
          <a:p>
            <a:pPr>
              <a:lnSpc>
                <a:spcPct val="110000"/>
              </a:lnSpc>
            </a:pPr>
            <a:r>
              <a:rPr lang="en-US" sz="815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Add-on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28151" y="4148452"/>
            <a:ext cx="5781062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reporting, predictive analytics, custom dashboards, and API access for enterprise clients.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48589" y="4676511"/>
            <a:ext cx="6245272" cy="1007803"/>
          </a:xfrm>
          <a:custGeom>
            <a:avLst/>
            <a:gdLst/>
            <a:ahLst/>
            <a:cxnLst/>
            <a:rect l="l" t="t" r="r" b="b"/>
            <a:pathLst>
              <a:path w="6245272" h="1007803">
                <a:moveTo>
                  <a:pt x="103542" y="0"/>
                </a:moveTo>
                <a:lnTo>
                  <a:pt x="6141731" y="0"/>
                </a:lnTo>
                <a:cubicBezTo>
                  <a:pt x="6198915" y="0"/>
                  <a:pt x="6245272" y="46357"/>
                  <a:pt x="6245272" y="103542"/>
                </a:cubicBezTo>
                <a:lnTo>
                  <a:pt x="6245272" y="904261"/>
                </a:lnTo>
                <a:cubicBezTo>
                  <a:pt x="6245272" y="961446"/>
                  <a:pt x="6198915" y="1007803"/>
                  <a:pt x="6141731" y="1007803"/>
                </a:cubicBezTo>
                <a:lnTo>
                  <a:pt x="103542" y="1007803"/>
                </a:lnTo>
                <a:cubicBezTo>
                  <a:pt x="46357" y="1007803"/>
                  <a:pt x="0" y="961446"/>
                  <a:pt x="0" y="904261"/>
                </a:cubicBezTo>
                <a:lnTo>
                  <a:pt x="0" y="103542"/>
                </a:lnTo>
                <a:cubicBezTo>
                  <a:pt x="0" y="46395"/>
                  <a:pt x="46395" y="0"/>
                  <a:pt x="103542" y="0"/>
                </a:cubicBezTo>
                <a:close/>
              </a:path>
            </a:pathLst>
          </a:custGeom>
          <a:gradFill rotWithShape="1" flip="none"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 w="10160">
            <a:solidFill>
              <a:srgbClr val="33415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0096" y="4818020"/>
            <a:ext cx="6039915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Customers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99803" y="5154530"/>
            <a:ext cx="135898" cy="120798"/>
          </a:xfrm>
          <a:custGeom>
            <a:avLst/>
            <a:gdLst/>
            <a:ahLst/>
            <a:cxnLst/>
            <a:rect l="l" t="t" r="r" b="b"/>
            <a:pathLst>
              <a:path w="135898" h="120798">
                <a:moveTo>
                  <a:pt x="75499" y="0"/>
                </a:moveTo>
                <a:cubicBezTo>
                  <a:pt x="67170" y="0"/>
                  <a:pt x="60399" y="6771"/>
                  <a:pt x="60399" y="15100"/>
                </a:cubicBezTo>
                <a:lnTo>
                  <a:pt x="60399" y="22650"/>
                </a:lnTo>
                <a:lnTo>
                  <a:pt x="49074" y="22650"/>
                </a:lnTo>
                <a:lnTo>
                  <a:pt x="49074" y="5662"/>
                </a:lnTo>
                <a:cubicBezTo>
                  <a:pt x="49074" y="2524"/>
                  <a:pt x="46550" y="0"/>
                  <a:pt x="43412" y="0"/>
                </a:cubicBezTo>
                <a:cubicBezTo>
                  <a:pt x="40274" y="0"/>
                  <a:pt x="37749" y="2524"/>
                  <a:pt x="37749" y="5662"/>
                </a:cubicBezTo>
                <a:lnTo>
                  <a:pt x="37749" y="22650"/>
                </a:lnTo>
                <a:lnTo>
                  <a:pt x="22650" y="22650"/>
                </a:lnTo>
                <a:lnTo>
                  <a:pt x="22650" y="5662"/>
                </a:lnTo>
                <a:cubicBezTo>
                  <a:pt x="22650" y="2524"/>
                  <a:pt x="20125" y="0"/>
                  <a:pt x="16987" y="0"/>
                </a:cubicBezTo>
                <a:cubicBezTo>
                  <a:pt x="13849" y="0"/>
                  <a:pt x="11325" y="2524"/>
                  <a:pt x="11325" y="5662"/>
                </a:cubicBezTo>
                <a:lnTo>
                  <a:pt x="11325" y="23122"/>
                </a:lnTo>
                <a:cubicBezTo>
                  <a:pt x="4813" y="24797"/>
                  <a:pt x="0" y="30719"/>
                  <a:pt x="0" y="37749"/>
                </a:cubicBezTo>
                <a:lnTo>
                  <a:pt x="0" y="105699"/>
                </a:lnTo>
                <a:cubicBezTo>
                  <a:pt x="0" y="114027"/>
                  <a:pt x="6771" y="120798"/>
                  <a:pt x="15100" y="120798"/>
                </a:cubicBezTo>
                <a:lnTo>
                  <a:pt x="120798" y="120798"/>
                </a:lnTo>
                <a:cubicBezTo>
                  <a:pt x="129127" y="120798"/>
                  <a:pt x="135898" y="114027"/>
                  <a:pt x="135898" y="105699"/>
                </a:cubicBezTo>
                <a:lnTo>
                  <a:pt x="135898" y="60399"/>
                </a:lnTo>
                <a:cubicBezTo>
                  <a:pt x="135898" y="52071"/>
                  <a:pt x="129127" y="45299"/>
                  <a:pt x="120798" y="45299"/>
                </a:cubicBezTo>
                <a:lnTo>
                  <a:pt x="105699" y="45299"/>
                </a:lnTo>
                <a:lnTo>
                  <a:pt x="105699" y="15100"/>
                </a:lnTo>
                <a:cubicBezTo>
                  <a:pt x="105699" y="6771"/>
                  <a:pt x="98927" y="0"/>
                  <a:pt x="90599" y="0"/>
                </a:cubicBezTo>
                <a:lnTo>
                  <a:pt x="75499" y="0"/>
                </a:lnTo>
                <a:close/>
                <a:moveTo>
                  <a:pt x="90599" y="26425"/>
                </a:moveTo>
                <a:lnTo>
                  <a:pt x="90599" y="33975"/>
                </a:lnTo>
                <a:cubicBezTo>
                  <a:pt x="90599" y="36051"/>
                  <a:pt x="88900" y="37749"/>
                  <a:pt x="86824" y="37749"/>
                </a:cubicBezTo>
                <a:lnTo>
                  <a:pt x="79274" y="37749"/>
                </a:lnTo>
                <a:cubicBezTo>
                  <a:pt x="77198" y="37749"/>
                  <a:pt x="75499" y="36051"/>
                  <a:pt x="75499" y="33975"/>
                </a:cubicBezTo>
                <a:lnTo>
                  <a:pt x="75499" y="26425"/>
                </a:lnTo>
                <a:cubicBezTo>
                  <a:pt x="75499" y="24348"/>
                  <a:pt x="77198" y="22650"/>
                  <a:pt x="79274" y="22650"/>
                </a:cubicBezTo>
                <a:lnTo>
                  <a:pt x="86824" y="22650"/>
                </a:lnTo>
                <a:cubicBezTo>
                  <a:pt x="88900" y="22650"/>
                  <a:pt x="90599" y="24348"/>
                  <a:pt x="90599" y="26425"/>
                </a:cubicBezTo>
                <a:close/>
                <a:moveTo>
                  <a:pt x="86824" y="45299"/>
                </a:moveTo>
                <a:cubicBezTo>
                  <a:pt x="88900" y="45299"/>
                  <a:pt x="90599" y="46998"/>
                  <a:pt x="90599" y="49074"/>
                </a:cubicBezTo>
                <a:lnTo>
                  <a:pt x="90599" y="56624"/>
                </a:lnTo>
                <a:cubicBezTo>
                  <a:pt x="90599" y="58700"/>
                  <a:pt x="88900" y="60399"/>
                  <a:pt x="86824" y="60399"/>
                </a:cubicBezTo>
                <a:lnTo>
                  <a:pt x="79274" y="60399"/>
                </a:lnTo>
                <a:cubicBezTo>
                  <a:pt x="77198" y="60399"/>
                  <a:pt x="75499" y="58700"/>
                  <a:pt x="75499" y="56624"/>
                </a:cubicBezTo>
                <a:lnTo>
                  <a:pt x="75499" y="49074"/>
                </a:lnTo>
                <a:cubicBezTo>
                  <a:pt x="75499" y="46998"/>
                  <a:pt x="77198" y="45299"/>
                  <a:pt x="79274" y="45299"/>
                </a:cubicBezTo>
                <a:lnTo>
                  <a:pt x="86824" y="45299"/>
                </a:lnTo>
                <a:close/>
                <a:moveTo>
                  <a:pt x="90599" y="71724"/>
                </a:moveTo>
                <a:lnTo>
                  <a:pt x="90599" y="79274"/>
                </a:lnTo>
                <a:cubicBezTo>
                  <a:pt x="90599" y="81350"/>
                  <a:pt x="88900" y="83049"/>
                  <a:pt x="86824" y="83049"/>
                </a:cubicBezTo>
                <a:lnTo>
                  <a:pt x="79274" y="83049"/>
                </a:lnTo>
                <a:cubicBezTo>
                  <a:pt x="77198" y="83049"/>
                  <a:pt x="75499" y="81350"/>
                  <a:pt x="75499" y="79274"/>
                </a:cubicBezTo>
                <a:lnTo>
                  <a:pt x="75499" y="71724"/>
                </a:lnTo>
                <a:cubicBezTo>
                  <a:pt x="75499" y="69648"/>
                  <a:pt x="77198" y="67949"/>
                  <a:pt x="79274" y="67949"/>
                </a:cubicBezTo>
                <a:lnTo>
                  <a:pt x="86824" y="67949"/>
                </a:lnTo>
                <a:cubicBezTo>
                  <a:pt x="88900" y="67949"/>
                  <a:pt x="90599" y="69648"/>
                  <a:pt x="90599" y="71724"/>
                </a:cubicBezTo>
                <a:close/>
                <a:moveTo>
                  <a:pt x="117023" y="67949"/>
                </a:moveTo>
                <a:cubicBezTo>
                  <a:pt x="119100" y="67949"/>
                  <a:pt x="120798" y="69648"/>
                  <a:pt x="120798" y="71724"/>
                </a:cubicBezTo>
                <a:lnTo>
                  <a:pt x="120798" y="79274"/>
                </a:lnTo>
                <a:cubicBezTo>
                  <a:pt x="120798" y="81350"/>
                  <a:pt x="119100" y="83049"/>
                  <a:pt x="117023" y="83049"/>
                </a:cubicBezTo>
                <a:lnTo>
                  <a:pt x="109473" y="83049"/>
                </a:lnTo>
                <a:cubicBezTo>
                  <a:pt x="107397" y="83049"/>
                  <a:pt x="105699" y="81350"/>
                  <a:pt x="105699" y="79274"/>
                </a:cubicBezTo>
                <a:lnTo>
                  <a:pt x="105699" y="71724"/>
                </a:lnTo>
                <a:cubicBezTo>
                  <a:pt x="105699" y="69648"/>
                  <a:pt x="107397" y="67949"/>
                  <a:pt x="109473" y="67949"/>
                </a:cubicBezTo>
                <a:lnTo>
                  <a:pt x="117023" y="67949"/>
                </a:lnTo>
                <a:close/>
                <a:moveTo>
                  <a:pt x="60399" y="71724"/>
                </a:moveTo>
                <a:lnTo>
                  <a:pt x="60399" y="79274"/>
                </a:lnTo>
                <a:cubicBezTo>
                  <a:pt x="60399" y="81350"/>
                  <a:pt x="58700" y="83049"/>
                  <a:pt x="56624" y="83049"/>
                </a:cubicBezTo>
                <a:lnTo>
                  <a:pt x="49074" y="83049"/>
                </a:lnTo>
                <a:cubicBezTo>
                  <a:pt x="46998" y="83049"/>
                  <a:pt x="45299" y="81350"/>
                  <a:pt x="45299" y="79274"/>
                </a:cubicBezTo>
                <a:lnTo>
                  <a:pt x="45299" y="71724"/>
                </a:lnTo>
                <a:cubicBezTo>
                  <a:pt x="45299" y="69648"/>
                  <a:pt x="46998" y="67949"/>
                  <a:pt x="49074" y="67949"/>
                </a:cubicBezTo>
                <a:lnTo>
                  <a:pt x="56624" y="67949"/>
                </a:lnTo>
                <a:cubicBezTo>
                  <a:pt x="58700" y="67949"/>
                  <a:pt x="60399" y="69648"/>
                  <a:pt x="60399" y="71724"/>
                </a:cubicBezTo>
                <a:close/>
                <a:moveTo>
                  <a:pt x="56624" y="45299"/>
                </a:moveTo>
                <a:cubicBezTo>
                  <a:pt x="58700" y="45299"/>
                  <a:pt x="60399" y="46998"/>
                  <a:pt x="60399" y="49074"/>
                </a:cubicBezTo>
                <a:lnTo>
                  <a:pt x="60399" y="56624"/>
                </a:lnTo>
                <a:cubicBezTo>
                  <a:pt x="60399" y="58700"/>
                  <a:pt x="58700" y="60399"/>
                  <a:pt x="56624" y="60399"/>
                </a:cubicBezTo>
                <a:lnTo>
                  <a:pt x="49074" y="60399"/>
                </a:lnTo>
                <a:cubicBezTo>
                  <a:pt x="46998" y="60399"/>
                  <a:pt x="45299" y="58700"/>
                  <a:pt x="45299" y="56624"/>
                </a:cubicBezTo>
                <a:lnTo>
                  <a:pt x="45299" y="49074"/>
                </a:lnTo>
                <a:cubicBezTo>
                  <a:pt x="45299" y="46998"/>
                  <a:pt x="46998" y="45299"/>
                  <a:pt x="49074" y="45299"/>
                </a:cubicBezTo>
                <a:lnTo>
                  <a:pt x="56624" y="45299"/>
                </a:lnTo>
                <a:close/>
                <a:moveTo>
                  <a:pt x="30200" y="71724"/>
                </a:moveTo>
                <a:lnTo>
                  <a:pt x="30200" y="79274"/>
                </a:lnTo>
                <a:cubicBezTo>
                  <a:pt x="30200" y="81350"/>
                  <a:pt x="28501" y="83049"/>
                  <a:pt x="26425" y="83049"/>
                </a:cubicBezTo>
                <a:lnTo>
                  <a:pt x="18875" y="83049"/>
                </a:lnTo>
                <a:cubicBezTo>
                  <a:pt x="16799" y="83049"/>
                  <a:pt x="15100" y="81350"/>
                  <a:pt x="15100" y="79274"/>
                </a:cubicBezTo>
                <a:lnTo>
                  <a:pt x="15100" y="71724"/>
                </a:lnTo>
                <a:cubicBezTo>
                  <a:pt x="15100" y="69648"/>
                  <a:pt x="16799" y="67949"/>
                  <a:pt x="18875" y="67949"/>
                </a:cubicBezTo>
                <a:lnTo>
                  <a:pt x="26425" y="67949"/>
                </a:lnTo>
                <a:cubicBezTo>
                  <a:pt x="28501" y="67949"/>
                  <a:pt x="30200" y="69648"/>
                  <a:pt x="30200" y="71724"/>
                </a:cubicBezTo>
                <a:close/>
                <a:moveTo>
                  <a:pt x="26425" y="45299"/>
                </a:moveTo>
                <a:cubicBezTo>
                  <a:pt x="28501" y="45299"/>
                  <a:pt x="30200" y="46998"/>
                  <a:pt x="30200" y="49074"/>
                </a:cubicBezTo>
                <a:lnTo>
                  <a:pt x="30200" y="56624"/>
                </a:lnTo>
                <a:cubicBezTo>
                  <a:pt x="30200" y="58700"/>
                  <a:pt x="28501" y="60399"/>
                  <a:pt x="26425" y="60399"/>
                </a:cubicBezTo>
                <a:lnTo>
                  <a:pt x="18875" y="60399"/>
                </a:lnTo>
                <a:cubicBezTo>
                  <a:pt x="16799" y="60399"/>
                  <a:pt x="15100" y="58700"/>
                  <a:pt x="15100" y="56624"/>
                </a:cubicBezTo>
                <a:lnTo>
                  <a:pt x="15100" y="49074"/>
                </a:lnTo>
                <a:cubicBezTo>
                  <a:pt x="15100" y="46998"/>
                  <a:pt x="16799" y="45299"/>
                  <a:pt x="18875" y="45299"/>
                </a:cubicBezTo>
                <a:lnTo>
                  <a:pt x="26425" y="45299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0" name="Text 37"/>
          <p:cNvSpPr/>
          <p:nvPr/>
        </p:nvSpPr>
        <p:spPr>
          <a:xfrm>
            <a:off x="710121" y="5128645"/>
            <a:ext cx="1302896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Municipal Governments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537773" y="5154530"/>
            <a:ext cx="90599" cy="120798"/>
          </a:xfrm>
          <a:custGeom>
            <a:avLst/>
            <a:gdLst/>
            <a:ahLst/>
            <a:cxnLst/>
            <a:rect l="l" t="t" r="r" b="b"/>
            <a:pathLst>
              <a:path w="90599" h="120798">
                <a:moveTo>
                  <a:pt x="15100" y="0"/>
                </a:moveTo>
                <a:cubicBezTo>
                  <a:pt x="6771" y="0"/>
                  <a:pt x="0" y="6771"/>
                  <a:pt x="0" y="15100"/>
                </a:cubicBezTo>
                <a:lnTo>
                  <a:pt x="0" y="105699"/>
                </a:lnTo>
                <a:cubicBezTo>
                  <a:pt x="0" y="114027"/>
                  <a:pt x="6771" y="120798"/>
                  <a:pt x="15100" y="120798"/>
                </a:cubicBezTo>
                <a:lnTo>
                  <a:pt x="75499" y="120798"/>
                </a:lnTo>
                <a:cubicBezTo>
                  <a:pt x="83827" y="120798"/>
                  <a:pt x="90599" y="114027"/>
                  <a:pt x="90599" y="105699"/>
                </a:cubicBezTo>
                <a:lnTo>
                  <a:pt x="90599" y="15100"/>
                </a:lnTo>
                <a:cubicBezTo>
                  <a:pt x="90599" y="6771"/>
                  <a:pt x="83827" y="0"/>
                  <a:pt x="75499" y="0"/>
                </a:cubicBezTo>
                <a:lnTo>
                  <a:pt x="15100" y="0"/>
                </a:lnTo>
                <a:close/>
                <a:moveTo>
                  <a:pt x="41524" y="83049"/>
                </a:moveTo>
                <a:lnTo>
                  <a:pt x="49074" y="83049"/>
                </a:lnTo>
                <a:cubicBezTo>
                  <a:pt x="53250" y="83049"/>
                  <a:pt x="56624" y="86423"/>
                  <a:pt x="56624" y="90599"/>
                </a:cubicBezTo>
                <a:lnTo>
                  <a:pt x="56624" y="109473"/>
                </a:lnTo>
                <a:lnTo>
                  <a:pt x="33975" y="109473"/>
                </a:lnTo>
                <a:lnTo>
                  <a:pt x="33975" y="90599"/>
                </a:lnTo>
                <a:cubicBezTo>
                  <a:pt x="33975" y="86423"/>
                  <a:pt x="37348" y="83049"/>
                  <a:pt x="41524" y="83049"/>
                </a:cubicBezTo>
                <a:close/>
                <a:moveTo>
                  <a:pt x="22650" y="26425"/>
                </a:moveTo>
                <a:cubicBezTo>
                  <a:pt x="22650" y="24348"/>
                  <a:pt x="24348" y="22650"/>
                  <a:pt x="26425" y="22650"/>
                </a:cubicBezTo>
                <a:lnTo>
                  <a:pt x="33975" y="22650"/>
                </a:lnTo>
                <a:cubicBezTo>
                  <a:pt x="36051" y="22650"/>
                  <a:pt x="37749" y="24348"/>
                  <a:pt x="37749" y="26425"/>
                </a:cubicBezTo>
                <a:lnTo>
                  <a:pt x="37749" y="33975"/>
                </a:lnTo>
                <a:cubicBezTo>
                  <a:pt x="37749" y="36051"/>
                  <a:pt x="36051" y="37749"/>
                  <a:pt x="33975" y="37749"/>
                </a:cubicBezTo>
                <a:lnTo>
                  <a:pt x="26425" y="37749"/>
                </a:lnTo>
                <a:cubicBezTo>
                  <a:pt x="24348" y="37749"/>
                  <a:pt x="22650" y="36051"/>
                  <a:pt x="22650" y="33975"/>
                </a:cubicBezTo>
                <a:lnTo>
                  <a:pt x="22650" y="26425"/>
                </a:lnTo>
                <a:close/>
                <a:moveTo>
                  <a:pt x="56624" y="22650"/>
                </a:moveTo>
                <a:lnTo>
                  <a:pt x="64174" y="22650"/>
                </a:lnTo>
                <a:cubicBezTo>
                  <a:pt x="66250" y="22650"/>
                  <a:pt x="67949" y="24348"/>
                  <a:pt x="67949" y="26425"/>
                </a:cubicBezTo>
                <a:lnTo>
                  <a:pt x="67949" y="33975"/>
                </a:lnTo>
                <a:cubicBezTo>
                  <a:pt x="67949" y="36051"/>
                  <a:pt x="66250" y="37749"/>
                  <a:pt x="64174" y="37749"/>
                </a:cubicBezTo>
                <a:lnTo>
                  <a:pt x="56624" y="37749"/>
                </a:lnTo>
                <a:cubicBezTo>
                  <a:pt x="54548" y="37749"/>
                  <a:pt x="52849" y="36051"/>
                  <a:pt x="52849" y="33975"/>
                </a:cubicBezTo>
                <a:lnTo>
                  <a:pt x="52849" y="26425"/>
                </a:lnTo>
                <a:cubicBezTo>
                  <a:pt x="52849" y="24348"/>
                  <a:pt x="54548" y="22650"/>
                  <a:pt x="56624" y="22650"/>
                </a:cubicBezTo>
                <a:close/>
                <a:moveTo>
                  <a:pt x="22650" y="56624"/>
                </a:moveTo>
                <a:cubicBezTo>
                  <a:pt x="22650" y="54548"/>
                  <a:pt x="24348" y="52849"/>
                  <a:pt x="26425" y="52849"/>
                </a:cubicBezTo>
                <a:lnTo>
                  <a:pt x="33975" y="52849"/>
                </a:lnTo>
                <a:cubicBezTo>
                  <a:pt x="36051" y="52849"/>
                  <a:pt x="37749" y="54548"/>
                  <a:pt x="37749" y="56624"/>
                </a:cubicBezTo>
                <a:lnTo>
                  <a:pt x="37749" y="64174"/>
                </a:lnTo>
                <a:cubicBezTo>
                  <a:pt x="37749" y="66250"/>
                  <a:pt x="36051" y="67949"/>
                  <a:pt x="33975" y="67949"/>
                </a:cubicBezTo>
                <a:lnTo>
                  <a:pt x="26425" y="67949"/>
                </a:lnTo>
                <a:cubicBezTo>
                  <a:pt x="24348" y="67949"/>
                  <a:pt x="22650" y="66250"/>
                  <a:pt x="22650" y="64174"/>
                </a:cubicBezTo>
                <a:lnTo>
                  <a:pt x="22650" y="56624"/>
                </a:lnTo>
                <a:close/>
                <a:moveTo>
                  <a:pt x="56624" y="52849"/>
                </a:moveTo>
                <a:lnTo>
                  <a:pt x="64174" y="52849"/>
                </a:lnTo>
                <a:cubicBezTo>
                  <a:pt x="66250" y="52849"/>
                  <a:pt x="67949" y="54548"/>
                  <a:pt x="67949" y="56624"/>
                </a:cubicBezTo>
                <a:lnTo>
                  <a:pt x="67949" y="64174"/>
                </a:lnTo>
                <a:cubicBezTo>
                  <a:pt x="67949" y="66250"/>
                  <a:pt x="66250" y="67949"/>
                  <a:pt x="64174" y="67949"/>
                </a:cubicBezTo>
                <a:lnTo>
                  <a:pt x="56624" y="67949"/>
                </a:lnTo>
                <a:cubicBezTo>
                  <a:pt x="54548" y="67949"/>
                  <a:pt x="52849" y="66250"/>
                  <a:pt x="52849" y="64174"/>
                </a:cubicBezTo>
                <a:lnTo>
                  <a:pt x="52849" y="56624"/>
                </a:lnTo>
                <a:cubicBezTo>
                  <a:pt x="52849" y="54548"/>
                  <a:pt x="54548" y="52849"/>
                  <a:pt x="56624" y="5284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Text 39"/>
          <p:cNvSpPr/>
          <p:nvPr/>
        </p:nvSpPr>
        <p:spPr>
          <a:xfrm>
            <a:off x="3725441" y="5128645"/>
            <a:ext cx="1130327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City Initiatives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07353" y="5396127"/>
            <a:ext cx="120798" cy="120798"/>
          </a:xfrm>
          <a:custGeom>
            <a:avLst/>
            <a:gdLst/>
            <a:ahLst/>
            <a:cxnLst/>
            <a:rect l="l" t="t" r="r" b="b"/>
            <a:pathLst>
              <a:path w="120798" h="120798">
                <a:moveTo>
                  <a:pt x="60399" y="0"/>
                </a:moveTo>
                <a:cubicBezTo>
                  <a:pt x="61484" y="0"/>
                  <a:pt x="62570" y="236"/>
                  <a:pt x="63561" y="684"/>
                </a:cubicBezTo>
                <a:lnTo>
                  <a:pt x="108011" y="19535"/>
                </a:lnTo>
                <a:cubicBezTo>
                  <a:pt x="113201" y="21730"/>
                  <a:pt x="117071" y="26849"/>
                  <a:pt x="117047" y="33031"/>
                </a:cubicBezTo>
                <a:cubicBezTo>
                  <a:pt x="116929" y="56435"/>
                  <a:pt x="107303" y="99258"/>
                  <a:pt x="66651" y="118722"/>
                </a:cubicBezTo>
                <a:cubicBezTo>
                  <a:pt x="62711" y="120610"/>
                  <a:pt x="58134" y="120610"/>
                  <a:pt x="54194" y="118722"/>
                </a:cubicBezTo>
                <a:cubicBezTo>
                  <a:pt x="13519" y="99258"/>
                  <a:pt x="3917" y="56435"/>
                  <a:pt x="3799" y="33031"/>
                </a:cubicBezTo>
                <a:cubicBezTo>
                  <a:pt x="3775" y="26849"/>
                  <a:pt x="7644" y="21730"/>
                  <a:pt x="12835" y="19535"/>
                </a:cubicBezTo>
                <a:lnTo>
                  <a:pt x="57261" y="684"/>
                </a:lnTo>
                <a:cubicBezTo>
                  <a:pt x="58252" y="236"/>
                  <a:pt x="59314" y="0"/>
                  <a:pt x="60399" y="0"/>
                </a:cubicBezTo>
                <a:close/>
                <a:moveTo>
                  <a:pt x="60399" y="15760"/>
                </a:moveTo>
                <a:lnTo>
                  <a:pt x="60399" y="104967"/>
                </a:lnTo>
                <a:cubicBezTo>
                  <a:pt x="92958" y="89207"/>
                  <a:pt x="101711" y="54288"/>
                  <a:pt x="101924" y="33385"/>
                </a:cubicBezTo>
                <a:lnTo>
                  <a:pt x="60399" y="15784"/>
                </a:lnTo>
                <a:lnTo>
                  <a:pt x="60399" y="15784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4" name="Text 41"/>
          <p:cNvSpPr/>
          <p:nvPr/>
        </p:nvSpPr>
        <p:spPr>
          <a:xfrm>
            <a:off x="710121" y="5370241"/>
            <a:ext cx="1078556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Police Departments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515123" y="5396127"/>
            <a:ext cx="135898" cy="120798"/>
          </a:xfrm>
          <a:custGeom>
            <a:avLst/>
            <a:gdLst/>
            <a:ahLst/>
            <a:cxnLst/>
            <a:rect l="l" t="t" r="r" b="b"/>
            <a:pathLst>
              <a:path w="135898" h="120798">
                <a:moveTo>
                  <a:pt x="67949" y="-3775"/>
                </a:moveTo>
                <a:cubicBezTo>
                  <a:pt x="64811" y="-3775"/>
                  <a:pt x="62287" y="-1250"/>
                  <a:pt x="62287" y="1887"/>
                </a:cubicBezTo>
                <a:lnTo>
                  <a:pt x="62287" y="4719"/>
                </a:lnTo>
                <a:lnTo>
                  <a:pt x="61862" y="4719"/>
                </a:lnTo>
                <a:cubicBezTo>
                  <a:pt x="53227" y="4719"/>
                  <a:pt x="46243" y="11726"/>
                  <a:pt x="46243" y="20338"/>
                </a:cubicBezTo>
                <a:cubicBezTo>
                  <a:pt x="46243" y="28218"/>
                  <a:pt x="52118" y="34871"/>
                  <a:pt x="59927" y="35838"/>
                </a:cubicBezTo>
                <a:lnTo>
                  <a:pt x="74319" y="37632"/>
                </a:lnTo>
                <a:cubicBezTo>
                  <a:pt x="75523" y="37773"/>
                  <a:pt x="76443" y="38811"/>
                  <a:pt x="76443" y="40038"/>
                </a:cubicBezTo>
                <a:cubicBezTo>
                  <a:pt x="76443" y="41383"/>
                  <a:pt x="75357" y="42445"/>
                  <a:pt x="74036" y="42445"/>
                </a:cubicBezTo>
                <a:lnTo>
                  <a:pt x="56624" y="42468"/>
                </a:lnTo>
                <a:cubicBezTo>
                  <a:pt x="52967" y="42468"/>
                  <a:pt x="50018" y="45417"/>
                  <a:pt x="50018" y="49074"/>
                </a:cubicBezTo>
                <a:cubicBezTo>
                  <a:pt x="50018" y="52731"/>
                  <a:pt x="52967" y="55680"/>
                  <a:pt x="56624" y="55680"/>
                </a:cubicBezTo>
                <a:lnTo>
                  <a:pt x="62287" y="55680"/>
                </a:lnTo>
                <a:lnTo>
                  <a:pt x="62287" y="58512"/>
                </a:lnTo>
                <a:cubicBezTo>
                  <a:pt x="62287" y="61650"/>
                  <a:pt x="64811" y="64174"/>
                  <a:pt x="67949" y="64174"/>
                </a:cubicBezTo>
                <a:cubicBezTo>
                  <a:pt x="71087" y="64174"/>
                  <a:pt x="73611" y="61650"/>
                  <a:pt x="73611" y="58512"/>
                </a:cubicBezTo>
                <a:lnTo>
                  <a:pt x="73611" y="55680"/>
                </a:lnTo>
                <a:lnTo>
                  <a:pt x="74036" y="55680"/>
                </a:lnTo>
                <a:cubicBezTo>
                  <a:pt x="82671" y="55680"/>
                  <a:pt x="89655" y="48673"/>
                  <a:pt x="89655" y="40062"/>
                </a:cubicBezTo>
                <a:cubicBezTo>
                  <a:pt x="89655" y="32181"/>
                  <a:pt x="83780" y="25528"/>
                  <a:pt x="75971" y="24561"/>
                </a:cubicBezTo>
                <a:lnTo>
                  <a:pt x="61579" y="22768"/>
                </a:lnTo>
                <a:cubicBezTo>
                  <a:pt x="60376" y="22626"/>
                  <a:pt x="59455" y="21588"/>
                  <a:pt x="59455" y="20361"/>
                </a:cubicBezTo>
                <a:cubicBezTo>
                  <a:pt x="59455" y="19016"/>
                  <a:pt x="60541" y="17955"/>
                  <a:pt x="61862" y="17955"/>
                </a:cubicBezTo>
                <a:lnTo>
                  <a:pt x="77386" y="17931"/>
                </a:lnTo>
                <a:cubicBezTo>
                  <a:pt x="81043" y="17931"/>
                  <a:pt x="83993" y="14982"/>
                  <a:pt x="83993" y="11325"/>
                </a:cubicBezTo>
                <a:cubicBezTo>
                  <a:pt x="83993" y="7668"/>
                  <a:pt x="81043" y="4719"/>
                  <a:pt x="77386" y="4719"/>
                </a:cubicBezTo>
                <a:lnTo>
                  <a:pt x="73611" y="4719"/>
                </a:lnTo>
                <a:lnTo>
                  <a:pt x="73611" y="1887"/>
                </a:lnTo>
                <a:cubicBezTo>
                  <a:pt x="73611" y="-1250"/>
                  <a:pt x="71087" y="-3775"/>
                  <a:pt x="67949" y="-3775"/>
                </a:cubicBezTo>
                <a:close/>
                <a:moveTo>
                  <a:pt x="25788" y="80572"/>
                </a:moveTo>
                <a:lnTo>
                  <a:pt x="15737" y="90599"/>
                </a:lnTo>
                <a:lnTo>
                  <a:pt x="7550" y="90599"/>
                </a:lnTo>
                <a:cubicBezTo>
                  <a:pt x="3374" y="90599"/>
                  <a:pt x="0" y="93973"/>
                  <a:pt x="0" y="98149"/>
                </a:cubicBezTo>
                <a:lnTo>
                  <a:pt x="0" y="113248"/>
                </a:lnTo>
                <a:cubicBezTo>
                  <a:pt x="0" y="117424"/>
                  <a:pt x="3374" y="120798"/>
                  <a:pt x="7550" y="120798"/>
                </a:cubicBezTo>
                <a:lnTo>
                  <a:pt x="83167" y="120798"/>
                </a:lnTo>
                <a:cubicBezTo>
                  <a:pt x="90009" y="120798"/>
                  <a:pt x="96686" y="118604"/>
                  <a:pt x="102207" y="114546"/>
                </a:cubicBezTo>
                <a:lnTo>
                  <a:pt x="132076" y="92533"/>
                </a:lnTo>
                <a:cubicBezTo>
                  <a:pt x="136276" y="89443"/>
                  <a:pt x="137172" y="83544"/>
                  <a:pt x="134081" y="79345"/>
                </a:cubicBezTo>
                <a:cubicBezTo>
                  <a:pt x="130991" y="75145"/>
                  <a:pt x="125092" y="74248"/>
                  <a:pt x="120893" y="77339"/>
                </a:cubicBezTo>
                <a:lnTo>
                  <a:pt x="92628" y="98149"/>
                </a:lnTo>
                <a:lnTo>
                  <a:pt x="66062" y="98149"/>
                </a:lnTo>
                <a:cubicBezTo>
                  <a:pt x="62924" y="98149"/>
                  <a:pt x="60399" y="95624"/>
                  <a:pt x="60399" y="92486"/>
                </a:cubicBezTo>
                <a:cubicBezTo>
                  <a:pt x="60399" y="89348"/>
                  <a:pt x="62924" y="86824"/>
                  <a:pt x="66062" y="86824"/>
                </a:cubicBezTo>
                <a:lnTo>
                  <a:pt x="83049" y="86824"/>
                </a:lnTo>
                <a:cubicBezTo>
                  <a:pt x="87225" y="86824"/>
                  <a:pt x="90599" y="83450"/>
                  <a:pt x="90599" y="79274"/>
                </a:cubicBezTo>
                <a:cubicBezTo>
                  <a:pt x="90599" y="75098"/>
                  <a:pt x="87225" y="71724"/>
                  <a:pt x="83049" y="71724"/>
                </a:cubicBezTo>
                <a:lnTo>
                  <a:pt x="47140" y="71724"/>
                </a:lnTo>
                <a:cubicBezTo>
                  <a:pt x="39141" y="71724"/>
                  <a:pt x="31450" y="74909"/>
                  <a:pt x="25788" y="8057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6" name="Text 43"/>
          <p:cNvSpPr/>
          <p:nvPr/>
        </p:nvSpPr>
        <p:spPr>
          <a:xfrm>
            <a:off x="3725441" y="5370241"/>
            <a:ext cx="1190726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 Companies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738173" y="1245948"/>
            <a:ext cx="5106317" cy="3320228"/>
          </a:xfrm>
          <a:custGeom>
            <a:avLst/>
            <a:gdLst/>
            <a:ahLst/>
            <a:cxnLst/>
            <a:rect l="l" t="t" r="r" b="b"/>
            <a:pathLst>
              <a:path w="5106317" h="3320228">
                <a:moveTo>
                  <a:pt x="103558" y="0"/>
                </a:moveTo>
                <a:lnTo>
                  <a:pt x="5002759" y="0"/>
                </a:lnTo>
                <a:cubicBezTo>
                  <a:pt x="5059952" y="0"/>
                  <a:pt x="5106317" y="46364"/>
                  <a:pt x="5106317" y="103558"/>
                </a:cubicBezTo>
                <a:lnTo>
                  <a:pt x="5106317" y="3216670"/>
                </a:lnTo>
                <a:cubicBezTo>
                  <a:pt x="5106317" y="3273863"/>
                  <a:pt x="5059952" y="3320228"/>
                  <a:pt x="5002759" y="3320228"/>
                </a:cubicBezTo>
                <a:lnTo>
                  <a:pt x="103558" y="3320228"/>
                </a:lnTo>
                <a:cubicBezTo>
                  <a:pt x="46364" y="3320228"/>
                  <a:pt x="0" y="3273863"/>
                  <a:pt x="0" y="3216670"/>
                </a:cubicBezTo>
                <a:lnTo>
                  <a:pt x="0" y="103558"/>
                </a:lnTo>
                <a:cubicBezTo>
                  <a:pt x="0" y="46403"/>
                  <a:pt x="46403" y="0"/>
                  <a:pt x="103558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879679" y="1421971"/>
            <a:ext cx="215711" cy="172569"/>
          </a:xfrm>
          <a:custGeom>
            <a:avLst/>
            <a:gdLst/>
            <a:ahLst/>
            <a:cxnLst/>
            <a:rect l="l" t="t" r="r" b="b"/>
            <a:pathLst>
              <a:path w="215711" h="172569">
                <a:moveTo>
                  <a:pt x="107856" y="5393"/>
                </a:moveTo>
                <a:cubicBezTo>
                  <a:pt x="127202" y="5393"/>
                  <a:pt x="142909" y="21100"/>
                  <a:pt x="142909" y="40446"/>
                </a:cubicBezTo>
                <a:cubicBezTo>
                  <a:pt x="142909" y="59792"/>
                  <a:pt x="127202" y="75499"/>
                  <a:pt x="107856" y="75499"/>
                </a:cubicBezTo>
                <a:cubicBezTo>
                  <a:pt x="88509" y="75499"/>
                  <a:pt x="72803" y="59792"/>
                  <a:pt x="72803" y="40446"/>
                </a:cubicBezTo>
                <a:cubicBezTo>
                  <a:pt x="72803" y="21100"/>
                  <a:pt x="88509" y="5393"/>
                  <a:pt x="107856" y="5393"/>
                </a:cubicBezTo>
                <a:close/>
                <a:moveTo>
                  <a:pt x="32357" y="29660"/>
                </a:moveTo>
                <a:cubicBezTo>
                  <a:pt x="45750" y="29660"/>
                  <a:pt x="56624" y="40534"/>
                  <a:pt x="56624" y="53928"/>
                </a:cubicBezTo>
                <a:cubicBezTo>
                  <a:pt x="56624" y="67321"/>
                  <a:pt x="45750" y="78195"/>
                  <a:pt x="32357" y="78195"/>
                </a:cubicBezTo>
                <a:cubicBezTo>
                  <a:pt x="18963" y="78195"/>
                  <a:pt x="8089" y="67321"/>
                  <a:pt x="8089" y="53928"/>
                </a:cubicBezTo>
                <a:cubicBezTo>
                  <a:pt x="8089" y="40534"/>
                  <a:pt x="18963" y="29660"/>
                  <a:pt x="32357" y="29660"/>
                </a:cubicBezTo>
                <a:close/>
                <a:moveTo>
                  <a:pt x="0" y="140212"/>
                </a:moveTo>
                <a:cubicBezTo>
                  <a:pt x="0" y="116383"/>
                  <a:pt x="19313" y="97070"/>
                  <a:pt x="43142" y="97070"/>
                </a:cubicBezTo>
                <a:cubicBezTo>
                  <a:pt x="47456" y="97070"/>
                  <a:pt x="51636" y="97710"/>
                  <a:pt x="55579" y="98890"/>
                </a:cubicBezTo>
                <a:cubicBezTo>
                  <a:pt x="44490" y="111294"/>
                  <a:pt x="37749" y="127674"/>
                  <a:pt x="37749" y="145605"/>
                </a:cubicBezTo>
                <a:lnTo>
                  <a:pt x="37749" y="150998"/>
                </a:lnTo>
                <a:cubicBezTo>
                  <a:pt x="37749" y="154840"/>
                  <a:pt x="38558" y="158480"/>
                  <a:pt x="40008" y="161783"/>
                </a:cubicBezTo>
                <a:lnTo>
                  <a:pt x="10786" y="161783"/>
                </a:lnTo>
                <a:cubicBezTo>
                  <a:pt x="4820" y="161783"/>
                  <a:pt x="0" y="156964"/>
                  <a:pt x="0" y="150998"/>
                </a:cubicBezTo>
                <a:lnTo>
                  <a:pt x="0" y="140212"/>
                </a:lnTo>
                <a:close/>
                <a:moveTo>
                  <a:pt x="175704" y="161783"/>
                </a:moveTo>
                <a:cubicBezTo>
                  <a:pt x="177153" y="158480"/>
                  <a:pt x="177962" y="154840"/>
                  <a:pt x="177962" y="150998"/>
                </a:cubicBezTo>
                <a:lnTo>
                  <a:pt x="177962" y="145605"/>
                </a:lnTo>
                <a:cubicBezTo>
                  <a:pt x="177962" y="127674"/>
                  <a:pt x="171221" y="111294"/>
                  <a:pt x="160132" y="98890"/>
                </a:cubicBezTo>
                <a:cubicBezTo>
                  <a:pt x="164075" y="97710"/>
                  <a:pt x="168255" y="97070"/>
                  <a:pt x="172569" y="97070"/>
                </a:cubicBezTo>
                <a:cubicBezTo>
                  <a:pt x="196398" y="97070"/>
                  <a:pt x="215711" y="116383"/>
                  <a:pt x="215711" y="140212"/>
                </a:cubicBezTo>
                <a:lnTo>
                  <a:pt x="215711" y="150998"/>
                </a:lnTo>
                <a:cubicBezTo>
                  <a:pt x="215711" y="156964"/>
                  <a:pt x="210891" y="161783"/>
                  <a:pt x="204926" y="161783"/>
                </a:cubicBezTo>
                <a:lnTo>
                  <a:pt x="175704" y="161783"/>
                </a:lnTo>
                <a:close/>
                <a:moveTo>
                  <a:pt x="159087" y="53928"/>
                </a:moveTo>
                <a:cubicBezTo>
                  <a:pt x="159087" y="40534"/>
                  <a:pt x="169961" y="29660"/>
                  <a:pt x="183355" y="29660"/>
                </a:cubicBezTo>
                <a:cubicBezTo>
                  <a:pt x="196748" y="29660"/>
                  <a:pt x="207622" y="40534"/>
                  <a:pt x="207622" y="53928"/>
                </a:cubicBezTo>
                <a:cubicBezTo>
                  <a:pt x="207622" y="67321"/>
                  <a:pt x="196748" y="78195"/>
                  <a:pt x="183355" y="78195"/>
                </a:cubicBezTo>
                <a:cubicBezTo>
                  <a:pt x="169961" y="78195"/>
                  <a:pt x="159087" y="67321"/>
                  <a:pt x="159087" y="53928"/>
                </a:cubicBezTo>
                <a:close/>
                <a:moveTo>
                  <a:pt x="53928" y="145605"/>
                </a:moveTo>
                <a:cubicBezTo>
                  <a:pt x="53928" y="115810"/>
                  <a:pt x="78061" y="91677"/>
                  <a:pt x="107856" y="91677"/>
                </a:cubicBezTo>
                <a:cubicBezTo>
                  <a:pt x="137651" y="91677"/>
                  <a:pt x="161783" y="115810"/>
                  <a:pt x="161783" y="145605"/>
                </a:cubicBezTo>
                <a:lnTo>
                  <a:pt x="161783" y="150998"/>
                </a:lnTo>
                <a:cubicBezTo>
                  <a:pt x="161783" y="156964"/>
                  <a:pt x="156964" y="161783"/>
                  <a:pt x="150998" y="161783"/>
                </a:cubicBezTo>
                <a:lnTo>
                  <a:pt x="64713" y="161783"/>
                </a:lnTo>
                <a:cubicBezTo>
                  <a:pt x="58748" y="161783"/>
                  <a:pt x="53928" y="156964"/>
                  <a:pt x="53928" y="150998"/>
                </a:cubicBezTo>
                <a:lnTo>
                  <a:pt x="53928" y="14560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9" name="Text 46"/>
          <p:cNvSpPr/>
          <p:nvPr/>
        </p:nvSpPr>
        <p:spPr>
          <a:xfrm>
            <a:off x="7095390" y="1387457"/>
            <a:ext cx="4693877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Codexelerate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879679" y="1732595"/>
            <a:ext cx="4823304" cy="621248"/>
          </a:xfrm>
          <a:custGeom>
            <a:avLst/>
            <a:gdLst/>
            <a:ahLst/>
            <a:cxnLst/>
            <a:rect l="l" t="t" r="r" b="b"/>
            <a:pathLst>
              <a:path w="4823304" h="621248">
                <a:moveTo>
                  <a:pt x="69027" y="0"/>
                </a:moveTo>
                <a:lnTo>
                  <a:pt x="4754277" y="0"/>
                </a:lnTo>
                <a:cubicBezTo>
                  <a:pt x="4792399" y="0"/>
                  <a:pt x="4823304" y="30904"/>
                  <a:pt x="4823304" y="69027"/>
                </a:cubicBezTo>
                <a:lnTo>
                  <a:pt x="4823304" y="552221"/>
                </a:lnTo>
                <a:cubicBezTo>
                  <a:pt x="4823304" y="590344"/>
                  <a:pt x="4792399" y="621248"/>
                  <a:pt x="4754277" y="621248"/>
                </a:cubicBezTo>
                <a:lnTo>
                  <a:pt x="69027" y="621248"/>
                </a:lnTo>
                <a:cubicBezTo>
                  <a:pt x="30904" y="621248"/>
                  <a:pt x="0" y="590344"/>
                  <a:pt x="0" y="552221"/>
                </a:cubicBezTo>
                <a:lnTo>
                  <a:pt x="0" y="69027"/>
                </a:lnTo>
                <a:cubicBezTo>
                  <a:pt x="0" y="30930"/>
                  <a:pt x="30930" y="0"/>
                  <a:pt x="6902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1" name="Shape 48"/>
          <p:cNvSpPr/>
          <p:nvPr/>
        </p:nvSpPr>
        <p:spPr>
          <a:xfrm>
            <a:off x="6983220" y="1836137"/>
            <a:ext cx="414166" cy="414166"/>
          </a:xfrm>
          <a:custGeom>
            <a:avLst/>
            <a:gdLst/>
            <a:ahLst/>
            <a:cxnLst/>
            <a:rect l="l" t="t" r="r" b="b"/>
            <a:pathLst>
              <a:path w="414166" h="414166">
                <a:moveTo>
                  <a:pt x="207083" y="0"/>
                </a:moveTo>
                <a:lnTo>
                  <a:pt x="207083" y="0"/>
                </a:lnTo>
                <a:cubicBezTo>
                  <a:pt x="321451" y="0"/>
                  <a:pt x="414166" y="92714"/>
                  <a:pt x="414166" y="207083"/>
                </a:cubicBezTo>
                <a:lnTo>
                  <a:pt x="414166" y="207083"/>
                </a:lnTo>
                <a:cubicBezTo>
                  <a:pt x="414166" y="321451"/>
                  <a:pt x="321451" y="414166"/>
                  <a:pt x="207083" y="414166"/>
                </a:cubicBezTo>
                <a:lnTo>
                  <a:pt x="207083" y="414166"/>
                </a:lnTo>
                <a:cubicBezTo>
                  <a:pt x="92714" y="414166"/>
                  <a:pt x="0" y="321451"/>
                  <a:pt x="0" y="207083"/>
                </a:cubicBezTo>
                <a:lnTo>
                  <a:pt x="0" y="207083"/>
                </a:lnTo>
                <a:cubicBezTo>
                  <a:pt x="0" y="92714"/>
                  <a:pt x="92714" y="0"/>
                  <a:pt x="207083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52" name="Text 49"/>
          <p:cNvSpPr/>
          <p:nvPr/>
        </p:nvSpPr>
        <p:spPr>
          <a:xfrm>
            <a:off x="6944392" y="1836137"/>
            <a:ext cx="491822" cy="414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500927" y="1853394"/>
            <a:ext cx="1397809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Rithvik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7500927" y="2060476"/>
            <a:ext cx="1389180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Lead &amp; AI Architect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879679" y="2422871"/>
            <a:ext cx="4823304" cy="621248"/>
          </a:xfrm>
          <a:custGeom>
            <a:avLst/>
            <a:gdLst/>
            <a:ahLst/>
            <a:cxnLst/>
            <a:rect l="l" t="t" r="r" b="b"/>
            <a:pathLst>
              <a:path w="4823304" h="621248">
                <a:moveTo>
                  <a:pt x="69027" y="0"/>
                </a:moveTo>
                <a:lnTo>
                  <a:pt x="4754277" y="0"/>
                </a:lnTo>
                <a:cubicBezTo>
                  <a:pt x="4792399" y="0"/>
                  <a:pt x="4823304" y="30904"/>
                  <a:pt x="4823304" y="69027"/>
                </a:cubicBezTo>
                <a:lnTo>
                  <a:pt x="4823304" y="552221"/>
                </a:lnTo>
                <a:cubicBezTo>
                  <a:pt x="4823304" y="590344"/>
                  <a:pt x="4792399" y="621248"/>
                  <a:pt x="4754277" y="621248"/>
                </a:cubicBezTo>
                <a:lnTo>
                  <a:pt x="69027" y="621248"/>
                </a:lnTo>
                <a:cubicBezTo>
                  <a:pt x="30904" y="621248"/>
                  <a:pt x="0" y="590344"/>
                  <a:pt x="0" y="552221"/>
                </a:cubicBezTo>
                <a:lnTo>
                  <a:pt x="0" y="69027"/>
                </a:lnTo>
                <a:cubicBezTo>
                  <a:pt x="0" y="30930"/>
                  <a:pt x="30930" y="0"/>
                  <a:pt x="6902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6" name="Shape 53"/>
          <p:cNvSpPr/>
          <p:nvPr/>
        </p:nvSpPr>
        <p:spPr>
          <a:xfrm>
            <a:off x="6983220" y="2526413"/>
            <a:ext cx="414166" cy="414166"/>
          </a:xfrm>
          <a:custGeom>
            <a:avLst/>
            <a:gdLst/>
            <a:ahLst/>
            <a:cxnLst/>
            <a:rect l="l" t="t" r="r" b="b"/>
            <a:pathLst>
              <a:path w="414166" h="414166">
                <a:moveTo>
                  <a:pt x="207083" y="0"/>
                </a:moveTo>
                <a:lnTo>
                  <a:pt x="207083" y="0"/>
                </a:lnTo>
                <a:cubicBezTo>
                  <a:pt x="321451" y="0"/>
                  <a:pt x="414166" y="92714"/>
                  <a:pt x="414166" y="207083"/>
                </a:cubicBezTo>
                <a:lnTo>
                  <a:pt x="414166" y="207083"/>
                </a:lnTo>
                <a:cubicBezTo>
                  <a:pt x="414166" y="321451"/>
                  <a:pt x="321451" y="414166"/>
                  <a:pt x="207083" y="414166"/>
                </a:cubicBezTo>
                <a:lnTo>
                  <a:pt x="207083" y="414166"/>
                </a:lnTo>
                <a:cubicBezTo>
                  <a:pt x="92714" y="414166"/>
                  <a:pt x="0" y="321451"/>
                  <a:pt x="0" y="207083"/>
                </a:cubicBezTo>
                <a:lnTo>
                  <a:pt x="0" y="207083"/>
                </a:lnTo>
                <a:cubicBezTo>
                  <a:pt x="0" y="92714"/>
                  <a:pt x="92714" y="0"/>
                  <a:pt x="207083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22D3EE"/>
              </a:gs>
            </a:gsLst>
            <a:lin ang="2700000" scaled="1"/>
          </a:gradFill>
          <a:ln/>
        </p:spPr>
      </p:sp>
      <p:sp>
        <p:nvSpPr>
          <p:cNvPr id="57" name="Text 54"/>
          <p:cNvSpPr/>
          <p:nvPr/>
        </p:nvSpPr>
        <p:spPr>
          <a:xfrm>
            <a:off x="6944392" y="2526413"/>
            <a:ext cx="491822" cy="414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7500927" y="2543670"/>
            <a:ext cx="1535864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Hitesh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7500927" y="2750752"/>
            <a:ext cx="1527236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&amp; Computer Vision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879679" y="3113147"/>
            <a:ext cx="4823304" cy="621248"/>
          </a:xfrm>
          <a:custGeom>
            <a:avLst/>
            <a:gdLst/>
            <a:ahLst/>
            <a:cxnLst/>
            <a:rect l="l" t="t" r="r" b="b"/>
            <a:pathLst>
              <a:path w="4823304" h="621248">
                <a:moveTo>
                  <a:pt x="69027" y="0"/>
                </a:moveTo>
                <a:lnTo>
                  <a:pt x="4754277" y="0"/>
                </a:lnTo>
                <a:cubicBezTo>
                  <a:pt x="4792399" y="0"/>
                  <a:pt x="4823304" y="30904"/>
                  <a:pt x="4823304" y="69027"/>
                </a:cubicBezTo>
                <a:lnTo>
                  <a:pt x="4823304" y="552221"/>
                </a:lnTo>
                <a:cubicBezTo>
                  <a:pt x="4823304" y="590344"/>
                  <a:pt x="4792399" y="621248"/>
                  <a:pt x="4754277" y="621248"/>
                </a:cubicBezTo>
                <a:lnTo>
                  <a:pt x="69027" y="621248"/>
                </a:lnTo>
                <a:cubicBezTo>
                  <a:pt x="30904" y="621248"/>
                  <a:pt x="0" y="590344"/>
                  <a:pt x="0" y="552221"/>
                </a:cubicBezTo>
                <a:lnTo>
                  <a:pt x="0" y="69027"/>
                </a:lnTo>
                <a:cubicBezTo>
                  <a:pt x="0" y="30930"/>
                  <a:pt x="30930" y="0"/>
                  <a:pt x="6902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1" name="Shape 58"/>
          <p:cNvSpPr/>
          <p:nvPr/>
        </p:nvSpPr>
        <p:spPr>
          <a:xfrm>
            <a:off x="6983220" y="3216689"/>
            <a:ext cx="414166" cy="414166"/>
          </a:xfrm>
          <a:custGeom>
            <a:avLst/>
            <a:gdLst/>
            <a:ahLst/>
            <a:cxnLst/>
            <a:rect l="l" t="t" r="r" b="b"/>
            <a:pathLst>
              <a:path w="414166" h="414166">
                <a:moveTo>
                  <a:pt x="207083" y="0"/>
                </a:moveTo>
                <a:lnTo>
                  <a:pt x="207083" y="0"/>
                </a:lnTo>
                <a:cubicBezTo>
                  <a:pt x="321451" y="0"/>
                  <a:pt x="414166" y="92714"/>
                  <a:pt x="414166" y="207083"/>
                </a:cubicBezTo>
                <a:lnTo>
                  <a:pt x="414166" y="207083"/>
                </a:lnTo>
                <a:cubicBezTo>
                  <a:pt x="414166" y="321451"/>
                  <a:pt x="321451" y="414166"/>
                  <a:pt x="207083" y="414166"/>
                </a:cubicBezTo>
                <a:lnTo>
                  <a:pt x="207083" y="414166"/>
                </a:lnTo>
                <a:cubicBezTo>
                  <a:pt x="92714" y="414166"/>
                  <a:pt x="0" y="321451"/>
                  <a:pt x="0" y="207083"/>
                </a:cubicBezTo>
                <a:lnTo>
                  <a:pt x="0" y="207083"/>
                </a:lnTo>
                <a:cubicBezTo>
                  <a:pt x="0" y="92714"/>
                  <a:pt x="92714" y="0"/>
                  <a:pt x="207083" y="0"/>
                </a:cubicBezTo>
                <a:close/>
              </a:path>
            </a:pathLst>
          </a:custGeom>
          <a:gradFill rotWithShape="1" flip="none">
            <a:gsLst>
              <a:gs pos="0">
                <a:srgbClr val="22D3EE"/>
              </a:gs>
              <a:gs pos="100000">
                <a:srgbClr val="10B981"/>
              </a:gs>
            </a:gsLst>
            <a:lin ang="2700000" scaled="1"/>
          </a:gradFill>
          <a:ln/>
        </p:spPr>
      </p:sp>
      <p:sp>
        <p:nvSpPr>
          <p:cNvPr id="62" name="Text 59"/>
          <p:cNvSpPr/>
          <p:nvPr/>
        </p:nvSpPr>
        <p:spPr>
          <a:xfrm>
            <a:off x="6944392" y="3216689"/>
            <a:ext cx="491822" cy="414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7500927" y="3233946"/>
            <a:ext cx="1225240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Sachin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7500927" y="3441028"/>
            <a:ext cx="1216611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&amp; UX Design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6879679" y="3803423"/>
            <a:ext cx="4823304" cy="621248"/>
          </a:xfrm>
          <a:custGeom>
            <a:avLst/>
            <a:gdLst/>
            <a:ahLst/>
            <a:cxnLst/>
            <a:rect l="l" t="t" r="r" b="b"/>
            <a:pathLst>
              <a:path w="4823304" h="621248">
                <a:moveTo>
                  <a:pt x="69027" y="0"/>
                </a:moveTo>
                <a:lnTo>
                  <a:pt x="4754277" y="0"/>
                </a:lnTo>
                <a:cubicBezTo>
                  <a:pt x="4792399" y="0"/>
                  <a:pt x="4823304" y="30904"/>
                  <a:pt x="4823304" y="69027"/>
                </a:cubicBezTo>
                <a:lnTo>
                  <a:pt x="4823304" y="552221"/>
                </a:lnTo>
                <a:cubicBezTo>
                  <a:pt x="4823304" y="590344"/>
                  <a:pt x="4792399" y="621248"/>
                  <a:pt x="4754277" y="621248"/>
                </a:cubicBezTo>
                <a:lnTo>
                  <a:pt x="69027" y="621248"/>
                </a:lnTo>
                <a:cubicBezTo>
                  <a:pt x="30904" y="621248"/>
                  <a:pt x="0" y="590344"/>
                  <a:pt x="0" y="552221"/>
                </a:cubicBezTo>
                <a:lnTo>
                  <a:pt x="0" y="69027"/>
                </a:lnTo>
                <a:cubicBezTo>
                  <a:pt x="0" y="30930"/>
                  <a:pt x="30930" y="0"/>
                  <a:pt x="6902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6" name="Shape 63"/>
          <p:cNvSpPr/>
          <p:nvPr/>
        </p:nvSpPr>
        <p:spPr>
          <a:xfrm>
            <a:off x="6983220" y="3906965"/>
            <a:ext cx="414166" cy="414166"/>
          </a:xfrm>
          <a:custGeom>
            <a:avLst/>
            <a:gdLst/>
            <a:ahLst/>
            <a:cxnLst/>
            <a:rect l="l" t="t" r="r" b="b"/>
            <a:pathLst>
              <a:path w="414166" h="414166">
                <a:moveTo>
                  <a:pt x="207083" y="0"/>
                </a:moveTo>
                <a:lnTo>
                  <a:pt x="207083" y="0"/>
                </a:lnTo>
                <a:cubicBezTo>
                  <a:pt x="321451" y="0"/>
                  <a:pt x="414166" y="92714"/>
                  <a:pt x="414166" y="207083"/>
                </a:cubicBezTo>
                <a:lnTo>
                  <a:pt x="414166" y="207083"/>
                </a:lnTo>
                <a:cubicBezTo>
                  <a:pt x="414166" y="321451"/>
                  <a:pt x="321451" y="414166"/>
                  <a:pt x="207083" y="414166"/>
                </a:cubicBezTo>
                <a:lnTo>
                  <a:pt x="207083" y="414166"/>
                </a:lnTo>
                <a:cubicBezTo>
                  <a:pt x="92714" y="414166"/>
                  <a:pt x="0" y="321451"/>
                  <a:pt x="0" y="207083"/>
                </a:cubicBezTo>
                <a:lnTo>
                  <a:pt x="0" y="207083"/>
                </a:lnTo>
                <a:cubicBezTo>
                  <a:pt x="0" y="92714"/>
                  <a:pt x="92714" y="0"/>
                  <a:pt x="207083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67" name="Text 64"/>
          <p:cNvSpPr/>
          <p:nvPr/>
        </p:nvSpPr>
        <p:spPr>
          <a:xfrm>
            <a:off x="6944392" y="3906965"/>
            <a:ext cx="491822" cy="414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7500927" y="3924222"/>
            <a:ext cx="1199355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Hamshith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7500927" y="4131304"/>
            <a:ext cx="1190726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DevOps &amp; Integration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6738173" y="4676621"/>
            <a:ext cx="5106317" cy="1301170"/>
          </a:xfrm>
          <a:custGeom>
            <a:avLst/>
            <a:gdLst/>
            <a:ahLst/>
            <a:cxnLst/>
            <a:rect l="l" t="t" r="r" b="b"/>
            <a:pathLst>
              <a:path w="5106317" h="1301170">
                <a:moveTo>
                  <a:pt x="103547" y="0"/>
                </a:moveTo>
                <a:lnTo>
                  <a:pt x="5002770" y="0"/>
                </a:lnTo>
                <a:cubicBezTo>
                  <a:pt x="5059957" y="0"/>
                  <a:pt x="5106317" y="46360"/>
                  <a:pt x="5106317" y="103547"/>
                </a:cubicBezTo>
                <a:lnTo>
                  <a:pt x="5106317" y="1197623"/>
                </a:lnTo>
                <a:cubicBezTo>
                  <a:pt x="5106317" y="1254811"/>
                  <a:pt x="5059957" y="1301170"/>
                  <a:pt x="5002770" y="1301170"/>
                </a:cubicBezTo>
                <a:lnTo>
                  <a:pt x="103547" y="1301170"/>
                </a:lnTo>
                <a:cubicBezTo>
                  <a:pt x="46360" y="1301170"/>
                  <a:pt x="0" y="1254811"/>
                  <a:pt x="0" y="1197623"/>
                </a:cubicBezTo>
                <a:lnTo>
                  <a:pt x="0" y="103547"/>
                </a:lnTo>
                <a:cubicBezTo>
                  <a:pt x="0" y="46398"/>
                  <a:pt x="46398" y="0"/>
                  <a:pt x="103547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40000"/>
                </a:srgbClr>
              </a:gs>
              <a:gs pos="100000">
                <a:srgbClr val="3B82F6">
                  <a:alpha val="30000"/>
                </a:srgbClr>
              </a:gs>
            </a:gsLst>
            <a:lin ang="2700000" scaled="1"/>
          </a:gradFill>
          <a:ln w="1016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905564" y="4835383"/>
            <a:ext cx="207083" cy="207083"/>
          </a:xfrm>
          <a:custGeom>
            <a:avLst/>
            <a:gdLst/>
            <a:ahLst/>
            <a:cxnLst/>
            <a:rect l="l" t="t" r="r" b="b"/>
            <a:pathLst>
              <a:path w="207083" h="207083">
                <a:moveTo>
                  <a:pt x="51771" y="129427"/>
                </a:moveTo>
                <a:lnTo>
                  <a:pt x="9909" y="129427"/>
                </a:lnTo>
                <a:cubicBezTo>
                  <a:pt x="-162" y="129427"/>
                  <a:pt x="-6350" y="118466"/>
                  <a:pt x="-1173" y="109811"/>
                </a:cubicBezTo>
                <a:lnTo>
                  <a:pt x="20223" y="74137"/>
                </a:lnTo>
                <a:cubicBezTo>
                  <a:pt x="23742" y="68273"/>
                  <a:pt x="30051" y="64713"/>
                  <a:pt x="36887" y="64713"/>
                </a:cubicBezTo>
                <a:lnTo>
                  <a:pt x="75310" y="64713"/>
                </a:lnTo>
                <a:cubicBezTo>
                  <a:pt x="106089" y="12579"/>
                  <a:pt x="151996" y="9950"/>
                  <a:pt x="182694" y="14439"/>
                </a:cubicBezTo>
                <a:cubicBezTo>
                  <a:pt x="187871" y="15208"/>
                  <a:pt x="191916" y="19252"/>
                  <a:pt x="192644" y="24389"/>
                </a:cubicBezTo>
                <a:cubicBezTo>
                  <a:pt x="197133" y="55087"/>
                  <a:pt x="194504" y="100993"/>
                  <a:pt x="142369" y="131773"/>
                </a:cubicBezTo>
                <a:lnTo>
                  <a:pt x="142369" y="170196"/>
                </a:lnTo>
                <a:cubicBezTo>
                  <a:pt x="142369" y="177032"/>
                  <a:pt x="138810" y="183341"/>
                  <a:pt x="132946" y="186860"/>
                </a:cubicBezTo>
                <a:lnTo>
                  <a:pt x="97272" y="208256"/>
                </a:lnTo>
                <a:cubicBezTo>
                  <a:pt x="88657" y="213433"/>
                  <a:pt x="77656" y="207204"/>
                  <a:pt x="77656" y="197174"/>
                </a:cubicBezTo>
                <a:lnTo>
                  <a:pt x="77656" y="155312"/>
                </a:lnTo>
                <a:cubicBezTo>
                  <a:pt x="77656" y="141035"/>
                  <a:pt x="66048" y="129427"/>
                  <a:pt x="51771" y="129427"/>
                </a:cubicBezTo>
                <a:lnTo>
                  <a:pt x="51730" y="129427"/>
                </a:lnTo>
                <a:close/>
                <a:moveTo>
                  <a:pt x="161783" y="64713"/>
                </a:moveTo>
                <a:cubicBezTo>
                  <a:pt x="161783" y="53998"/>
                  <a:pt x="153084" y="45299"/>
                  <a:pt x="142369" y="45299"/>
                </a:cubicBezTo>
                <a:cubicBezTo>
                  <a:pt x="131655" y="45299"/>
                  <a:pt x="122955" y="53998"/>
                  <a:pt x="122955" y="64713"/>
                </a:cubicBezTo>
                <a:cubicBezTo>
                  <a:pt x="122955" y="75428"/>
                  <a:pt x="131655" y="84127"/>
                  <a:pt x="142369" y="84127"/>
                </a:cubicBezTo>
                <a:cubicBezTo>
                  <a:pt x="153084" y="84127"/>
                  <a:pt x="161783" y="75428"/>
                  <a:pt x="161783" y="647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72" name="Text 69"/>
          <p:cNvSpPr/>
          <p:nvPr/>
        </p:nvSpPr>
        <p:spPr>
          <a:xfrm>
            <a:off x="7242074" y="4818126"/>
            <a:ext cx="785189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Vision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6879679" y="5163264"/>
            <a:ext cx="4892331" cy="6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7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"Transforming cities from </a:t>
            </a:r>
            <a:pPr>
              <a:lnSpc>
                <a:spcPct val="140000"/>
              </a:lnSpc>
            </a:pPr>
            <a:r>
              <a:rPr lang="en-US" sz="1087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reactive to predictive</a:t>
            </a:r>
            <a:pPr>
              <a:lnSpc>
                <a:spcPct val="140000"/>
              </a:lnSpc>
            </a:pPr>
            <a:r>
              <a:rPr lang="en-US" sz="1087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from </a:t>
            </a:r>
            <a:pPr>
              <a:lnSpc>
                <a:spcPct val="140000"/>
              </a:lnSpc>
            </a:pPr>
            <a:r>
              <a:rPr lang="en-US" sz="1087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to unified</a:t>
            </a:r>
            <a:pPr>
              <a:lnSpc>
                <a:spcPct val="140000"/>
              </a:lnSpc>
            </a:pPr>
            <a:r>
              <a:rPr lang="en-US" sz="1087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from </a:t>
            </a:r>
            <a:pPr>
              <a:lnSpc>
                <a:spcPct val="140000"/>
              </a:lnSpc>
            </a:pPr>
            <a:r>
              <a:rPr lang="en-US" sz="1087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chaotic to intelligent</a:t>
            </a:r>
            <a:pPr>
              <a:lnSpc>
                <a:spcPct val="140000"/>
              </a:lnSpc>
            </a:pPr>
            <a:r>
              <a:rPr lang="en-US" sz="1087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UrbanPulse AI is the nervous system for the smart cities of tomorrow."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348589" y="6088236"/>
            <a:ext cx="11499998" cy="766206"/>
          </a:xfrm>
          <a:custGeom>
            <a:avLst/>
            <a:gdLst/>
            <a:ahLst/>
            <a:cxnLst/>
            <a:rect l="l" t="t" r="r" b="b"/>
            <a:pathLst>
              <a:path w="11499998" h="766206">
                <a:moveTo>
                  <a:pt x="103545" y="0"/>
                </a:moveTo>
                <a:lnTo>
                  <a:pt x="11396453" y="0"/>
                </a:lnTo>
                <a:cubicBezTo>
                  <a:pt x="11453640" y="0"/>
                  <a:pt x="11499998" y="46359"/>
                  <a:pt x="11499998" y="103545"/>
                </a:cubicBezTo>
                <a:lnTo>
                  <a:pt x="11499998" y="662661"/>
                </a:lnTo>
                <a:cubicBezTo>
                  <a:pt x="11499998" y="719848"/>
                  <a:pt x="11453640" y="766206"/>
                  <a:pt x="11396453" y="766206"/>
                </a:cubicBezTo>
                <a:lnTo>
                  <a:pt x="103545" y="766206"/>
                </a:lnTo>
                <a:cubicBezTo>
                  <a:pt x="46359" y="766206"/>
                  <a:pt x="0" y="719848"/>
                  <a:pt x="0" y="662661"/>
                </a:cubicBezTo>
                <a:lnTo>
                  <a:pt x="0" y="103545"/>
                </a:lnTo>
                <a:cubicBezTo>
                  <a:pt x="0" y="46397"/>
                  <a:pt x="46397" y="0"/>
                  <a:pt x="103545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50000">
                <a:srgbClr val="3B82F6">
                  <a:alpha val="30000"/>
                </a:srgbClr>
              </a:gs>
              <a:gs pos="100000">
                <a:srgbClr val="22D3EE">
                  <a:alpha val="30000"/>
                </a:srgbClr>
              </a:gs>
            </a:gsLst>
            <a:lin ang="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524610" y="6341911"/>
            <a:ext cx="258854" cy="258854"/>
          </a:xfrm>
          <a:custGeom>
            <a:avLst/>
            <a:gdLst/>
            <a:ahLst/>
            <a:cxnLst/>
            <a:rect l="l" t="t" r="r" b="b"/>
            <a:pathLst>
              <a:path w="258854" h="258854">
                <a:moveTo>
                  <a:pt x="72954" y="0"/>
                </a:moveTo>
                <a:lnTo>
                  <a:pt x="186203" y="0"/>
                </a:lnTo>
                <a:cubicBezTo>
                  <a:pt x="199600" y="0"/>
                  <a:pt x="210521" y="11021"/>
                  <a:pt x="210015" y="24369"/>
                </a:cubicBezTo>
                <a:cubicBezTo>
                  <a:pt x="209914" y="27048"/>
                  <a:pt x="209813" y="29728"/>
                  <a:pt x="209661" y="32357"/>
                </a:cubicBezTo>
                <a:lnTo>
                  <a:pt x="234738" y="32357"/>
                </a:lnTo>
                <a:cubicBezTo>
                  <a:pt x="247933" y="32357"/>
                  <a:pt x="259561" y="43277"/>
                  <a:pt x="258550" y="57534"/>
                </a:cubicBezTo>
                <a:cubicBezTo>
                  <a:pt x="254758" y="109962"/>
                  <a:pt x="227963" y="138780"/>
                  <a:pt x="198893" y="153846"/>
                </a:cubicBezTo>
                <a:cubicBezTo>
                  <a:pt x="190904" y="157992"/>
                  <a:pt x="182765" y="161076"/>
                  <a:pt x="175029" y="163351"/>
                </a:cubicBezTo>
                <a:cubicBezTo>
                  <a:pt x="164817" y="177810"/>
                  <a:pt x="154200" y="185444"/>
                  <a:pt x="145757" y="189539"/>
                </a:cubicBezTo>
                <a:lnTo>
                  <a:pt x="145757" y="226497"/>
                </a:lnTo>
                <a:lnTo>
                  <a:pt x="178113" y="226497"/>
                </a:lnTo>
                <a:cubicBezTo>
                  <a:pt x="187062" y="226497"/>
                  <a:pt x="194292" y="233727"/>
                  <a:pt x="194292" y="242675"/>
                </a:cubicBezTo>
                <a:cubicBezTo>
                  <a:pt x="194292" y="251624"/>
                  <a:pt x="187062" y="258854"/>
                  <a:pt x="178113" y="258854"/>
                </a:cubicBezTo>
                <a:lnTo>
                  <a:pt x="81043" y="258854"/>
                </a:lnTo>
                <a:cubicBezTo>
                  <a:pt x="72095" y="258854"/>
                  <a:pt x="64865" y="251624"/>
                  <a:pt x="64865" y="242675"/>
                </a:cubicBezTo>
                <a:cubicBezTo>
                  <a:pt x="64865" y="233727"/>
                  <a:pt x="72095" y="226497"/>
                  <a:pt x="81043" y="226497"/>
                </a:cubicBezTo>
                <a:lnTo>
                  <a:pt x="113400" y="226497"/>
                </a:lnTo>
                <a:lnTo>
                  <a:pt x="113400" y="189539"/>
                </a:lnTo>
                <a:cubicBezTo>
                  <a:pt x="105311" y="185646"/>
                  <a:pt x="95250" y="178417"/>
                  <a:pt x="85442" y="165120"/>
                </a:cubicBezTo>
                <a:cubicBezTo>
                  <a:pt x="76139" y="162693"/>
                  <a:pt x="66028" y="159003"/>
                  <a:pt x="56169" y="153441"/>
                </a:cubicBezTo>
                <a:cubicBezTo>
                  <a:pt x="28818" y="138123"/>
                  <a:pt x="4146" y="109254"/>
                  <a:pt x="607" y="57433"/>
                </a:cubicBezTo>
                <a:cubicBezTo>
                  <a:pt x="-354" y="43227"/>
                  <a:pt x="11224" y="32306"/>
                  <a:pt x="24419" y="32306"/>
                </a:cubicBezTo>
                <a:lnTo>
                  <a:pt x="49496" y="32306"/>
                </a:lnTo>
                <a:cubicBezTo>
                  <a:pt x="49344" y="29677"/>
                  <a:pt x="49243" y="27048"/>
                  <a:pt x="49142" y="24318"/>
                </a:cubicBezTo>
                <a:cubicBezTo>
                  <a:pt x="48636" y="10920"/>
                  <a:pt x="59557" y="-51"/>
                  <a:pt x="72954" y="-51"/>
                </a:cubicBezTo>
                <a:close/>
                <a:moveTo>
                  <a:pt x="51316" y="56624"/>
                </a:moveTo>
                <a:lnTo>
                  <a:pt x="24824" y="56624"/>
                </a:lnTo>
                <a:cubicBezTo>
                  <a:pt x="27958" y="99446"/>
                  <a:pt x="47625" y="120883"/>
                  <a:pt x="67898" y="132258"/>
                </a:cubicBezTo>
                <a:cubicBezTo>
                  <a:pt x="60618" y="113400"/>
                  <a:pt x="54602" y="88779"/>
                  <a:pt x="51316" y="56624"/>
                </a:cubicBezTo>
                <a:close/>
                <a:moveTo>
                  <a:pt x="192118" y="129831"/>
                </a:moveTo>
                <a:cubicBezTo>
                  <a:pt x="212594" y="117799"/>
                  <a:pt x="231098" y="96413"/>
                  <a:pt x="234232" y="56624"/>
                </a:cubicBezTo>
                <a:lnTo>
                  <a:pt x="207791" y="56624"/>
                </a:lnTo>
                <a:cubicBezTo>
                  <a:pt x="204656" y="87414"/>
                  <a:pt x="198994" y="111327"/>
                  <a:pt x="192118" y="12983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6" name="Text 73"/>
          <p:cNvSpPr/>
          <p:nvPr/>
        </p:nvSpPr>
        <p:spPr>
          <a:xfrm>
            <a:off x="951718" y="6246998"/>
            <a:ext cx="4952730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UrbanPulse AI Wins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951718" y="6488594"/>
            <a:ext cx="4935473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Multi-agent architecture • Real-time processing • Civic engagement • Proven stack</a:t>
            </a:r>
            <a:endParaRPr lang="en-US" sz="1600" dirty="0"/>
          </a:p>
        </p:txBody>
      </p:sp>
      <p:sp>
        <p:nvSpPr>
          <p:cNvPr id="78" name="Text 75"/>
          <p:cNvSpPr/>
          <p:nvPr/>
        </p:nvSpPr>
        <p:spPr>
          <a:xfrm>
            <a:off x="10658725" y="6229741"/>
            <a:ext cx="1044042" cy="31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38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10727752" y="6540365"/>
            <a:ext cx="975015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Hackathon Ready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UrbanPulse AI - Multi-Agent Urban Intelligence Platform</dc:title>
  <dc:subject>UrbanPulse AI - Multi-Agent Urban Intelligence Platform</dc:subject>
  <dc:creator>Kimi</dc:creator>
  <cp:lastModifiedBy>Kimi</cp:lastModifiedBy>
  <cp:revision>1</cp:revision>
  <dcterms:created xsi:type="dcterms:W3CDTF">2026-04-05T04:49:50Z</dcterms:created>
  <dcterms:modified xsi:type="dcterms:W3CDTF">2026-04-05T04:49:50Z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{"Label":"UrbanPulse AI - Multi-Agent Urban Intelligence Platform","ContentProducer":"001191110108MACG2KBH8F10000","ProduceID":"19d5796f-abb2-8215-8000-00001fc9c23d","ReservedCode1":"","ContentPropagator":"001191110108MACG2KBH8F20000","PropagateID":"19d5796f-abb2-8215-8000-00001fc9c23d","ReservedCode2":""}</vt:lpwstr>
  </property>
</Properties>
</file>